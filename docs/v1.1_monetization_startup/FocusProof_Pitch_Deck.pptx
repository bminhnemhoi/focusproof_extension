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6D7D4-3BA6-4E4E-81D0-AEF002393027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C20B65-794B-437C-AF40-10E3AE1210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50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C20B65-794B-437C-AF40-10E3AE1210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782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91695" cy="18288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12191695" cy="20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640080"/>
            <a:ext cx="548640" cy="5486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25880" y="64008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Times New Roman"/>
              </a:rPr>
              <a:t>FocusProof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Times New Roman"/>
              </a:rPr>
              <a:t>FOCUSPROOF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9848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87A22"/>
                </a:solidFill>
                <a:latin typeface="Times New Roman"/>
              </a:rPr>
              <a:t>Chứng chỉ Tập trung Thông minh &amp; Xác thực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0">
                <a:solidFill>
                  <a:srgbClr val="F4F7FA"/>
                </a:solidFill>
                <a:latin typeface="Times New Roman"/>
              </a:rPr>
              <a:t>Smart &amp; Verifiable Focus Certificate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F4F7FA"/>
                </a:solidFill>
                <a:latin typeface="Times New Roman"/>
              </a:rPr>
              <a:t>Biến mỗi giờ học thành một bằng chứng số có giá trị.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TECH STARTUP CHALLENGER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4F7FA"/>
                </a:solidFill>
                <a:latin typeface="Times New Roman"/>
              </a:rPr>
              <a:t>Tác giả: Ngô Bình Minh — MSSV 524H0169 — Khoa CNTT, ĐH Tôn Đức Thắng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F4F7FA"/>
                </a:solidFill>
                <a:latin typeface="Times New Roman"/>
              </a:rPr>
              <a:t>TP. Hồ Chí Minh, tháng 04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1.  Giới thiệu nhóm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Solo Founder — TECH STARTUP CHALLENGER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2926080" cy="4206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2926080" cy="36576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FOUNDER</a:t>
            </a:r>
          </a:p>
        </p:txBody>
      </p:sp>
      <p:sp>
        <p:nvSpPr>
          <p:cNvPr id="10" name="Oval 9"/>
          <p:cNvSpPr/>
          <p:nvPr/>
        </p:nvSpPr>
        <p:spPr>
          <a:xfrm>
            <a:off x="1417320" y="2103120"/>
            <a:ext cx="1554480" cy="1554480"/>
          </a:xfrm>
          <a:prstGeom prst="ellipse">
            <a:avLst/>
          </a:prstGeom>
          <a:solidFill>
            <a:srgbClr val="E87A22"/>
          </a:solidFill>
          <a:ln>
            <a:solidFill>
              <a:srgbClr val="0B2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103120"/>
            <a:ext cx="1554480" cy="1554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Times New Roman"/>
              </a:rPr>
              <a:t>NBM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0B2E4F"/>
                </a:solidFill>
                <a:latin typeface="Times New Roman"/>
              </a:rPr>
              <a:t>Ngô Bình Minh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Times New Roman"/>
              </a:rPr>
              <a:t>MSSV 524H0169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9260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Times New Roman"/>
              </a:rPr>
              <a:t>SV năm 2 — CNTT — TDTU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292608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1F6F8B"/>
                </a:solidFill>
                <a:latin typeface="Times New Roman"/>
              </a:rPr>
              <a:t>Founder · Full-stack Dev</a:t>
            </a:r>
          </a:p>
          <a:p>
            <a:pPr algn="ctr"/>
            <a:r>
              <a:rPr sz="1300" b="1">
                <a:solidFill>
                  <a:srgbClr val="1F6F8B"/>
                </a:solidFill>
                <a:latin typeface="Times New Roman"/>
              </a:rPr>
              <a:t>UI/UX · AI Integrator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554480"/>
            <a:ext cx="75895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Times New Roman"/>
              </a:rPr>
              <a:t>Vai trò trong dự án solo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758952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Product Owner — định hình ý tưởng, lộ trình và chiến lược kiếm tiền.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Full-stack Developer — Chrome Extension MV3, React, Supabase, Edge Functions.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AI/ML Engineer — tích hợp BlazeFace + GPT-4o cho Focus Score và phân tích.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UI/UX Designer — thiết kế popup, widget, trang chứng chỉ và landing.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Growth &amp; Operations — viral loop, đối tác trường, hỗ trợ người dùng.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526280"/>
            <a:ext cx="75895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000" b="1">
                <a:solidFill>
                  <a:srgbClr val="0B2E4F"/>
                </a:solidFill>
                <a:latin typeface="Times New Roman"/>
              </a:rPr>
              <a:t>Lý do làm một mình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29200"/>
            <a:ext cx="758952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Tốc độ: 1 người ra quyết định nhanh, không phụ thuộc lịch họp.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Toàn cảnh: nắm cả tech, sản phẩm và kinh doanh để hiểu user sâu nhất.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B1B1B"/>
                </a:solidFill>
                <a:latin typeface="Times New Roman"/>
              </a:rPr>
              <a:t>•  Sẵn sàng mở rộng team khi có doanh thu / nhà đầu tư đồng hành.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2.  Câu chuyện truyền cảm hứng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Vì sao tôi xây FocusProof?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10972800" cy="12801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64592" cy="12801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0515600" cy="10058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“Tôi học 8 tiếng mỗi ngày, nhưng cha mẹ vẫn hỏi: con có thật sự học không?</a:t>
            </a:r>
          </a:p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Tôi không có cách nào chứng minh — cho đến khi tự tay xây FocusProof.”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VẤN ĐỀ THẬT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365760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33832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85% sinh viên thừa nhận mất tập trung vì điện thoại &amp; mạng xã hội.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Cha mẹ, trường lớp, doanh nghiệp KHÔNG có công cụ kiểm chứng giờ học/làm thật.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Pomodoro/Forest chỉ đếm thời gian — không xác thực được hành vi tập trung.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108960"/>
            <a:ext cx="365760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10896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KHOẢNH KHẮC "AHA"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3566160"/>
            <a:ext cx="365760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657600"/>
            <a:ext cx="33832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Trong kỳ thi cuối năm, tôi muốn tự thưởng cho mình mỗi giờ tập trung thật sự.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Tôi nhận ra: nếu có thể CHỨNG MINH giờ học, ta có thể đổi nó lấy phần thưởng / học bổng / việc làm.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Tập trung phải trở thành một loại "tài sản số" có thể đo đếm và chia sẻ.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108960"/>
            <a:ext cx="365760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108960"/>
            <a:ext cx="3657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SỨ MỆNH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3566160"/>
            <a:ext cx="3657600" cy="2743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3657600"/>
            <a:ext cx="338328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Biến mỗi giờ tập trung thành một chứng chỉ số có thể xác thực.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Giúp 5 triệu sinh viên &amp; freelancer Việt Nam có "hồ sơ kỷ luật" minh bạch.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►  Tạo nền kinh tế khen thưởng dựa trên dữ liệu tập trung thật.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3.  Sản phẩm — Vấn đề &amp; Giải pháp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94960" cy="4846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394960" cy="50292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949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0292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Mất tập trung là "đại dịch năng suất" của Gen Z.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Không có công cụ chứng minh việc học/làm thật cho cha mẹ, giáo viên, nhà tuyển dụng.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Pomodoro/Forest: chỉ đếm giờ, dễ gian lận, không có dữ liệu hành vi.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Học bổng &amp; nội bộ doanh nghiệp thiếu cơ chế thưởng theo kỷ luật.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Người dùng thiếu động lực dài hạn → bỏ app sau 1–2 tuần.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5440680" cy="4846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440680" cy="5029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54406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GIẢI PHÁP — FOCUSPROOF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507492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Chrome Extension đo tập trung bằng 3 tín hiệu: Khuôn mặt + Hoạt động + Tab.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Focus Score 0–100 chấm thật theo mục tiêu phiên học.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Cấp Chứng chỉ PDF + QR xác thực online — chia sẻ với cha mẹ, giáo viên, nhà tuyển dụng.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Gamification: streak, leaderboard, đổi điểm → tăng giữ chân.</a:t>
            </a:r>
          </a:p>
          <a:p>
            <a:pPr algn="l">
              <a:spcAft>
                <a:spcPts val="600"/>
              </a:spcAft>
            </a:pPr>
            <a:r>
              <a:rPr sz="1400">
                <a:solidFill>
                  <a:srgbClr val="1B1B1B"/>
                </a:solidFill>
                <a:latin typeface="Times New Roman"/>
              </a:rPr>
              <a:t>•  Freemium + Credit System + Pro/Team — kinh doanh bền vững.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4.  Sản phẩm — Lõi công nghệ "3-Signal Focus Engine"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USP — không đối thủ nào trên thị trường có cùng kiến trúc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ocus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9440"/>
            <a:ext cx="5675179" cy="50599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146304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3 tín hiệu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920240"/>
            <a:ext cx="33832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Khuôn mặt (BlazeFace) — tại chỗ trên trình duyệt, KHÔNG gửi ảnh.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Hoạt động — chuột/bàn phím để loại idle giả tập trung.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Tab/Domain — phân loại tab học vs giải trí theo mục tiêu.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4389120"/>
            <a:ext cx="32918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Đầu 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4846320"/>
            <a:ext cx="338328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Focus Score 0–100 + biểu đồ.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AI insight tiếng Việt (GPT-4o).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1B1B1B"/>
                </a:solidFill>
                <a:latin typeface="Times New Roman"/>
              </a:rPr>
              <a:t>•  PDF + QR xác thực chứng chỉ.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5.  Sản phẩm — Kiến trúc tổng thể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Chrome Extension MV3 · Supabase · Web · Stripe · OpenAI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8412480" cy="45414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61120" y="1463040"/>
            <a:ext cx="30175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Times New Roman"/>
              </a:rPr>
              <a:t>Tại sao kiến trúc này thắng?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920240"/>
            <a:ext cx="301752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1B1B1B"/>
                </a:solidFill>
                <a:latin typeface="Times New Roman"/>
              </a:rPr>
              <a:t>•  Privacy-first: AI chạy ngay trên trình duyệt (BlazeFace).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B1B1B"/>
                </a:solidFill>
                <a:latin typeface="Times New Roman"/>
              </a:rPr>
              <a:t>•  Server-side credit: chống gian lận, đếm AI/PDF chính xác.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B1B1B"/>
                </a:solidFill>
                <a:latin typeface="Times New Roman"/>
              </a:rPr>
              <a:t>•  Supabase PostgreSQL: scale tới hàng trăm ngàn user với chi phí thấp.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B1B1B"/>
                </a:solidFill>
                <a:latin typeface="Times New Roman"/>
              </a:rPr>
              <a:t>•  Stripe + Edge Function: thanh toán quốc tế ngay từ MVP.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1B1B1B"/>
                </a:solidFill>
                <a:latin typeface="Times New Roman"/>
              </a:rPr>
              <a:t>•  Tách biệt Free / Pro / Team — dễ thử nghiệm pricing.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6.  Sản phẩm — Hành trình người dùng &amp; Chứng chỉ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20" y="1463040"/>
            <a:ext cx="594360" cy="594360"/>
          </a:xfrm>
          <a:prstGeom prst="ellipse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17320" y="146304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4028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Times New Roman"/>
              </a:rPr>
              <a:t>Đặt mục tiêu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205740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Times New Roman"/>
              </a:rPr>
              <a:t>User mở popup, chọn mục tiêu (vd: "Học giải tích 60'").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88920" y="1645920"/>
            <a:ext cx="91440" cy="27432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49040" y="1463040"/>
            <a:ext cx="594360" cy="594360"/>
          </a:xfrm>
          <a:prstGeom prst="ellipse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9040" y="146304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360" y="2240280"/>
            <a:ext cx="224028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71800" y="233172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Times New Roman"/>
              </a:rPr>
              <a:t>Bắt đầu phiên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788920"/>
            <a:ext cx="205740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Times New Roman"/>
              </a:rPr>
              <a:t>Cấp camera (chỉ tại chỗ) → Widget hiện điểm tập trung real-time.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1645920"/>
            <a:ext cx="91440" cy="27432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080760" y="1463040"/>
            <a:ext cx="594360" cy="594360"/>
          </a:xfrm>
          <a:prstGeom prst="ellipse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146304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12080" y="2240280"/>
            <a:ext cx="224028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33172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Times New Roman"/>
              </a:rPr>
              <a:t>Engine chấm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88920"/>
            <a:ext cx="205740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Times New Roman"/>
              </a:rPr>
              <a:t>3-Signal Engine tính Focus Score mỗi 5s, cảnh báo khi mất tập trung.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452360" y="1645920"/>
            <a:ext cx="91440" cy="27432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412480" y="1463040"/>
            <a:ext cx="594360" cy="594360"/>
          </a:xfrm>
          <a:prstGeom prst="ellipse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0" y="146304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43800" y="2240280"/>
            <a:ext cx="224028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35240" y="233172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Times New Roman"/>
              </a:rPr>
              <a:t>Kết thúc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788920"/>
            <a:ext cx="205740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Times New Roman"/>
              </a:rPr>
              <a:t>Báo cáo: điểm số, biểu đồ, AI insight, gợi ý cải thiện.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784080" y="1645920"/>
            <a:ext cx="91440" cy="27432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744200" y="1463040"/>
            <a:ext cx="594360" cy="594360"/>
          </a:xfrm>
          <a:prstGeom prst="ellipse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44200" y="1463040"/>
            <a:ext cx="59436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240280"/>
            <a:ext cx="2240280" cy="2286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66960" y="2331720"/>
            <a:ext cx="2057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0B2E4F"/>
                </a:solidFill>
                <a:latin typeface="Times New Roman"/>
              </a:rPr>
              <a:t>Chứng chỉ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788920"/>
            <a:ext cx="2057400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1B1B1B"/>
                </a:solidFill>
                <a:latin typeface="Times New Roman"/>
              </a:rPr>
              <a:t>PDF + QR — chia sẻ Facebook, gửi cha mẹ, dán vào CV.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572000"/>
            <a:ext cx="11064240" cy="178308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466344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E87A22"/>
                </a:solidFill>
                <a:latin typeface="Times New Roman"/>
              </a:rPr>
              <a:t>★  CHỨNG CHỈ FOCUSPROOF — "BẰNG CHỨNG TẬP TRUNG" CỦA BẠN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698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Times New Roman"/>
              </a:rPr>
              <a:t>►  Mỗi chứng chỉ có mã QR dẫn đến trang xác thực công khai (không thể giả mạo).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Times New Roman"/>
              </a:rPr>
              <a:t>►  Có thể chia sẻ với cha mẹ, giáo viên, nhà tuyển dụng, học bổng.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Times New Roman"/>
              </a:rPr>
              <a:t>►  Lưu vĩnh viễn trong tài khoản — tạo "profile kỷ luật" cá nhân.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7.  Tính khả thi — Thị trường &amp; Khách hàng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Việt Nam là điểm khởi đầu, sản phẩm Born-Global ngay từ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703320" cy="54864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7033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TAM — Toàn cầu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37033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342900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1.6 tỷ học sinh – sinh viên + freelancer.</a:t>
            </a:r>
          </a:p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50 tỷ USD ngành EdTech &amp; năng suất.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3703320" cy="54864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417320"/>
            <a:ext cx="37033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SAM — Đông Nam Á + VN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965960"/>
            <a:ext cx="37033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42900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30 triệu sinh viên &amp; người làm tự do dùng Chrome.</a:t>
            </a:r>
          </a:p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1.2 tỷ USD thị trường có thể tiếp cận.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417320"/>
            <a:ext cx="3703320" cy="5486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17320"/>
            <a:ext cx="370332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SOM — 3 năm đầu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965960"/>
            <a:ext cx="370332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3429000" cy="1691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200.000 user trả phí khả thi.</a:t>
            </a:r>
          </a:p>
          <a:p>
            <a:pPr algn="l"/>
            <a:r>
              <a:rPr sz="1300" b="0">
                <a:solidFill>
                  <a:srgbClr val="1B1B1B"/>
                </a:solidFill>
                <a:latin typeface="Times New Roman"/>
              </a:rPr>
              <a:t>≈ 6 triệu USD doanh thu mục tiêu.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Phân khúc khách hàng cốt lõi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26280"/>
            <a:ext cx="260604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526280"/>
            <a:ext cx="2606040" cy="5029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526280"/>
            <a:ext cx="2606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Sinh viên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18–24t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23317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Times New Roman"/>
              </a:rPr>
              <a:t>Cá nhân Pro 49K/tháng. Cần chứng chỉ thật để xin học bổng, internship.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4526280"/>
            <a:ext cx="260604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37560" y="4526280"/>
            <a:ext cx="2606040" cy="5029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37560" y="4526280"/>
            <a:ext cx="2606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Phụ huynh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&amp; gia đình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5120640"/>
            <a:ext cx="23317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Times New Roman"/>
              </a:rPr>
              <a:t>Mua Pro tặng con để theo dõi giờ học. Trả phí cho "sự yên tâm".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526280"/>
            <a:ext cx="260604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80" y="4526280"/>
            <a:ext cx="2606040" cy="5029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0" y="4526280"/>
            <a:ext cx="2606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Freelancer &amp; Remote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120640"/>
            <a:ext cx="23317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Times New Roman"/>
              </a:rPr>
              <a:t>Cần báo cáo giờ làm cho khách hàng. Pro/Team 199K-499K/tháng.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4526280"/>
            <a:ext cx="2606040" cy="1828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15400" y="4526280"/>
            <a:ext cx="2606040" cy="5029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15400" y="4526280"/>
            <a:ext cx="26060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Trường học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&amp; trung tâm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5120640"/>
            <a:ext cx="2331720" cy="11887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B1B1B"/>
                </a:solidFill>
                <a:latin typeface="Times New Roman"/>
              </a:rPr>
              <a:t>Team plan. License theo lớp. Báo cáo nhóm cho giáo viên.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 dirty="0">
                <a:solidFill>
                  <a:srgbClr val="0B2E4F"/>
                </a:solidFill>
                <a:latin typeface="Times New Roman"/>
              </a:rPr>
              <a:t>8. 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Tính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khả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thi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—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Mô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hình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kinh</a:t>
            </a:r>
            <a:r>
              <a:rPr sz="3000" b="1" dirty="0">
                <a:solidFill>
                  <a:srgbClr val="0B2E4F"/>
                </a:solidFill>
                <a:latin typeface="Times New Roman"/>
              </a:rPr>
              <a:t> </a:t>
            </a:r>
            <a:r>
              <a:rPr sz="3000" b="1" dirty="0" err="1">
                <a:solidFill>
                  <a:srgbClr val="0B2E4F"/>
                </a:solidFill>
                <a:latin typeface="Times New Roman"/>
              </a:rPr>
              <a:t>doanh</a:t>
            </a:r>
            <a:endParaRPr sz="3000" b="1" dirty="0">
              <a:solidFill>
                <a:srgbClr val="0B2E4F"/>
              </a:solidFill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Freemium + Credit System + Pro/Team — không phụ thuộc quảng cáo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monet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79016"/>
            <a:ext cx="5605862" cy="5113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41732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4 dòng tiền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1874519"/>
            <a:ext cx="4846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Pro Cá nhân: 49.000 đ / tháng.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Pro Team: 199.000 đ / tháng / 5 người.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Trường &amp; doanh nghiệp: từ 499.000 đ / tháng.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Credit pack: 19K – 99K cho user thỉnh thoảng dùng AI/PDF.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840480"/>
            <a:ext cx="48463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0B2E4F"/>
                </a:solidFill>
                <a:latin typeface="Times New Roman"/>
              </a:rPr>
              <a:t>Tại sao bền vững?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297680"/>
            <a:ext cx="484632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CAC ≤ 30K nhờ viral loop từ chứng chỉ chia sẻ.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LTV ≈ 12 tháng × 49K = 588K → LTV/CAC ≈ 19×.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Chi phí biên gần 0: AI on-device + Supabase free tier.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B1B1B"/>
                </a:solidFill>
                <a:latin typeface="Times New Roman"/>
              </a:rPr>
              <a:t>•  Credit System chống gian lận, chống lạm dụng AI miễn phí.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9.  Tính khả thi — Business Model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058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555B66"/>
                </a:solidFill>
                <a:latin typeface="Times New Roman"/>
              </a:rPr>
              <a:t>Theo chuẩn 9 khối Osterwalder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bm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21" y="1158000"/>
            <a:ext cx="10410395" cy="51147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411480" cy="82296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0B2E4F"/>
                </a:solidFill>
                <a:latin typeface="Times New Roman"/>
              </a:rPr>
              <a:t>10.  Kết quả dự kiến &amp; Kế hoạch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0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4864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Times New Roman"/>
              </a:rPr>
              <a:t>Lộ trình 6 giai đoạn (8–10 tuần MVP, 12 tháng go-to-market)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Tuần 1–2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0240" y="192024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57400" y="192024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Foundation + Engine 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1371600" cy="457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Tuần 3–4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51460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057400" y="251460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Gamification + Chứng chỉ + QR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1371600" cy="4572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310896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Tuần 5–6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10896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57400" y="310896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Freemium + Credit + Stripe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371600" cy="4572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Tuần 7–8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370332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57400" y="370332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AI Insight + Diagnostic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137160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29768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Tuần 9–10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429768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57400" y="429768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Beta 100 user + Tối ưu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92040"/>
            <a:ext cx="1371600" cy="4572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4892040"/>
            <a:ext cx="1371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Tháng 4–12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4892040"/>
            <a:ext cx="4114800" cy="4572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57400" y="4892040"/>
            <a:ext cx="40233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Times New Roman"/>
              </a:rPr>
              <a:t>Scale Việt Nam → Đông Nam 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0B2E4F"/>
                </a:solidFill>
                <a:latin typeface="Times New Roman"/>
              </a:rPr>
              <a:t>KPI 12 tháng đầu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92024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192024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201168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10.000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56032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Người dùng cài đặt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192024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52560" y="192024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35440" y="201168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1.500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256032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Người dùng trả phí (Pro+Team)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0040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0" y="320040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83680" y="329184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≥ 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384048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Tỉ lệ giữ chân tháng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52560" y="320040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52560" y="320040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5440" y="329184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≈ 880 tr 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384048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Doanh thu năm 1 (~36.000 USD)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48056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400800" y="448056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457200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LTV/CAC ≈ 19×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0" y="512064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Đơn vị kinh tế lành mạnh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4480560"/>
            <a:ext cx="2514600" cy="1143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052560" y="4480560"/>
            <a:ext cx="109728" cy="1143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235440" y="4572000"/>
            <a:ext cx="2286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B2E4F"/>
                </a:solidFill>
                <a:latin typeface="Times New Roman"/>
              </a:rPr>
              <a:t>Hoà vốn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12064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555B66"/>
                </a:solidFill>
                <a:latin typeface="Times New Roman"/>
              </a:rPr>
              <a:t>Tháng thứ 8–9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555B66"/>
                </a:solidFill>
                <a:latin typeface="Times New Roman"/>
              </a:rPr>
              <a:t>FocusProof  |  Chứng chỉ Tập trung Thông minh &amp; Xác thực  |  TECH STARTUP CHALLENGER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555B66"/>
                </a:solidFill>
                <a:latin typeface="Times New Roman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486400"/>
            <a:ext cx="12191695" cy="20000"/>
          </a:xfrm>
          <a:prstGeom prst="rect">
            <a:avLst/>
          </a:prstGeom>
          <a:solidFill>
            <a:srgbClr val="E8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Times New Roman"/>
              </a:rPr>
              <a:t>FOCUSPROOF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698480" cy="7315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E87A22"/>
                </a:solidFill>
                <a:latin typeface="Times New Roman"/>
              </a:rPr>
              <a:t>Tập trung không còn là cảm giác — mà là một bằng chứng có thể xác thực.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1">
                <a:solidFill>
                  <a:srgbClr val="F4F7FA"/>
                </a:solidFill>
                <a:latin typeface="Times New Roman"/>
              </a:rPr>
              <a:t>Lời kêu gọi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106984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>
                <a:solidFill>
                  <a:srgbClr val="F4F7FA"/>
                </a:solidFill>
                <a:latin typeface="Times New Roman"/>
              </a:rPr>
              <a:t>►  Đồng hành cùng FocusProof để biến mỗi giờ học của 5 triệu sinh viên Việt Nam thành tài sản số.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7FA"/>
                </a:solidFill>
                <a:latin typeface="Times New Roman"/>
              </a:rPr>
              <a:t>►  Tìm Mentor &amp; Đối tác trường — thử nghiệm Team plan miễn phí cho 3 lớp đầu tiên.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F4F7FA"/>
                </a:solidFill>
                <a:latin typeface="Times New Roman"/>
              </a:rPr>
              <a:t>►  Gọi vốn hạt giống 500 triệu đồng để mở rộng đội ngũ và go-to-market Đông Nam 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Times New Roman"/>
              </a:rPr>
              <a:t>Liên hệ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Times New Roman"/>
              </a:rPr>
              <a:t>Ngô Bình Minh — MSSV 524H0169 — Khoa CNTT — ĐH Tôn Đức Thắng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4F7FA"/>
                </a:solidFill>
                <a:latin typeface="Times New Roman"/>
              </a:rPr>
              <a:t>Email: [điền email] · SĐT: [điền số] · Website: focusproof.app (dự kiến)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1831</Words>
  <Application>Microsoft Office PowerPoint</Application>
  <PresentationFormat>Widescreen</PresentationFormat>
  <Paragraphs>188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ngobinhminh2322006@gmail.com</cp:lastModifiedBy>
  <cp:revision>2</cp:revision>
  <dcterms:created xsi:type="dcterms:W3CDTF">2013-01-27T09:14:16Z</dcterms:created>
  <dcterms:modified xsi:type="dcterms:W3CDTF">2026-04-18T08:43:28Z</dcterms:modified>
  <cp:category/>
</cp:coreProperties>
</file>