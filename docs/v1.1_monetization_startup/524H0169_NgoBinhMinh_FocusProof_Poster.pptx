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21374100" cy="30276800"/>
  <p:notesSz cx="6858000" cy="9144000"/>
  <p:embeddedFontLst>
    <p:embeddedFont>
      <p:font typeface="Barlow Bold" charset="1" panose="00000800000000000000"/>
      <p:regular r:id="rId10"/>
    </p:embeddedFont>
    <p:embeddedFont>
      <p:font typeface="Barlow Italics" charset="1" panose="00000500000000000000"/>
      <p:regular r:id="rId11"/>
    </p:embeddedFont>
    <p:embeddedFont>
      <p:font typeface="Barlow Bold Italics" charset="1" panose="00000800000000000000"/>
      <p:regular r:id="rId12"/>
    </p:embeddedFont>
    <p:embeddedFont>
      <p:font typeface="Bungee Shade" charset="1" panose="00000000000000000000"/>
      <p:regular r:id="rId13"/>
    </p:embeddedFont>
    <p:embeddedFont>
      <p:font typeface="Arimo" charset="1" panose="020B0604020202020204"/>
      <p:regular r:id="rId14"/>
    </p:embeddedFont>
    <p:embeddedFont>
      <p:font typeface="Arimo Bold" charset="1" panose="020B0704020202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png" Type="http://schemas.openxmlformats.org/officeDocument/2006/relationships/image"/><Relationship Id="rId17" Target="../media/image15.png" Type="http://schemas.openxmlformats.org/officeDocument/2006/relationships/image"/><Relationship Id="rId18" Target="../media/image16.png" Type="http://schemas.openxmlformats.org/officeDocument/2006/relationships/image"/><Relationship Id="rId19" Target="../media/image17.png" Type="http://schemas.openxmlformats.org/officeDocument/2006/relationships/image"/><Relationship Id="rId2" Target="../notesSlides/notesSlide1.xml" Type="http://schemas.openxmlformats.org/officeDocument/2006/relationships/notesSlide"/><Relationship Id="rId20" Target="../media/image18.png" Type="http://schemas.openxmlformats.org/officeDocument/2006/relationships/image"/><Relationship Id="rId21" Target="../media/image19.png" Type="http://schemas.openxmlformats.org/officeDocument/2006/relationships/image"/><Relationship Id="rId22" Target="../media/image20.png" Type="http://schemas.openxmlformats.org/officeDocument/2006/relationships/image"/><Relationship Id="rId23" Target="../media/image21.png" Type="http://schemas.openxmlformats.org/officeDocument/2006/relationships/image"/><Relationship Id="rId24" Target="../media/image22.png" Type="http://schemas.openxmlformats.org/officeDocument/2006/relationships/image"/><Relationship Id="rId25" Target="../media/image23.png" Type="http://schemas.openxmlformats.org/officeDocument/2006/relationships/image"/><Relationship Id="rId26" Target="../media/image24.png" Type="http://schemas.openxmlformats.org/officeDocument/2006/relationships/image"/><Relationship Id="rId27" Target="../media/image25.png" Type="http://schemas.openxmlformats.org/officeDocument/2006/relationships/image"/><Relationship Id="rId28" Target="../media/image26.png" Type="http://schemas.openxmlformats.org/officeDocument/2006/relationships/image"/><Relationship Id="rId29" Target="../media/image27.png" Type="http://schemas.openxmlformats.org/officeDocument/2006/relationships/image"/><Relationship Id="rId3" Target="../media/image1.png" Type="http://schemas.openxmlformats.org/officeDocument/2006/relationships/image"/><Relationship Id="rId30" Target="../media/image28.png" Type="http://schemas.openxmlformats.org/officeDocument/2006/relationships/image"/><Relationship Id="rId31" Target="../media/image29.svg" Type="http://schemas.openxmlformats.org/officeDocument/2006/relationships/image"/><Relationship Id="rId32" Target="../media/image30.png" Type="http://schemas.openxmlformats.org/officeDocument/2006/relationships/image"/><Relationship Id="rId33" Target="../media/image31.png" Type="http://schemas.openxmlformats.org/officeDocument/2006/relationships/image"/><Relationship Id="rId34" Target="../media/image32.png" Type="http://schemas.openxmlformats.org/officeDocument/2006/relationships/image"/><Relationship Id="rId35" Target="../media/image33.png" Type="http://schemas.openxmlformats.org/officeDocument/2006/relationships/image"/><Relationship Id="rId36" Target="../media/image34.png" Type="http://schemas.openxmlformats.org/officeDocument/2006/relationships/image"/><Relationship Id="rId37" Target="../media/image35.png" Type="http://schemas.openxmlformats.org/officeDocument/2006/relationships/image"/><Relationship Id="rId38" Target="../media/image36.sv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987A1">
                <a:alpha val="100000"/>
              </a:srgbClr>
            </a:gs>
            <a:gs pos="25000">
              <a:srgbClr val="0E1C33">
                <a:alpha val="100000"/>
              </a:srgbClr>
            </a:gs>
            <a:gs pos="50000">
              <a:srgbClr val="08111F">
                <a:alpha val="100000"/>
              </a:srgbClr>
            </a:gs>
            <a:gs pos="75000">
              <a:srgbClr val="007C76">
                <a:alpha val="100000"/>
              </a:srgbClr>
            </a:gs>
            <a:gs pos="100000">
              <a:srgbClr val="08101E">
                <a:alpha val="100000"/>
              </a:srgbClr>
            </a:gs>
          </a:gsLst>
          <a:path path="circle">
            <a:fillToRect l="100100" r="-100" t="100100" b="-100"/>
          </a:path>
          <a:tileRect r="-100200" l="0" b="-100200" t="0"/>
        </a:gradFill>
      </p:bgPr>
    </p:bg>
    <p:spTree>
      <p:nvGrpSpPr>
        <p:cNvPr id="1" name=""/>
        <p:cNvGrpSpPr/>
        <p:nvPr/>
      </p:nvGrpSpPr>
      <p:grpSpPr>
        <a:xfrm>
          <a:off x="0" y="0"/>
          <a:ext cx="0" cy="0"/>
          <a:chOff x="0" y="0"/>
          <a:chExt cx="0" cy="0"/>
        </a:xfrm>
      </p:grpSpPr>
      <p:grpSp>
        <p:nvGrpSpPr>
          <p:cNvPr name="Group 2" id="2"/>
          <p:cNvGrpSpPr/>
          <p:nvPr/>
        </p:nvGrpSpPr>
        <p:grpSpPr>
          <a:xfrm rot="0">
            <a:off x="-396316" y="18816018"/>
            <a:ext cx="17107195" cy="13429155"/>
            <a:chOff x="0" y="0"/>
            <a:chExt cx="22809594" cy="17905540"/>
          </a:xfrm>
        </p:grpSpPr>
        <p:sp>
          <p:nvSpPr>
            <p:cNvPr name="Freeform 3" id="3"/>
            <p:cNvSpPr/>
            <p:nvPr/>
          </p:nvSpPr>
          <p:spPr>
            <a:xfrm flipH="false" flipV="false" rot="0">
              <a:off x="0" y="0"/>
              <a:ext cx="22809581" cy="17905476"/>
            </a:xfrm>
            <a:custGeom>
              <a:avLst/>
              <a:gdLst/>
              <a:ahLst/>
              <a:cxnLst/>
              <a:rect r="r" b="b" t="t" l="l"/>
              <a:pathLst>
                <a:path h="17905476" w="22809581">
                  <a:moveTo>
                    <a:pt x="0" y="0"/>
                  </a:moveTo>
                  <a:lnTo>
                    <a:pt x="22809581" y="0"/>
                  </a:lnTo>
                  <a:lnTo>
                    <a:pt x="22809581" y="17905476"/>
                  </a:lnTo>
                  <a:lnTo>
                    <a:pt x="0" y="17905476"/>
                  </a:lnTo>
                  <a:lnTo>
                    <a:pt x="0" y="0"/>
                  </a:lnTo>
                  <a:close/>
                </a:path>
              </a:pathLst>
            </a:custGeom>
            <a:blipFill>
              <a:blip r:embed="rId3">
                <a:alphaModFix amt="30000"/>
              </a:blip>
              <a:stretch>
                <a:fillRect l="-12" t="0" r="-12" b="0"/>
              </a:stretch>
            </a:blipFill>
          </p:spPr>
        </p:sp>
      </p:grpSp>
      <p:grpSp>
        <p:nvGrpSpPr>
          <p:cNvPr name="Group 4" id="4"/>
          <p:cNvGrpSpPr/>
          <p:nvPr/>
        </p:nvGrpSpPr>
        <p:grpSpPr>
          <a:xfrm rot="0">
            <a:off x="0" y="1432293"/>
            <a:ext cx="17107195" cy="7091715"/>
            <a:chOff x="0" y="0"/>
            <a:chExt cx="22809594" cy="9455620"/>
          </a:xfrm>
        </p:grpSpPr>
        <p:sp>
          <p:nvSpPr>
            <p:cNvPr name="Freeform 5" id="5"/>
            <p:cNvSpPr/>
            <p:nvPr/>
          </p:nvSpPr>
          <p:spPr>
            <a:xfrm flipH="false" flipV="false" rot="0">
              <a:off x="0" y="0"/>
              <a:ext cx="22809581" cy="9455658"/>
            </a:xfrm>
            <a:custGeom>
              <a:avLst/>
              <a:gdLst/>
              <a:ahLst/>
              <a:cxnLst/>
              <a:rect r="r" b="b" t="t" l="l"/>
              <a:pathLst>
                <a:path h="9455658" w="22809581">
                  <a:moveTo>
                    <a:pt x="0" y="0"/>
                  </a:moveTo>
                  <a:lnTo>
                    <a:pt x="22809581" y="0"/>
                  </a:lnTo>
                  <a:lnTo>
                    <a:pt x="22809581" y="9455658"/>
                  </a:lnTo>
                  <a:lnTo>
                    <a:pt x="0" y="9455658"/>
                  </a:lnTo>
                  <a:lnTo>
                    <a:pt x="0" y="0"/>
                  </a:lnTo>
                  <a:close/>
                </a:path>
              </a:pathLst>
            </a:custGeom>
            <a:blipFill>
              <a:blip r:embed="rId4"/>
              <a:stretch>
                <a:fillRect l="-79" t="0" r="-79" b="0"/>
              </a:stretch>
            </a:blipFill>
          </p:spPr>
        </p:sp>
      </p:grpSp>
      <p:grpSp>
        <p:nvGrpSpPr>
          <p:cNvPr name="Group 6" id="6"/>
          <p:cNvGrpSpPr/>
          <p:nvPr/>
        </p:nvGrpSpPr>
        <p:grpSpPr>
          <a:xfrm rot="-6509820">
            <a:off x="7319162" y="15137997"/>
            <a:ext cx="17107195" cy="18893495"/>
            <a:chOff x="0" y="0"/>
            <a:chExt cx="22809594" cy="25191326"/>
          </a:xfrm>
        </p:grpSpPr>
        <p:sp>
          <p:nvSpPr>
            <p:cNvPr name="Freeform 7" id="7"/>
            <p:cNvSpPr/>
            <p:nvPr/>
          </p:nvSpPr>
          <p:spPr>
            <a:xfrm flipH="false" flipV="false" rot="0">
              <a:off x="0" y="0"/>
              <a:ext cx="22809581" cy="25191338"/>
            </a:xfrm>
            <a:custGeom>
              <a:avLst/>
              <a:gdLst/>
              <a:ahLst/>
              <a:cxnLst/>
              <a:rect r="r" b="b" t="t" l="l"/>
              <a:pathLst>
                <a:path h="25191338" w="22809581">
                  <a:moveTo>
                    <a:pt x="0" y="0"/>
                  </a:moveTo>
                  <a:lnTo>
                    <a:pt x="22809581" y="0"/>
                  </a:lnTo>
                  <a:lnTo>
                    <a:pt x="22809581" y="25191338"/>
                  </a:lnTo>
                  <a:lnTo>
                    <a:pt x="0" y="25191338"/>
                  </a:lnTo>
                  <a:lnTo>
                    <a:pt x="0" y="0"/>
                  </a:lnTo>
                  <a:close/>
                </a:path>
              </a:pathLst>
            </a:custGeom>
            <a:blipFill>
              <a:blip r:embed="rId5">
                <a:alphaModFix amt="68000"/>
              </a:blip>
              <a:stretch>
                <a:fillRect l="0" t="-6" r="0" b="-6"/>
              </a:stretch>
            </a:blipFill>
          </p:spPr>
        </p:sp>
      </p:grpSp>
      <p:grpSp>
        <p:nvGrpSpPr>
          <p:cNvPr name="Group 8" id="8"/>
          <p:cNvGrpSpPr/>
          <p:nvPr/>
        </p:nvGrpSpPr>
        <p:grpSpPr>
          <a:xfrm rot="5929560">
            <a:off x="-4353268" y="-298533"/>
            <a:ext cx="17107195" cy="11975040"/>
            <a:chOff x="0" y="0"/>
            <a:chExt cx="22809594" cy="15966719"/>
          </a:xfrm>
        </p:grpSpPr>
        <p:sp>
          <p:nvSpPr>
            <p:cNvPr name="Freeform 9" id="9"/>
            <p:cNvSpPr/>
            <p:nvPr/>
          </p:nvSpPr>
          <p:spPr>
            <a:xfrm flipH="false" flipV="false" rot="0">
              <a:off x="0" y="0"/>
              <a:ext cx="22809581" cy="15966694"/>
            </a:xfrm>
            <a:custGeom>
              <a:avLst/>
              <a:gdLst/>
              <a:ahLst/>
              <a:cxnLst/>
              <a:rect r="r" b="b" t="t" l="l"/>
              <a:pathLst>
                <a:path h="15966694" w="22809581">
                  <a:moveTo>
                    <a:pt x="0" y="0"/>
                  </a:moveTo>
                  <a:lnTo>
                    <a:pt x="22809581" y="0"/>
                  </a:lnTo>
                  <a:lnTo>
                    <a:pt x="22809581" y="15966694"/>
                  </a:lnTo>
                  <a:lnTo>
                    <a:pt x="0" y="15966694"/>
                  </a:lnTo>
                  <a:lnTo>
                    <a:pt x="0" y="0"/>
                  </a:lnTo>
                  <a:close/>
                </a:path>
              </a:pathLst>
            </a:custGeom>
            <a:blipFill>
              <a:blip r:embed="rId6">
                <a:alphaModFix amt="50000"/>
              </a:blip>
              <a:stretch>
                <a:fillRect l="0" t="-38" r="0" b="-38"/>
              </a:stretch>
            </a:blipFill>
          </p:spPr>
        </p:sp>
      </p:grpSp>
      <p:sp>
        <p:nvSpPr>
          <p:cNvPr name="Freeform 10" id="10"/>
          <p:cNvSpPr/>
          <p:nvPr/>
        </p:nvSpPr>
        <p:spPr>
          <a:xfrm flipH="false" flipV="false" rot="0">
            <a:off x="116948" y="-1558290"/>
            <a:ext cx="21150110" cy="6448187"/>
          </a:xfrm>
          <a:custGeom>
            <a:avLst/>
            <a:gdLst/>
            <a:ahLst/>
            <a:cxnLst/>
            <a:rect r="r" b="b" t="t" l="l"/>
            <a:pathLst>
              <a:path h="6448187" w="21150110">
                <a:moveTo>
                  <a:pt x="0" y="0"/>
                </a:moveTo>
                <a:lnTo>
                  <a:pt x="21150110" y="0"/>
                </a:lnTo>
                <a:lnTo>
                  <a:pt x="21150110" y="6448187"/>
                </a:lnTo>
                <a:lnTo>
                  <a:pt x="0" y="64481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484337" y="3396625"/>
            <a:ext cx="20415323" cy="26618889"/>
          </a:xfrm>
          <a:custGeom>
            <a:avLst/>
            <a:gdLst/>
            <a:ahLst/>
            <a:cxnLst/>
            <a:rect r="r" b="b" t="t" l="l"/>
            <a:pathLst>
              <a:path h="26618889" w="20415323">
                <a:moveTo>
                  <a:pt x="0" y="0"/>
                </a:moveTo>
                <a:lnTo>
                  <a:pt x="20415323" y="0"/>
                </a:lnTo>
                <a:lnTo>
                  <a:pt x="20415323" y="26618888"/>
                </a:lnTo>
                <a:lnTo>
                  <a:pt x="0" y="266188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7918904" y="11419608"/>
            <a:ext cx="17107195" cy="20037714"/>
            <a:chOff x="0" y="0"/>
            <a:chExt cx="22809594" cy="26716952"/>
          </a:xfrm>
        </p:grpSpPr>
        <p:sp>
          <p:nvSpPr>
            <p:cNvPr name="Freeform 13" id="13"/>
            <p:cNvSpPr/>
            <p:nvPr/>
          </p:nvSpPr>
          <p:spPr>
            <a:xfrm flipH="false" flipV="false" rot="0">
              <a:off x="0" y="0"/>
              <a:ext cx="22809581" cy="26716989"/>
            </a:xfrm>
            <a:custGeom>
              <a:avLst/>
              <a:gdLst/>
              <a:ahLst/>
              <a:cxnLst/>
              <a:rect r="r" b="b" t="t" l="l"/>
              <a:pathLst>
                <a:path h="26716989" w="22809581">
                  <a:moveTo>
                    <a:pt x="0" y="0"/>
                  </a:moveTo>
                  <a:lnTo>
                    <a:pt x="22809581" y="0"/>
                  </a:lnTo>
                  <a:lnTo>
                    <a:pt x="22809581" y="26716989"/>
                  </a:lnTo>
                  <a:lnTo>
                    <a:pt x="0" y="26716989"/>
                  </a:lnTo>
                  <a:lnTo>
                    <a:pt x="0" y="0"/>
                  </a:lnTo>
                  <a:close/>
                </a:path>
              </a:pathLst>
            </a:custGeom>
            <a:blipFill>
              <a:blip r:embed="rId11">
                <a:alphaModFix amt="40000"/>
              </a:blip>
              <a:stretch>
                <a:fillRect l="0" t="-8" r="0" b="-8"/>
              </a:stretch>
            </a:blipFill>
          </p:spPr>
        </p:sp>
      </p:grpSp>
      <p:grpSp>
        <p:nvGrpSpPr>
          <p:cNvPr name="Group 14" id="14"/>
          <p:cNvGrpSpPr/>
          <p:nvPr/>
        </p:nvGrpSpPr>
        <p:grpSpPr>
          <a:xfrm rot="0">
            <a:off x="13358735" y="438636"/>
            <a:ext cx="17107195" cy="17107195"/>
            <a:chOff x="0" y="0"/>
            <a:chExt cx="22809594" cy="22809594"/>
          </a:xfrm>
        </p:grpSpPr>
        <p:sp>
          <p:nvSpPr>
            <p:cNvPr name="Freeform 15" id="15"/>
            <p:cNvSpPr/>
            <p:nvPr/>
          </p:nvSpPr>
          <p:spPr>
            <a:xfrm flipH="false" flipV="false" rot="0">
              <a:off x="0" y="0"/>
              <a:ext cx="22809581" cy="22809581"/>
            </a:xfrm>
            <a:custGeom>
              <a:avLst/>
              <a:gdLst/>
              <a:ahLst/>
              <a:cxnLst/>
              <a:rect r="r" b="b" t="t" l="l"/>
              <a:pathLst>
                <a:path h="22809581" w="22809581">
                  <a:moveTo>
                    <a:pt x="0" y="0"/>
                  </a:moveTo>
                  <a:lnTo>
                    <a:pt x="22809581" y="0"/>
                  </a:lnTo>
                  <a:lnTo>
                    <a:pt x="22809581" y="22809581"/>
                  </a:lnTo>
                  <a:lnTo>
                    <a:pt x="0" y="22809581"/>
                  </a:lnTo>
                  <a:lnTo>
                    <a:pt x="0" y="0"/>
                  </a:lnTo>
                  <a:close/>
                </a:path>
              </a:pathLst>
            </a:custGeom>
            <a:blipFill>
              <a:blip r:embed="rId12">
                <a:alphaModFix amt="25000"/>
              </a:blip>
              <a:stretch>
                <a:fillRect l="0" t="0" r="0" b="0"/>
              </a:stretch>
            </a:blipFill>
          </p:spPr>
        </p:sp>
      </p:grpSp>
      <p:sp>
        <p:nvSpPr>
          <p:cNvPr name="Freeform 16" id="16"/>
          <p:cNvSpPr/>
          <p:nvPr/>
        </p:nvSpPr>
        <p:spPr>
          <a:xfrm flipH="false" flipV="false" rot="0">
            <a:off x="567128" y="6245469"/>
            <a:ext cx="20332531" cy="23727136"/>
          </a:xfrm>
          <a:custGeom>
            <a:avLst/>
            <a:gdLst/>
            <a:ahLst/>
            <a:cxnLst/>
            <a:rect r="r" b="b" t="t" l="l"/>
            <a:pathLst>
              <a:path h="23727136" w="20332531">
                <a:moveTo>
                  <a:pt x="0" y="0"/>
                </a:moveTo>
                <a:lnTo>
                  <a:pt x="20332532" y="0"/>
                </a:lnTo>
                <a:lnTo>
                  <a:pt x="20332532" y="23727136"/>
                </a:lnTo>
                <a:lnTo>
                  <a:pt x="0" y="23727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7" id="17"/>
          <p:cNvGrpSpPr/>
          <p:nvPr/>
        </p:nvGrpSpPr>
        <p:grpSpPr>
          <a:xfrm rot="0">
            <a:off x="13540216" y="328679"/>
            <a:ext cx="3081471" cy="2561311"/>
            <a:chOff x="0" y="0"/>
            <a:chExt cx="4108628" cy="3415081"/>
          </a:xfrm>
        </p:grpSpPr>
        <p:sp>
          <p:nvSpPr>
            <p:cNvPr name="Freeform 18" id="18"/>
            <p:cNvSpPr/>
            <p:nvPr/>
          </p:nvSpPr>
          <p:spPr>
            <a:xfrm flipH="false" flipV="false" rot="0">
              <a:off x="0" y="0"/>
              <a:ext cx="4108577" cy="3415030"/>
            </a:xfrm>
            <a:custGeom>
              <a:avLst/>
              <a:gdLst/>
              <a:ahLst/>
              <a:cxnLst/>
              <a:rect r="r" b="b" t="t" l="l"/>
              <a:pathLst>
                <a:path h="3415030" w="4108577">
                  <a:moveTo>
                    <a:pt x="0" y="0"/>
                  </a:moveTo>
                  <a:lnTo>
                    <a:pt x="4108577" y="0"/>
                  </a:lnTo>
                  <a:lnTo>
                    <a:pt x="4108577" y="3415030"/>
                  </a:lnTo>
                  <a:lnTo>
                    <a:pt x="0" y="3415030"/>
                  </a:lnTo>
                  <a:lnTo>
                    <a:pt x="0" y="0"/>
                  </a:lnTo>
                  <a:close/>
                </a:path>
              </a:pathLst>
            </a:custGeom>
            <a:blipFill>
              <a:blip r:embed="rId15"/>
              <a:stretch>
                <a:fillRect l="-652" t="0" r="-654" b="-1"/>
              </a:stretch>
            </a:blipFill>
          </p:spPr>
        </p:sp>
      </p:grpSp>
      <p:sp>
        <p:nvSpPr>
          <p:cNvPr name="AutoShape 19" id="19"/>
          <p:cNvSpPr/>
          <p:nvPr/>
        </p:nvSpPr>
        <p:spPr>
          <a:xfrm rot="5368800">
            <a:off x="15774705" y="1604572"/>
            <a:ext cx="1412815" cy="0"/>
          </a:xfrm>
          <a:prstGeom prst="line">
            <a:avLst/>
          </a:prstGeom>
          <a:ln cap="rnd" w="9525">
            <a:solidFill>
              <a:srgbClr val="FFFFFF"/>
            </a:solidFill>
            <a:prstDash val="solid"/>
            <a:headEnd type="none" len="sm" w="sm"/>
            <a:tailEnd type="none" len="sm" w="sm"/>
          </a:ln>
        </p:spPr>
      </p:sp>
      <p:sp>
        <p:nvSpPr>
          <p:cNvPr name="TextBox 20" id="20"/>
          <p:cNvSpPr txBox="true"/>
          <p:nvPr/>
        </p:nvSpPr>
        <p:spPr>
          <a:xfrm rot="0">
            <a:off x="1291123" y="248136"/>
            <a:ext cx="7722213" cy="1412758"/>
          </a:xfrm>
          <a:prstGeom prst="rect">
            <a:avLst/>
          </a:prstGeom>
        </p:spPr>
        <p:txBody>
          <a:bodyPr anchor="t" rtlCol="false" tIns="0" lIns="0" bIns="0" rIns="0">
            <a:spAutoFit/>
          </a:bodyPr>
          <a:lstStyle/>
          <a:p>
            <a:pPr algn="l">
              <a:lnSpc>
                <a:spcPts val="5953"/>
              </a:lnSpc>
            </a:pPr>
            <a:r>
              <a:rPr lang="en-US" b="true" sz="3307">
                <a:solidFill>
                  <a:srgbClr val="FFFFFF"/>
                </a:solidFill>
                <a:latin typeface="Barlow Bold"/>
                <a:ea typeface="Barlow Bold"/>
                <a:cs typeface="Barlow Bold"/>
                <a:sym typeface="Barlow Bold"/>
              </a:rPr>
              <a:t>CUỘC THI Ý TƯỞNG KHỞI NGHIỆP </a:t>
            </a:r>
          </a:p>
          <a:p>
            <a:pPr algn="l">
              <a:lnSpc>
                <a:spcPts val="5953"/>
              </a:lnSpc>
            </a:pPr>
            <a:r>
              <a:rPr lang="en-US" b="true" sz="3307">
                <a:solidFill>
                  <a:srgbClr val="FFFFFF"/>
                </a:solidFill>
                <a:latin typeface="Barlow Bold"/>
                <a:ea typeface="Barlow Bold"/>
                <a:cs typeface="Barlow Bold"/>
                <a:sym typeface="Barlow Bold"/>
              </a:rPr>
              <a:t>TRONG LĨNH VỰC CÔNG NGHỆ THÔNG TIN </a:t>
            </a:r>
          </a:p>
        </p:txBody>
      </p:sp>
      <p:grpSp>
        <p:nvGrpSpPr>
          <p:cNvPr name="Group 21" id="21"/>
          <p:cNvGrpSpPr/>
          <p:nvPr/>
        </p:nvGrpSpPr>
        <p:grpSpPr>
          <a:xfrm rot="0">
            <a:off x="345538" y="1873406"/>
            <a:ext cx="15438749" cy="1490005"/>
            <a:chOff x="0" y="0"/>
            <a:chExt cx="20584998" cy="1986674"/>
          </a:xfrm>
        </p:grpSpPr>
        <p:sp>
          <p:nvSpPr>
            <p:cNvPr name="Freeform 22" id="22"/>
            <p:cNvSpPr/>
            <p:nvPr/>
          </p:nvSpPr>
          <p:spPr>
            <a:xfrm flipH="false" flipV="false" rot="0">
              <a:off x="0" y="0"/>
              <a:ext cx="20585049" cy="1986661"/>
            </a:xfrm>
            <a:custGeom>
              <a:avLst/>
              <a:gdLst/>
              <a:ahLst/>
              <a:cxnLst/>
              <a:rect r="r" b="b" t="t" l="l"/>
              <a:pathLst>
                <a:path h="1986661" w="20585049">
                  <a:moveTo>
                    <a:pt x="0" y="0"/>
                  </a:moveTo>
                  <a:lnTo>
                    <a:pt x="20585049" y="0"/>
                  </a:lnTo>
                  <a:lnTo>
                    <a:pt x="20585049" y="1986661"/>
                  </a:lnTo>
                  <a:lnTo>
                    <a:pt x="0" y="1986661"/>
                  </a:lnTo>
                  <a:lnTo>
                    <a:pt x="0" y="0"/>
                  </a:lnTo>
                  <a:close/>
                </a:path>
              </a:pathLst>
            </a:custGeom>
            <a:blipFill>
              <a:blip r:embed="rId16"/>
              <a:stretch>
                <a:fillRect l="0" t="-79510" r="0" b="-1288025"/>
              </a:stretch>
            </a:blipFill>
          </p:spPr>
        </p:sp>
      </p:grpSp>
      <p:grpSp>
        <p:nvGrpSpPr>
          <p:cNvPr name="Group 23" id="23"/>
          <p:cNvGrpSpPr/>
          <p:nvPr/>
        </p:nvGrpSpPr>
        <p:grpSpPr>
          <a:xfrm rot="0">
            <a:off x="451123" y="3614318"/>
            <a:ext cx="3667535" cy="892102"/>
            <a:chOff x="0" y="0"/>
            <a:chExt cx="4890046" cy="1189469"/>
          </a:xfrm>
        </p:grpSpPr>
        <p:sp>
          <p:nvSpPr>
            <p:cNvPr name="Freeform 24" id="24"/>
            <p:cNvSpPr/>
            <p:nvPr/>
          </p:nvSpPr>
          <p:spPr>
            <a:xfrm flipH="false" flipV="false" rot="0">
              <a:off x="0" y="0"/>
              <a:ext cx="4890008" cy="1189482"/>
            </a:xfrm>
            <a:custGeom>
              <a:avLst/>
              <a:gdLst/>
              <a:ahLst/>
              <a:cxnLst/>
              <a:rect r="r" b="b" t="t" l="l"/>
              <a:pathLst>
                <a:path h="1189482" w="4890008">
                  <a:moveTo>
                    <a:pt x="0" y="0"/>
                  </a:moveTo>
                  <a:lnTo>
                    <a:pt x="4890008" y="0"/>
                  </a:lnTo>
                  <a:lnTo>
                    <a:pt x="4890008" y="1189482"/>
                  </a:lnTo>
                  <a:lnTo>
                    <a:pt x="0" y="1189482"/>
                  </a:lnTo>
                  <a:lnTo>
                    <a:pt x="0" y="0"/>
                  </a:lnTo>
                  <a:close/>
                </a:path>
              </a:pathLst>
            </a:custGeom>
            <a:blipFill>
              <a:blip r:embed="rId17"/>
              <a:stretch>
                <a:fillRect l="0" t="-135151" r="-98662" b="-921570"/>
              </a:stretch>
            </a:blipFill>
          </p:spPr>
        </p:sp>
      </p:grpSp>
      <p:grpSp>
        <p:nvGrpSpPr>
          <p:cNvPr name="Group 25" id="25"/>
          <p:cNvGrpSpPr/>
          <p:nvPr/>
        </p:nvGrpSpPr>
        <p:grpSpPr>
          <a:xfrm rot="0">
            <a:off x="-1480337" y="1000087"/>
            <a:ext cx="11159004" cy="2243204"/>
            <a:chOff x="0" y="0"/>
            <a:chExt cx="14878672" cy="2990939"/>
          </a:xfrm>
        </p:grpSpPr>
        <p:sp>
          <p:nvSpPr>
            <p:cNvPr name="Freeform 26" id="26"/>
            <p:cNvSpPr/>
            <p:nvPr/>
          </p:nvSpPr>
          <p:spPr>
            <a:xfrm flipH="false" flipV="false" rot="0">
              <a:off x="0" y="0"/>
              <a:ext cx="14878686" cy="2990977"/>
            </a:xfrm>
            <a:custGeom>
              <a:avLst/>
              <a:gdLst/>
              <a:ahLst/>
              <a:cxnLst/>
              <a:rect r="r" b="b" t="t" l="l"/>
              <a:pathLst>
                <a:path h="2990977" w="14878686">
                  <a:moveTo>
                    <a:pt x="0" y="0"/>
                  </a:moveTo>
                  <a:lnTo>
                    <a:pt x="14878686" y="0"/>
                  </a:lnTo>
                  <a:lnTo>
                    <a:pt x="14878686" y="2990977"/>
                  </a:lnTo>
                  <a:lnTo>
                    <a:pt x="0" y="2990977"/>
                  </a:lnTo>
                  <a:lnTo>
                    <a:pt x="0" y="0"/>
                  </a:lnTo>
                  <a:close/>
                </a:path>
              </a:pathLst>
            </a:custGeom>
            <a:blipFill>
              <a:blip r:embed="rId18"/>
              <a:stretch>
                <a:fillRect l="0" t="0" r="0" b="1"/>
              </a:stretch>
            </a:blipFill>
          </p:spPr>
        </p:sp>
      </p:grpSp>
      <p:grpSp>
        <p:nvGrpSpPr>
          <p:cNvPr name="Group 27" id="27"/>
          <p:cNvGrpSpPr/>
          <p:nvPr/>
        </p:nvGrpSpPr>
        <p:grpSpPr>
          <a:xfrm rot="0">
            <a:off x="1935927" y="7681345"/>
            <a:ext cx="8725284" cy="4267563"/>
            <a:chOff x="0" y="0"/>
            <a:chExt cx="1241039" cy="606996"/>
          </a:xfrm>
        </p:grpSpPr>
        <p:sp>
          <p:nvSpPr>
            <p:cNvPr name="Freeform 28" id="28"/>
            <p:cNvSpPr/>
            <p:nvPr/>
          </p:nvSpPr>
          <p:spPr>
            <a:xfrm flipH="false" flipV="false" rot="0">
              <a:off x="0" y="0"/>
              <a:ext cx="1241039" cy="606996"/>
            </a:xfrm>
            <a:custGeom>
              <a:avLst/>
              <a:gdLst/>
              <a:ahLst/>
              <a:cxnLst/>
              <a:rect r="r" b="b" t="t" l="l"/>
              <a:pathLst>
                <a:path h="606996" w="1241039">
                  <a:moveTo>
                    <a:pt x="24844" y="0"/>
                  </a:moveTo>
                  <a:lnTo>
                    <a:pt x="1216195" y="0"/>
                  </a:lnTo>
                  <a:cubicBezTo>
                    <a:pt x="1229916" y="0"/>
                    <a:pt x="1241039" y="11123"/>
                    <a:pt x="1241039" y="24844"/>
                  </a:cubicBezTo>
                  <a:lnTo>
                    <a:pt x="1241039" y="582152"/>
                  </a:lnTo>
                  <a:cubicBezTo>
                    <a:pt x="1241039" y="588741"/>
                    <a:pt x="1238421" y="595060"/>
                    <a:pt x="1233762" y="599719"/>
                  </a:cubicBezTo>
                  <a:cubicBezTo>
                    <a:pt x="1229103" y="604378"/>
                    <a:pt x="1222784" y="606996"/>
                    <a:pt x="1216195" y="606996"/>
                  </a:cubicBezTo>
                  <a:lnTo>
                    <a:pt x="24844" y="606996"/>
                  </a:lnTo>
                  <a:cubicBezTo>
                    <a:pt x="18255" y="606996"/>
                    <a:pt x="11936" y="604378"/>
                    <a:pt x="7277" y="599719"/>
                  </a:cubicBezTo>
                  <a:cubicBezTo>
                    <a:pt x="2618" y="595060"/>
                    <a:pt x="0" y="588741"/>
                    <a:pt x="0" y="582152"/>
                  </a:cubicBezTo>
                  <a:lnTo>
                    <a:pt x="0" y="24844"/>
                  </a:lnTo>
                  <a:cubicBezTo>
                    <a:pt x="0" y="18255"/>
                    <a:pt x="2618" y="11936"/>
                    <a:pt x="7277" y="7277"/>
                  </a:cubicBezTo>
                  <a:cubicBezTo>
                    <a:pt x="11936" y="2618"/>
                    <a:pt x="18255" y="0"/>
                    <a:pt x="24844" y="0"/>
                  </a:cubicBezTo>
                  <a:close/>
                </a:path>
              </a:pathLst>
            </a:custGeom>
            <a:solidFill>
              <a:srgbClr val="FFFFFF"/>
            </a:solidFill>
            <a:ln w="9525" cap="rnd">
              <a:solidFill>
                <a:srgbClr val="000000"/>
              </a:solidFill>
              <a:prstDash val="solid"/>
              <a:round/>
            </a:ln>
          </p:spPr>
        </p:sp>
        <p:sp>
          <p:nvSpPr>
            <p:cNvPr name="TextBox 29" id="29"/>
            <p:cNvSpPr txBox="true"/>
            <p:nvPr/>
          </p:nvSpPr>
          <p:spPr>
            <a:xfrm>
              <a:off x="0" y="-85725"/>
              <a:ext cx="1241039" cy="692721"/>
            </a:xfrm>
            <a:prstGeom prst="rect">
              <a:avLst/>
            </a:prstGeom>
          </p:spPr>
          <p:txBody>
            <a:bodyPr anchor="ctr" rtlCol="false" tIns="71838" lIns="71838" bIns="71838" rIns="71838"/>
            <a:lstStyle/>
            <a:p>
              <a:pPr algn="ctr">
                <a:lnSpc>
                  <a:spcPts val="4402"/>
                </a:lnSpc>
              </a:pPr>
            </a:p>
          </p:txBody>
        </p:sp>
      </p:grpSp>
      <p:grpSp>
        <p:nvGrpSpPr>
          <p:cNvPr name="Group 30" id="30"/>
          <p:cNvGrpSpPr/>
          <p:nvPr/>
        </p:nvGrpSpPr>
        <p:grpSpPr>
          <a:xfrm rot="0">
            <a:off x="4200357" y="6948381"/>
            <a:ext cx="3410159" cy="860874"/>
            <a:chOff x="0" y="0"/>
            <a:chExt cx="611062" cy="154259"/>
          </a:xfrm>
        </p:grpSpPr>
        <p:sp>
          <p:nvSpPr>
            <p:cNvPr name="Freeform 31" id="31"/>
            <p:cNvSpPr/>
            <p:nvPr/>
          </p:nvSpPr>
          <p:spPr>
            <a:xfrm flipH="false" flipV="false" rot="0">
              <a:off x="0" y="0"/>
              <a:ext cx="611062" cy="154259"/>
            </a:xfrm>
            <a:custGeom>
              <a:avLst/>
              <a:gdLst/>
              <a:ahLst/>
              <a:cxnLst/>
              <a:rect r="r" b="b" t="t" l="l"/>
              <a:pathLst>
                <a:path h="154259" w="611062">
                  <a:moveTo>
                    <a:pt x="77129" y="0"/>
                  </a:moveTo>
                  <a:lnTo>
                    <a:pt x="533933" y="0"/>
                  </a:lnTo>
                  <a:cubicBezTo>
                    <a:pt x="554389" y="0"/>
                    <a:pt x="574007" y="8126"/>
                    <a:pt x="588471" y="22591"/>
                  </a:cubicBezTo>
                  <a:cubicBezTo>
                    <a:pt x="602936" y="37055"/>
                    <a:pt x="611062" y="56673"/>
                    <a:pt x="611062" y="77129"/>
                  </a:cubicBezTo>
                  <a:lnTo>
                    <a:pt x="611062" y="77129"/>
                  </a:lnTo>
                  <a:cubicBezTo>
                    <a:pt x="611062" y="97585"/>
                    <a:pt x="602936" y="117204"/>
                    <a:pt x="588471" y="131668"/>
                  </a:cubicBezTo>
                  <a:cubicBezTo>
                    <a:pt x="574007" y="146133"/>
                    <a:pt x="554389" y="154259"/>
                    <a:pt x="533933" y="154259"/>
                  </a:cubicBezTo>
                  <a:lnTo>
                    <a:pt x="77129" y="154259"/>
                  </a:lnTo>
                  <a:cubicBezTo>
                    <a:pt x="56673" y="154259"/>
                    <a:pt x="37055" y="146133"/>
                    <a:pt x="22591" y="131668"/>
                  </a:cubicBezTo>
                  <a:cubicBezTo>
                    <a:pt x="8126" y="117204"/>
                    <a:pt x="0" y="97585"/>
                    <a:pt x="0" y="77129"/>
                  </a:cubicBezTo>
                  <a:lnTo>
                    <a:pt x="0" y="77129"/>
                  </a:lnTo>
                  <a:cubicBezTo>
                    <a:pt x="0" y="56673"/>
                    <a:pt x="8126" y="37055"/>
                    <a:pt x="22591" y="22591"/>
                  </a:cubicBezTo>
                  <a:cubicBezTo>
                    <a:pt x="37055" y="8126"/>
                    <a:pt x="56673" y="0"/>
                    <a:pt x="77129" y="0"/>
                  </a:cubicBezTo>
                  <a:close/>
                </a:path>
              </a:pathLst>
            </a:custGeom>
            <a:solidFill>
              <a:srgbClr val="2987A1"/>
            </a:solidFill>
            <a:ln w="9525" cap="rnd">
              <a:solidFill>
                <a:srgbClr val="000000"/>
              </a:solidFill>
              <a:prstDash val="solid"/>
              <a:round/>
            </a:ln>
          </p:spPr>
        </p:sp>
        <p:sp>
          <p:nvSpPr>
            <p:cNvPr name="TextBox 32" id="32"/>
            <p:cNvSpPr txBox="true"/>
            <p:nvPr/>
          </p:nvSpPr>
          <p:spPr>
            <a:xfrm>
              <a:off x="0" y="-85725"/>
              <a:ext cx="611062" cy="239984"/>
            </a:xfrm>
            <a:prstGeom prst="rect">
              <a:avLst/>
            </a:prstGeom>
          </p:spPr>
          <p:txBody>
            <a:bodyPr anchor="ctr" rtlCol="false" tIns="71838" lIns="71838" bIns="71838" rIns="71838"/>
            <a:lstStyle/>
            <a:p>
              <a:pPr algn="ctr">
                <a:lnSpc>
                  <a:spcPts val="4402"/>
                </a:lnSpc>
              </a:pPr>
            </a:p>
          </p:txBody>
        </p:sp>
      </p:grpSp>
      <p:grpSp>
        <p:nvGrpSpPr>
          <p:cNvPr name="Group 33" id="33"/>
          <p:cNvGrpSpPr/>
          <p:nvPr/>
        </p:nvGrpSpPr>
        <p:grpSpPr>
          <a:xfrm rot="0">
            <a:off x="1992569" y="6921744"/>
            <a:ext cx="4896680" cy="914147"/>
            <a:chOff x="0" y="0"/>
            <a:chExt cx="696478" cy="130024"/>
          </a:xfrm>
        </p:grpSpPr>
        <p:sp>
          <p:nvSpPr>
            <p:cNvPr name="Freeform 34" id="34"/>
            <p:cNvSpPr/>
            <p:nvPr/>
          </p:nvSpPr>
          <p:spPr>
            <a:xfrm flipH="false" flipV="false" rot="0">
              <a:off x="0" y="0"/>
              <a:ext cx="696478" cy="130024"/>
            </a:xfrm>
            <a:custGeom>
              <a:avLst/>
              <a:gdLst/>
              <a:ahLst/>
              <a:cxnLst/>
              <a:rect r="r" b="b" t="t" l="l"/>
              <a:pathLst>
                <a:path h="130024" w="696478">
                  <a:moveTo>
                    <a:pt x="65012" y="0"/>
                  </a:moveTo>
                  <a:lnTo>
                    <a:pt x="631466" y="0"/>
                  </a:lnTo>
                  <a:cubicBezTo>
                    <a:pt x="667372" y="0"/>
                    <a:pt x="696478" y="29107"/>
                    <a:pt x="696478" y="65012"/>
                  </a:cubicBezTo>
                  <a:lnTo>
                    <a:pt x="696478" y="65012"/>
                  </a:lnTo>
                  <a:cubicBezTo>
                    <a:pt x="696478" y="100917"/>
                    <a:pt x="667372" y="130024"/>
                    <a:pt x="631466" y="130024"/>
                  </a:cubicBezTo>
                  <a:lnTo>
                    <a:pt x="65012" y="130024"/>
                  </a:lnTo>
                  <a:cubicBezTo>
                    <a:pt x="29107" y="130024"/>
                    <a:pt x="0" y="100917"/>
                    <a:pt x="0" y="65012"/>
                  </a:cubicBezTo>
                  <a:lnTo>
                    <a:pt x="0" y="65012"/>
                  </a:lnTo>
                  <a:cubicBezTo>
                    <a:pt x="0" y="29107"/>
                    <a:pt x="29107" y="0"/>
                    <a:pt x="65012" y="0"/>
                  </a:cubicBezTo>
                  <a:close/>
                </a:path>
              </a:pathLst>
            </a:custGeom>
            <a:solidFill>
              <a:srgbClr val="000000"/>
            </a:solidFill>
          </p:spPr>
        </p:sp>
        <p:sp>
          <p:nvSpPr>
            <p:cNvPr name="TextBox 35" id="35"/>
            <p:cNvSpPr txBox="true"/>
            <p:nvPr/>
          </p:nvSpPr>
          <p:spPr>
            <a:xfrm>
              <a:off x="0" y="-85725"/>
              <a:ext cx="696478" cy="215749"/>
            </a:xfrm>
            <a:prstGeom prst="rect">
              <a:avLst/>
            </a:prstGeom>
          </p:spPr>
          <p:txBody>
            <a:bodyPr anchor="ctr" rtlCol="false" tIns="71838" lIns="71838" bIns="71838" rIns="71838"/>
            <a:lstStyle/>
            <a:p>
              <a:pPr algn="ctr">
                <a:lnSpc>
                  <a:spcPts val="4402"/>
                </a:lnSpc>
              </a:pPr>
            </a:p>
          </p:txBody>
        </p:sp>
      </p:grpSp>
      <p:grpSp>
        <p:nvGrpSpPr>
          <p:cNvPr name="Group 36" id="36"/>
          <p:cNvGrpSpPr/>
          <p:nvPr/>
        </p:nvGrpSpPr>
        <p:grpSpPr>
          <a:xfrm rot="0">
            <a:off x="1001698" y="6790964"/>
            <a:ext cx="1306346" cy="1201091"/>
            <a:chOff x="0" y="0"/>
            <a:chExt cx="185808" cy="170837"/>
          </a:xfrm>
        </p:grpSpPr>
        <p:sp>
          <p:nvSpPr>
            <p:cNvPr name="Freeform 37" id="37"/>
            <p:cNvSpPr/>
            <p:nvPr/>
          </p:nvSpPr>
          <p:spPr>
            <a:xfrm flipH="false" flipV="false" rot="0">
              <a:off x="0" y="0"/>
              <a:ext cx="185808" cy="170837"/>
            </a:xfrm>
            <a:custGeom>
              <a:avLst/>
              <a:gdLst/>
              <a:ahLst/>
              <a:cxnLst/>
              <a:rect r="r" b="b" t="t" l="l"/>
              <a:pathLst>
                <a:path h="170837" w="185808">
                  <a:moveTo>
                    <a:pt x="85418" y="0"/>
                  </a:moveTo>
                  <a:lnTo>
                    <a:pt x="100389" y="0"/>
                  </a:lnTo>
                  <a:cubicBezTo>
                    <a:pt x="123044" y="0"/>
                    <a:pt x="144770" y="8999"/>
                    <a:pt x="160789" y="25018"/>
                  </a:cubicBezTo>
                  <a:cubicBezTo>
                    <a:pt x="176808" y="41038"/>
                    <a:pt x="185808" y="62764"/>
                    <a:pt x="185808" y="85418"/>
                  </a:cubicBezTo>
                  <a:lnTo>
                    <a:pt x="185808" y="85418"/>
                  </a:lnTo>
                  <a:cubicBezTo>
                    <a:pt x="185808" y="108073"/>
                    <a:pt x="176808" y="129799"/>
                    <a:pt x="160789" y="145818"/>
                  </a:cubicBezTo>
                  <a:cubicBezTo>
                    <a:pt x="144770" y="161838"/>
                    <a:pt x="123044" y="170837"/>
                    <a:pt x="100389" y="170837"/>
                  </a:cubicBezTo>
                  <a:lnTo>
                    <a:pt x="85418" y="170837"/>
                  </a:lnTo>
                  <a:cubicBezTo>
                    <a:pt x="62764" y="170837"/>
                    <a:pt x="41038" y="161838"/>
                    <a:pt x="25018" y="145818"/>
                  </a:cubicBezTo>
                  <a:cubicBezTo>
                    <a:pt x="8999" y="129799"/>
                    <a:pt x="0" y="108073"/>
                    <a:pt x="0" y="85418"/>
                  </a:cubicBezTo>
                  <a:lnTo>
                    <a:pt x="0" y="85418"/>
                  </a:lnTo>
                  <a:cubicBezTo>
                    <a:pt x="0" y="62764"/>
                    <a:pt x="8999" y="41038"/>
                    <a:pt x="25018" y="25018"/>
                  </a:cubicBezTo>
                  <a:cubicBezTo>
                    <a:pt x="41038" y="8999"/>
                    <a:pt x="62764" y="0"/>
                    <a:pt x="85418" y="0"/>
                  </a:cubicBezTo>
                  <a:close/>
                </a:path>
              </a:pathLst>
            </a:custGeom>
            <a:solidFill>
              <a:srgbClr val="FFFFFF"/>
            </a:solidFill>
            <a:ln w="9525" cap="rnd">
              <a:solidFill>
                <a:srgbClr val="000000"/>
              </a:solidFill>
              <a:prstDash val="solid"/>
              <a:round/>
            </a:ln>
          </p:spPr>
        </p:sp>
        <p:sp>
          <p:nvSpPr>
            <p:cNvPr name="TextBox 38" id="38"/>
            <p:cNvSpPr txBox="true"/>
            <p:nvPr/>
          </p:nvSpPr>
          <p:spPr>
            <a:xfrm>
              <a:off x="0" y="-85725"/>
              <a:ext cx="185808" cy="256562"/>
            </a:xfrm>
            <a:prstGeom prst="rect">
              <a:avLst/>
            </a:prstGeom>
          </p:spPr>
          <p:txBody>
            <a:bodyPr anchor="ctr" rtlCol="false" tIns="71838" lIns="71838" bIns="71838" rIns="71838"/>
            <a:lstStyle/>
            <a:p>
              <a:pPr algn="ctr">
                <a:lnSpc>
                  <a:spcPts val="4402"/>
                </a:lnSpc>
              </a:pPr>
            </a:p>
          </p:txBody>
        </p:sp>
      </p:grpSp>
      <p:sp>
        <p:nvSpPr>
          <p:cNvPr name="AutoShape 39" id="39"/>
          <p:cNvSpPr/>
          <p:nvPr/>
        </p:nvSpPr>
        <p:spPr>
          <a:xfrm>
            <a:off x="1399703" y="8030155"/>
            <a:ext cx="414385" cy="2607772"/>
          </a:xfrm>
          <a:prstGeom prst="line">
            <a:avLst/>
          </a:prstGeom>
          <a:ln cap="flat" w="38100">
            <a:solidFill>
              <a:srgbClr val="000000"/>
            </a:solidFill>
            <a:prstDash val="sysDot"/>
            <a:headEnd type="none" len="sm" w="sm"/>
            <a:tailEnd type="arrow" len="sm" w="med"/>
          </a:ln>
        </p:spPr>
      </p:sp>
      <p:grpSp>
        <p:nvGrpSpPr>
          <p:cNvPr name="Group 40" id="40"/>
          <p:cNvGrpSpPr/>
          <p:nvPr/>
        </p:nvGrpSpPr>
        <p:grpSpPr>
          <a:xfrm rot="0">
            <a:off x="11242000" y="13966159"/>
            <a:ext cx="8195637" cy="4027036"/>
            <a:chOff x="0" y="0"/>
            <a:chExt cx="1268319" cy="623206"/>
          </a:xfrm>
        </p:grpSpPr>
        <p:sp>
          <p:nvSpPr>
            <p:cNvPr name="Freeform 41" id="41"/>
            <p:cNvSpPr/>
            <p:nvPr/>
          </p:nvSpPr>
          <p:spPr>
            <a:xfrm flipH="false" flipV="false" rot="0">
              <a:off x="0" y="0"/>
              <a:ext cx="1268319" cy="623206"/>
            </a:xfrm>
            <a:custGeom>
              <a:avLst/>
              <a:gdLst/>
              <a:ahLst/>
              <a:cxnLst/>
              <a:rect r="r" b="b" t="t" l="l"/>
              <a:pathLst>
                <a:path h="623206" w="1268319">
                  <a:moveTo>
                    <a:pt x="26450" y="0"/>
                  </a:moveTo>
                  <a:lnTo>
                    <a:pt x="1241869" y="0"/>
                  </a:lnTo>
                  <a:cubicBezTo>
                    <a:pt x="1256477" y="0"/>
                    <a:pt x="1268319" y="11842"/>
                    <a:pt x="1268319" y="26450"/>
                  </a:cubicBezTo>
                  <a:lnTo>
                    <a:pt x="1268319" y="596756"/>
                  </a:lnTo>
                  <a:cubicBezTo>
                    <a:pt x="1268319" y="603771"/>
                    <a:pt x="1265533" y="610498"/>
                    <a:pt x="1260572" y="615459"/>
                  </a:cubicBezTo>
                  <a:cubicBezTo>
                    <a:pt x="1255612" y="620419"/>
                    <a:pt x="1248884" y="623206"/>
                    <a:pt x="1241869" y="623206"/>
                  </a:cubicBezTo>
                  <a:lnTo>
                    <a:pt x="26450" y="623206"/>
                  </a:lnTo>
                  <a:cubicBezTo>
                    <a:pt x="19435" y="623206"/>
                    <a:pt x="12707" y="620419"/>
                    <a:pt x="7747" y="615459"/>
                  </a:cubicBezTo>
                  <a:cubicBezTo>
                    <a:pt x="2787" y="610498"/>
                    <a:pt x="0" y="603771"/>
                    <a:pt x="0" y="596756"/>
                  </a:cubicBezTo>
                  <a:lnTo>
                    <a:pt x="0" y="26450"/>
                  </a:lnTo>
                  <a:cubicBezTo>
                    <a:pt x="0" y="11842"/>
                    <a:pt x="11842" y="0"/>
                    <a:pt x="26450" y="0"/>
                  </a:cubicBezTo>
                  <a:close/>
                </a:path>
              </a:pathLst>
            </a:custGeom>
            <a:solidFill>
              <a:srgbClr val="FFFFFF"/>
            </a:solidFill>
            <a:ln w="9525" cap="rnd">
              <a:solidFill>
                <a:srgbClr val="000000"/>
              </a:solidFill>
              <a:prstDash val="solid"/>
              <a:round/>
            </a:ln>
          </p:spPr>
        </p:sp>
        <p:sp>
          <p:nvSpPr>
            <p:cNvPr name="TextBox 42" id="42"/>
            <p:cNvSpPr txBox="true"/>
            <p:nvPr/>
          </p:nvSpPr>
          <p:spPr>
            <a:xfrm>
              <a:off x="0" y="-85725"/>
              <a:ext cx="1268319" cy="708931"/>
            </a:xfrm>
            <a:prstGeom prst="rect">
              <a:avLst/>
            </a:prstGeom>
          </p:spPr>
          <p:txBody>
            <a:bodyPr anchor="ctr" rtlCol="false" tIns="71838" lIns="71838" bIns="71838" rIns="71838"/>
            <a:lstStyle/>
            <a:p>
              <a:pPr algn="ctr">
                <a:lnSpc>
                  <a:spcPts val="4402"/>
                </a:lnSpc>
              </a:pPr>
            </a:p>
          </p:txBody>
        </p:sp>
      </p:grpSp>
      <p:grpSp>
        <p:nvGrpSpPr>
          <p:cNvPr name="Group 43" id="43"/>
          <p:cNvGrpSpPr/>
          <p:nvPr/>
        </p:nvGrpSpPr>
        <p:grpSpPr>
          <a:xfrm rot="0">
            <a:off x="13678295" y="12974720"/>
            <a:ext cx="3428900" cy="771740"/>
            <a:chOff x="0" y="0"/>
            <a:chExt cx="530641" cy="119431"/>
          </a:xfrm>
        </p:grpSpPr>
        <p:sp>
          <p:nvSpPr>
            <p:cNvPr name="Freeform 44" id="44"/>
            <p:cNvSpPr/>
            <p:nvPr/>
          </p:nvSpPr>
          <p:spPr>
            <a:xfrm flipH="false" flipV="false" rot="0">
              <a:off x="0" y="0"/>
              <a:ext cx="530641" cy="119431"/>
            </a:xfrm>
            <a:custGeom>
              <a:avLst/>
              <a:gdLst/>
              <a:ahLst/>
              <a:cxnLst/>
              <a:rect r="r" b="b" t="t" l="l"/>
              <a:pathLst>
                <a:path h="119431" w="530641">
                  <a:moveTo>
                    <a:pt x="59715" y="0"/>
                  </a:moveTo>
                  <a:lnTo>
                    <a:pt x="470925" y="0"/>
                  </a:lnTo>
                  <a:cubicBezTo>
                    <a:pt x="486763" y="0"/>
                    <a:pt x="501952" y="6291"/>
                    <a:pt x="513151" y="17490"/>
                  </a:cubicBezTo>
                  <a:cubicBezTo>
                    <a:pt x="524349" y="28689"/>
                    <a:pt x="530641" y="43878"/>
                    <a:pt x="530641" y="59715"/>
                  </a:cubicBezTo>
                  <a:lnTo>
                    <a:pt x="530641" y="59715"/>
                  </a:lnTo>
                  <a:cubicBezTo>
                    <a:pt x="530641" y="75553"/>
                    <a:pt x="524349" y="90742"/>
                    <a:pt x="513151" y="101941"/>
                  </a:cubicBezTo>
                  <a:cubicBezTo>
                    <a:pt x="501952" y="113140"/>
                    <a:pt x="486763" y="119431"/>
                    <a:pt x="470925" y="119431"/>
                  </a:cubicBezTo>
                  <a:lnTo>
                    <a:pt x="59715" y="119431"/>
                  </a:lnTo>
                  <a:cubicBezTo>
                    <a:pt x="43878" y="119431"/>
                    <a:pt x="28689" y="113140"/>
                    <a:pt x="17490" y="101941"/>
                  </a:cubicBezTo>
                  <a:cubicBezTo>
                    <a:pt x="6291" y="90742"/>
                    <a:pt x="0" y="75553"/>
                    <a:pt x="0" y="59715"/>
                  </a:cubicBezTo>
                  <a:lnTo>
                    <a:pt x="0" y="59715"/>
                  </a:lnTo>
                  <a:cubicBezTo>
                    <a:pt x="0" y="43878"/>
                    <a:pt x="6291" y="28689"/>
                    <a:pt x="17490" y="17490"/>
                  </a:cubicBezTo>
                  <a:cubicBezTo>
                    <a:pt x="28689" y="6291"/>
                    <a:pt x="43878" y="0"/>
                    <a:pt x="59715" y="0"/>
                  </a:cubicBezTo>
                  <a:close/>
                </a:path>
              </a:pathLst>
            </a:custGeom>
            <a:solidFill>
              <a:srgbClr val="2987A1"/>
            </a:solidFill>
            <a:ln w="9525" cap="rnd">
              <a:solidFill>
                <a:srgbClr val="000000"/>
              </a:solidFill>
              <a:prstDash val="solid"/>
              <a:round/>
            </a:ln>
          </p:spPr>
        </p:sp>
        <p:sp>
          <p:nvSpPr>
            <p:cNvPr name="TextBox 45" id="45"/>
            <p:cNvSpPr txBox="true"/>
            <p:nvPr/>
          </p:nvSpPr>
          <p:spPr>
            <a:xfrm>
              <a:off x="0" y="-85725"/>
              <a:ext cx="530641" cy="205156"/>
            </a:xfrm>
            <a:prstGeom prst="rect">
              <a:avLst/>
            </a:prstGeom>
          </p:spPr>
          <p:txBody>
            <a:bodyPr anchor="ctr" rtlCol="false" tIns="71838" lIns="71838" bIns="71838" rIns="71838"/>
            <a:lstStyle/>
            <a:p>
              <a:pPr algn="ctr">
                <a:lnSpc>
                  <a:spcPts val="4402"/>
                </a:lnSpc>
              </a:pPr>
            </a:p>
          </p:txBody>
        </p:sp>
      </p:grpSp>
      <p:grpSp>
        <p:nvGrpSpPr>
          <p:cNvPr name="Group 46" id="46"/>
          <p:cNvGrpSpPr/>
          <p:nvPr/>
        </p:nvGrpSpPr>
        <p:grpSpPr>
          <a:xfrm rot="0">
            <a:off x="14607127" y="12962672"/>
            <a:ext cx="4737972" cy="821888"/>
            <a:chOff x="0" y="0"/>
            <a:chExt cx="733227" cy="127192"/>
          </a:xfrm>
        </p:grpSpPr>
        <p:sp>
          <p:nvSpPr>
            <p:cNvPr name="Freeform 47" id="47"/>
            <p:cNvSpPr/>
            <p:nvPr/>
          </p:nvSpPr>
          <p:spPr>
            <a:xfrm flipH="false" flipV="false" rot="0">
              <a:off x="0" y="0"/>
              <a:ext cx="733227" cy="127192"/>
            </a:xfrm>
            <a:custGeom>
              <a:avLst/>
              <a:gdLst/>
              <a:ahLst/>
              <a:cxnLst/>
              <a:rect r="r" b="b" t="t" l="l"/>
              <a:pathLst>
                <a:path h="127192" w="733227">
                  <a:moveTo>
                    <a:pt x="63596" y="0"/>
                  </a:moveTo>
                  <a:lnTo>
                    <a:pt x="669631" y="0"/>
                  </a:lnTo>
                  <a:cubicBezTo>
                    <a:pt x="686498" y="0"/>
                    <a:pt x="702673" y="6700"/>
                    <a:pt x="714600" y="18627"/>
                  </a:cubicBezTo>
                  <a:cubicBezTo>
                    <a:pt x="726526" y="30553"/>
                    <a:pt x="733227" y="46729"/>
                    <a:pt x="733227" y="63596"/>
                  </a:cubicBezTo>
                  <a:lnTo>
                    <a:pt x="733227" y="63596"/>
                  </a:lnTo>
                  <a:cubicBezTo>
                    <a:pt x="733227" y="98719"/>
                    <a:pt x="704754" y="127192"/>
                    <a:pt x="669631" y="127192"/>
                  </a:cubicBezTo>
                  <a:lnTo>
                    <a:pt x="63596" y="127192"/>
                  </a:lnTo>
                  <a:cubicBezTo>
                    <a:pt x="46729" y="127192"/>
                    <a:pt x="30553" y="120491"/>
                    <a:pt x="18627" y="108565"/>
                  </a:cubicBezTo>
                  <a:cubicBezTo>
                    <a:pt x="6700" y="96638"/>
                    <a:pt x="0" y="80462"/>
                    <a:pt x="0" y="63596"/>
                  </a:cubicBezTo>
                  <a:lnTo>
                    <a:pt x="0" y="63596"/>
                  </a:lnTo>
                  <a:cubicBezTo>
                    <a:pt x="0" y="46729"/>
                    <a:pt x="6700" y="30553"/>
                    <a:pt x="18627" y="18627"/>
                  </a:cubicBezTo>
                  <a:cubicBezTo>
                    <a:pt x="30553" y="6700"/>
                    <a:pt x="46729" y="0"/>
                    <a:pt x="63596" y="0"/>
                  </a:cubicBezTo>
                  <a:close/>
                </a:path>
              </a:pathLst>
            </a:custGeom>
            <a:solidFill>
              <a:srgbClr val="000000"/>
            </a:solidFill>
          </p:spPr>
        </p:sp>
        <p:sp>
          <p:nvSpPr>
            <p:cNvPr name="TextBox 48" id="48"/>
            <p:cNvSpPr txBox="true"/>
            <p:nvPr/>
          </p:nvSpPr>
          <p:spPr>
            <a:xfrm>
              <a:off x="0" y="-85725"/>
              <a:ext cx="733227" cy="212917"/>
            </a:xfrm>
            <a:prstGeom prst="rect">
              <a:avLst/>
            </a:prstGeom>
          </p:spPr>
          <p:txBody>
            <a:bodyPr anchor="ctr" rtlCol="false" tIns="71838" lIns="71838" bIns="71838" rIns="71838"/>
            <a:lstStyle/>
            <a:p>
              <a:pPr algn="ctr">
                <a:lnSpc>
                  <a:spcPts val="4402"/>
                </a:lnSpc>
              </a:pPr>
            </a:p>
          </p:txBody>
        </p:sp>
      </p:grpSp>
      <p:grpSp>
        <p:nvGrpSpPr>
          <p:cNvPr name="Group 49" id="49"/>
          <p:cNvGrpSpPr/>
          <p:nvPr/>
        </p:nvGrpSpPr>
        <p:grpSpPr>
          <a:xfrm rot="0">
            <a:off x="19133181" y="12850272"/>
            <a:ext cx="1104550" cy="1020638"/>
            <a:chOff x="0" y="0"/>
            <a:chExt cx="170935" cy="157949"/>
          </a:xfrm>
        </p:grpSpPr>
        <p:sp>
          <p:nvSpPr>
            <p:cNvPr name="Freeform 50" id="50"/>
            <p:cNvSpPr/>
            <p:nvPr/>
          </p:nvSpPr>
          <p:spPr>
            <a:xfrm flipH="false" flipV="false" rot="0">
              <a:off x="0" y="0"/>
              <a:ext cx="170935" cy="157949"/>
            </a:xfrm>
            <a:custGeom>
              <a:avLst/>
              <a:gdLst/>
              <a:ahLst/>
              <a:cxnLst/>
              <a:rect r="r" b="b" t="t" l="l"/>
              <a:pathLst>
                <a:path h="157949" w="170935">
                  <a:moveTo>
                    <a:pt x="78975" y="0"/>
                  </a:moveTo>
                  <a:lnTo>
                    <a:pt x="91961" y="0"/>
                  </a:lnTo>
                  <a:cubicBezTo>
                    <a:pt x="112906" y="0"/>
                    <a:pt x="132993" y="8321"/>
                    <a:pt x="147804" y="23131"/>
                  </a:cubicBezTo>
                  <a:cubicBezTo>
                    <a:pt x="162615" y="37942"/>
                    <a:pt x="170935" y="58029"/>
                    <a:pt x="170935" y="78975"/>
                  </a:cubicBezTo>
                  <a:lnTo>
                    <a:pt x="170935" y="78975"/>
                  </a:lnTo>
                  <a:cubicBezTo>
                    <a:pt x="170935" y="99920"/>
                    <a:pt x="162615" y="120007"/>
                    <a:pt x="147804" y="134818"/>
                  </a:cubicBezTo>
                  <a:cubicBezTo>
                    <a:pt x="132993" y="149629"/>
                    <a:pt x="112906" y="157949"/>
                    <a:pt x="91961" y="157949"/>
                  </a:cubicBezTo>
                  <a:lnTo>
                    <a:pt x="78975" y="157949"/>
                  </a:lnTo>
                  <a:cubicBezTo>
                    <a:pt x="58029" y="157949"/>
                    <a:pt x="37942" y="149629"/>
                    <a:pt x="23131" y="134818"/>
                  </a:cubicBezTo>
                  <a:cubicBezTo>
                    <a:pt x="8321" y="120007"/>
                    <a:pt x="0" y="99920"/>
                    <a:pt x="0" y="78975"/>
                  </a:cubicBezTo>
                  <a:lnTo>
                    <a:pt x="0" y="78975"/>
                  </a:lnTo>
                  <a:cubicBezTo>
                    <a:pt x="0" y="58029"/>
                    <a:pt x="8321" y="37942"/>
                    <a:pt x="23131" y="23131"/>
                  </a:cubicBezTo>
                  <a:cubicBezTo>
                    <a:pt x="37942" y="8321"/>
                    <a:pt x="58029" y="0"/>
                    <a:pt x="78975" y="0"/>
                  </a:cubicBezTo>
                  <a:close/>
                </a:path>
              </a:pathLst>
            </a:custGeom>
            <a:solidFill>
              <a:srgbClr val="FFFFFF"/>
            </a:solidFill>
            <a:ln w="9525" cap="rnd">
              <a:solidFill>
                <a:srgbClr val="000000"/>
              </a:solidFill>
              <a:prstDash val="solid"/>
              <a:round/>
            </a:ln>
          </p:spPr>
        </p:sp>
        <p:sp>
          <p:nvSpPr>
            <p:cNvPr name="TextBox 51" id="51"/>
            <p:cNvSpPr txBox="true"/>
            <p:nvPr/>
          </p:nvSpPr>
          <p:spPr>
            <a:xfrm>
              <a:off x="0" y="-85725"/>
              <a:ext cx="170935" cy="243674"/>
            </a:xfrm>
            <a:prstGeom prst="rect">
              <a:avLst/>
            </a:prstGeom>
          </p:spPr>
          <p:txBody>
            <a:bodyPr anchor="ctr" rtlCol="false" tIns="71838" lIns="71838" bIns="71838" rIns="71838"/>
            <a:lstStyle/>
            <a:p>
              <a:pPr algn="ctr">
                <a:lnSpc>
                  <a:spcPts val="4402"/>
                </a:lnSpc>
              </a:pPr>
            </a:p>
          </p:txBody>
        </p:sp>
      </p:grpSp>
      <p:sp>
        <p:nvSpPr>
          <p:cNvPr name="AutoShape 52" id="52"/>
          <p:cNvSpPr/>
          <p:nvPr/>
        </p:nvSpPr>
        <p:spPr>
          <a:xfrm flipH="true">
            <a:off x="19437637" y="13908015"/>
            <a:ext cx="357319" cy="2289664"/>
          </a:xfrm>
          <a:prstGeom prst="line">
            <a:avLst/>
          </a:prstGeom>
          <a:ln cap="flat" w="28575">
            <a:solidFill>
              <a:srgbClr val="000000"/>
            </a:solidFill>
            <a:prstDash val="sysDot"/>
            <a:headEnd type="none" len="sm" w="sm"/>
            <a:tailEnd type="arrow" len="sm" w="med"/>
          </a:ln>
        </p:spPr>
      </p:sp>
      <p:sp>
        <p:nvSpPr>
          <p:cNvPr name="Freeform 53" id="53"/>
          <p:cNvSpPr/>
          <p:nvPr/>
        </p:nvSpPr>
        <p:spPr>
          <a:xfrm flipH="false" flipV="false" rot="0">
            <a:off x="11684877" y="6857995"/>
            <a:ext cx="6983321" cy="5220032"/>
          </a:xfrm>
          <a:custGeom>
            <a:avLst/>
            <a:gdLst/>
            <a:ahLst/>
            <a:cxnLst/>
            <a:rect r="r" b="b" t="t" l="l"/>
            <a:pathLst>
              <a:path h="5220032" w="6983321">
                <a:moveTo>
                  <a:pt x="0" y="0"/>
                </a:moveTo>
                <a:lnTo>
                  <a:pt x="6983321" y="0"/>
                </a:lnTo>
                <a:lnTo>
                  <a:pt x="6983321" y="5220033"/>
                </a:lnTo>
                <a:lnTo>
                  <a:pt x="0" y="5220033"/>
                </a:lnTo>
                <a:lnTo>
                  <a:pt x="0" y="0"/>
                </a:lnTo>
                <a:close/>
              </a:path>
            </a:pathLst>
          </a:custGeom>
          <a:blipFill>
            <a:blip r:embed="rId19"/>
            <a:stretch>
              <a:fillRect l="0" t="0" r="0" b="0"/>
            </a:stretch>
          </a:blipFill>
        </p:spPr>
      </p:sp>
      <p:sp>
        <p:nvSpPr>
          <p:cNvPr name="Freeform 54" id="54"/>
          <p:cNvSpPr/>
          <p:nvPr/>
        </p:nvSpPr>
        <p:spPr>
          <a:xfrm flipH="false" flipV="false" rot="0">
            <a:off x="2308044" y="12139409"/>
            <a:ext cx="7423829" cy="5985462"/>
          </a:xfrm>
          <a:custGeom>
            <a:avLst/>
            <a:gdLst/>
            <a:ahLst/>
            <a:cxnLst/>
            <a:rect r="r" b="b" t="t" l="l"/>
            <a:pathLst>
              <a:path h="5985462" w="7423829">
                <a:moveTo>
                  <a:pt x="0" y="0"/>
                </a:moveTo>
                <a:lnTo>
                  <a:pt x="7423828" y="0"/>
                </a:lnTo>
                <a:lnTo>
                  <a:pt x="7423828" y="5985461"/>
                </a:lnTo>
                <a:lnTo>
                  <a:pt x="0" y="5985461"/>
                </a:lnTo>
                <a:lnTo>
                  <a:pt x="0" y="0"/>
                </a:lnTo>
                <a:close/>
              </a:path>
            </a:pathLst>
          </a:custGeom>
          <a:blipFill>
            <a:blip r:embed="rId20"/>
            <a:stretch>
              <a:fillRect l="0" t="0" r="0" b="0"/>
            </a:stretch>
          </a:blipFill>
        </p:spPr>
      </p:sp>
      <p:grpSp>
        <p:nvGrpSpPr>
          <p:cNvPr name="Group 55" id="55"/>
          <p:cNvGrpSpPr/>
          <p:nvPr/>
        </p:nvGrpSpPr>
        <p:grpSpPr>
          <a:xfrm rot="0">
            <a:off x="1500030" y="19228895"/>
            <a:ext cx="9741971" cy="4817029"/>
            <a:chOff x="0" y="0"/>
            <a:chExt cx="2302895" cy="1138693"/>
          </a:xfrm>
        </p:grpSpPr>
        <p:sp>
          <p:nvSpPr>
            <p:cNvPr name="Freeform 56" id="56"/>
            <p:cNvSpPr/>
            <p:nvPr/>
          </p:nvSpPr>
          <p:spPr>
            <a:xfrm flipH="false" flipV="false" rot="0">
              <a:off x="0" y="0"/>
              <a:ext cx="2302895" cy="1138693"/>
            </a:xfrm>
            <a:custGeom>
              <a:avLst/>
              <a:gdLst/>
              <a:ahLst/>
              <a:cxnLst/>
              <a:rect r="r" b="b" t="t" l="l"/>
              <a:pathLst>
                <a:path h="1138693" w="2302895">
                  <a:moveTo>
                    <a:pt x="22252" y="0"/>
                  </a:moveTo>
                  <a:lnTo>
                    <a:pt x="2280644" y="0"/>
                  </a:lnTo>
                  <a:cubicBezTo>
                    <a:pt x="2292933" y="0"/>
                    <a:pt x="2302895" y="9962"/>
                    <a:pt x="2302895" y="22252"/>
                  </a:cubicBezTo>
                  <a:lnTo>
                    <a:pt x="2302895" y="1116441"/>
                  </a:lnTo>
                  <a:cubicBezTo>
                    <a:pt x="2302895" y="1128731"/>
                    <a:pt x="2292933" y="1138693"/>
                    <a:pt x="2280644" y="1138693"/>
                  </a:cubicBezTo>
                  <a:lnTo>
                    <a:pt x="22252" y="1138693"/>
                  </a:lnTo>
                  <a:cubicBezTo>
                    <a:pt x="9962" y="1138693"/>
                    <a:pt x="0" y="1128731"/>
                    <a:pt x="0" y="1116441"/>
                  </a:cubicBezTo>
                  <a:lnTo>
                    <a:pt x="0" y="22252"/>
                  </a:lnTo>
                  <a:cubicBezTo>
                    <a:pt x="0" y="9962"/>
                    <a:pt x="9962" y="0"/>
                    <a:pt x="22252" y="0"/>
                  </a:cubicBezTo>
                  <a:close/>
                </a:path>
              </a:pathLst>
            </a:custGeom>
            <a:solidFill>
              <a:srgbClr val="FFFFFF"/>
            </a:solidFill>
            <a:ln w="9525" cap="rnd">
              <a:solidFill>
                <a:srgbClr val="000000"/>
              </a:solidFill>
              <a:prstDash val="solid"/>
              <a:round/>
            </a:ln>
          </p:spPr>
        </p:sp>
        <p:sp>
          <p:nvSpPr>
            <p:cNvPr name="TextBox 57" id="57"/>
            <p:cNvSpPr txBox="true"/>
            <p:nvPr/>
          </p:nvSpPr>
          <p:spPr>
            <a:xfrm>
              <a:off x="0" y="-85725"/>
              <a:ext cx="2302895" cy="1224418"/>
            </a:xfrm>
            <a:prstGeom prst="rect">
              <a:avLst/>
            </a:prstGeom>
          </p:spPr>
          <p:txBody>
            <a:bodyPr anchor="ctr" rtlCol="false" tIns="71838" lIns="71838" bIns="71838" rIns="71838"/>
            <a:lstStyle/>
            <a:p>
              <a:pPr algn="ctr">
                <a:lnSpc>
                  <a:spcPts val="4402"/>
                </a:lnSpc>
              </a:pPr>
            </a:p>
          </p:txBody>
        </p:sp>
      </p:grpSp>
      <p:grpSp>
        <p:nvGrpSpPr>
          <p:cNvPr name="Group 58" id="58"/>
          <p:cNvGrpSpPr/>
          <p:nvPr/>
        </p:nvGrpSpPr>
        <p:grpSpPr>
          <a:xfrm rot="0">
            <a:off x="3008893" y="18665397"/>
            <a:ext cx="2803832" cy="668175"/>
            <a:chOff x="0" y="0"/>
            <a:chExt cx="662795" cy="157949"/>
          </a:xfrm>
        </p:grpSpPr>
        <p:sp>
          <p:nvSpPr>
            <p:cNvPr name="Freeform 59" id="59"/>
            <p:cNvSpPr/>
            <p:nvPr/>
          </p:nvSpPr>
          <p:spPr>
            <a:xfrm flipH="false" flipV="false" rot="0">
              <a:off x="0" y="0"/>
              <a:ext cx="662795" cy="157949"/>
            </a:xfrm>
            <a:custGeom>
              <a:avLst/>
              <a:gdLst/>
              <a:ahLst/>
              <a:cxnLst/>
              <a:rect r="r" b="b" t="t" l="l"/>
              <a:pathLst>
                <a:path h="157949" w="662795">
                  <a:moveTo>
                    <a:pt x="78975" y="0"/>
                  </a:moveTo>
                  <a:lnTo>
                    <a:pt x="583821" y="0"/>
                  </a:lnTo>
                  <a:cubicBezTo>
                    <a:pt x="604766" y="0"/>
                    <a:pt x="624854" y="8321"/>
                    <a:pt x="639664" y="23131"/>
                  </a:cubicBezTo>
                  <a:cubicBezTo>
                    <a:pt x="654475" y="37942"/>
                    <a:pt x="662795" y="58029"/>
                    <a:pt x="662795" y="78975"/>
                  </a:cubicBezTo>
                  <a:lnTo>
                    <a:pt x="662795" y="78975"/>
                  </a:lnTo>
                  <a:cubicBezTo>
                    <a:pt x="662795" y="99920"/>
                    <a:pt x="654475" y="120007"/>
                    <a:pt x="639664" y="134818"/>
                  </a:cubicBezTo>
                  <a:cubicBezTo>
                    <a:pt x="624854" y="149629"/>
                    <a:pt x="604766" y="157949"/>
                    <a:pt x="583821" y="157949"/>
                  </a:cubicBezTo>
                  <a:lnTo>
                    <a:pt x="78975" y="157949"/>
                  </a:lnTo>
                  <a:cubicBezTo>
                    <a:pt x="58029" y="157949"/>
                    <a:pt x="37942" y="149629"/>
                    <a:pt x="23131" y="134818"/>
                  </a:cubicBezTo>
                  <a:cubicBezTo>
                    <a:pt x="8321" y="120007"/>
                    <a:pt x="0" y="99920"/>
                    <a:pt x="0" y="78975"/>
                  </a:cubicBezTo>
                  <a:lnTo>
                    <a:pt x="0" y="78975"/>
                  </a:lnTo>
                  <a:cubicBezTo>
                    <a:pt x="0" y="58029"/>
                    <a:pt x="8321" y="37942"/>
                    <a:pt x="23131" y="23131"/>
                  </a:cubicBezTo>
                  <a:cubicBezTo>
                    <a:pt x="37942" y="8321"/>
                    <a:pt x="58029" y="0"/>
                    <a:pt x="78975" y="0"/>
                  </a:cubicBezTo>
                  <a:close/>
                </a:path>
              </a:pathLst>
            </a:custGeom>
            <a:solidFill>
              <a:srgbClr val="2987A1"/>
            </a:solidFill>
            <a:ln w="9525" cap="rnd">
              <a:solidFill>
                <a:srgbClr val="000000"/>
              </a:solidFill>
              <a:prstDash val="solid"/>
              <a:round/>
            </a:ln>
          </p:spPr>
        </p:sp>
        <p:sp>
          <p:nvSpPr>
            <p:cNvPr name="TextBox 60" id="60"/>
            <p:cNvSpPr txBox="true"/>
            <p:nvPr/>
          </p:nvSpPr>
          <p:spPr>
            <a:xfrm>
              <a:off x="0" y="-85725"/>
              <a:ext cx="662795" cy="243674"/>
            </a:xfrm>
            <a:prstGeom prst="rect">
              <a:avLst/>
            </a:prstGeom>
          </p:spPr>
          <p:txBody>
            <a:bodyPr anchor="ctr" rtlCol="false" tIns="71838" lIns="71838" bIns="71838" rIns="71838"/>
            <a:lstStyle/>
            <a:p>
              <a:pPr algn="ctr">
                <a:lnSpc>
                  <a:spcPts val="4402"/>
                </a:lnSpc>
              </a:pPr>
            </a:p>
          </p:txBody>
        </p:sp>
      </p:grpSp>
      <p:grpSp>
        <p:nvGrpSpPr>
          <p:cNvPr name="Group 61" id="61"/>
          <p:cNvGrpSpPr/>
          <p:nvPr/>
        </p:nvGrpSpPr>
        <p:grpSpPr>
          <a:xfrm rot="0">
            <a:off x="1501346" y="18665397"/>
            <a:ext cx="3596354" cy="668175"/>
            <a:chOff x="0" y="0"/>
            <a:chExt cx="850139" cy="157949"/>
          </a:xfrm>
        </p:grpSpPr>
        <p:sp>
          <p:nvSpPr>
            <p:cNvPr name="Freeform 62" id="62"/>
            <p:cNvSpPr/>
            <p:nvPr/>
          </p:nvSpPr>
          <p:spPr>
            <a:xfrm flipH="false" flipV="false" rot="0">
              <a:off x="0" y="0"/>
              <a:ext cx="850139" cy="157949"/>
            </a:xfrm>
            <a:custGeom>
              <a:avLst/>
              <a:gdLst/>
              <a:ahLst/>
              <a:cxnLst/>
              <a:rect r="r" b="b" t="t" l="l"/>
              <a:pathLst>
                <a:path h="157949" w="850139">
                  <a:moveTo>
                    <a:pt x="78975" y="0"/>
                  </a:moveTo>
                  <a:lnTo>
                    <a:pt x="771164" y="0"/>
                  </a:lnTo>
                  <a:cubicBezTo>
                    <a:pt x="792110" y="0"/>
                    <a:pt x="812197" y="8321"/>
                    <a:pt x="827008" y="23131"/>
                  </a:cubicBezTo>
                  <a:cubicBezTo>
                    <a:pt x="841818" y="37942"/>
                    <a:pt x="850139" y="58029"/>
                    <a:pt x="850139" y="78975"/>
                  </a:cubicBezTo>
                  <a:lnTo>
                    <a:pt x="850139" y="78975"/>
                  </a:lnTo>
                  <a:cubicBezTo>
                    <a:pt x="850139" y="99920"/>
                    <a:pt x="841818" y="120007"/>
                    <a:pt x="827008" y="134818"/>
                  </a:cubicBezTo>
                  <a:cubicBezTo>
                    <a:pt x="812197" y="149629"/>
                    <a:pt x="792110" y="157949"/>
                    <a:pt x="771164" y="157949"/>
                  </a:cubicBezTo>
                  <a:lnTo>
                    <a:pt x="78975" y="157949"/>
                  </a:lnTo>
                  <a:cubicBezTo>
                    <a:pt x="58029" y="157949"/>
                    <a:pt x="37942" y="149629"/>
                    <a:pt x="23131" y="134818"/>
                  </a:cubicBezTo>
                  <a:cubicBezTo>
                    <a:pt x="8321" y="120007"/>
                    <a:pt x="0" y="99920"/>
                    <a:pt x="0" y="78975"/>
                  </a:cubicBezTo>
                  <a:lnTo>
                    <a:pt x="0" y="78975"/>
                  </a:lnTo>
                  <a:cubicBezTo>
                    <a:pt x="0" y="58029"/>
                    <a:pt x="8321" y="37942"/>
                    <a:pt x="23131" y="23131"/>
                  </a:cubicBezTo>
                  <a:cubicBezTo>
                    <a:pt x="37942" y="8321"/>
                    <a:pt x="58029" y="0"/>
                    <a:pt x="78975" y="0"/>
                  </a:cubicBezTo>
                  <a:close/>
                </a:path>
              </a:pathLst>
            </a:custGeom>
            <a:solidFill>
              <a:srgbClr val="000000"/>
            </a:solidFill>
          </p:spPr>
        </p:sp>
        <p:sp>
          <p:nvSpPr>
            <p:cNvPr name="TextBox 63" id="63"/>
            <p:cNvSpPr txBox="true"/>
            <p:nvPr/>
          </p:nvSpPr>
          <p:spPr>
            <a:xfrm>
              <a:off x="0" y="-85725"/>
              <a:ext cx="850139" cy="243674"/>
            </a:xfrm>
            <a:prstGeom prst="rect">
              <a:avLst/>
            </a:prstGeom>
          </p:spPr>
          <p:txBody>
            <a:bodyPr anchor="ctr" rtlCol="false" tIns="71838" lIns="71838" bIns="71838" rIns="71838"/>
            <a:lstStyle/>
            <a:p>
              <a:pPr algn="ctr">
                <a:lnSpc>
                  <a:spcPts val="4402"/>
                </a:lnSpc>
              </a:pPr>
            </a:p>
          </p:txBody>
        </p:sp>
      </p:grpSp>
      <p:grpSp>
        <p:nvGrpSpPr>
          <p:cNvPr name="Group 64" id="64"/>
          <p:cNvGrpSpPr/>
          <p:nvPr/>
        </p:nvGrpSpPr>
        <p:grpSpPr>
          <a:xfrm rot="0">
            <a:off x="888056" y="18556538"/>
            <a:ext cx="951812" cy="872314"/>
            <a:chOff x="0" y="0"/>
            <a:chExt cx="224998" cy="206205"/>
          </a:xfrm>
        </p:grpSpPr>
        <p:sp>
          <p:nvSpPr>
            <p:cNvPr name="Freeform 65" id="65"/>
            <p:cNvSpPr/>
            <p:nvPr/>
          </p:nvSpPr>
          <p:spPr>
            <a:xfrm flipH="false" flipV="false" rot="0">
              <a:off x="0" y="0"/>
              <a:ext cx="224998" cy="206205"/>
            </a:xfrm>
            <a:custGeom>
              <a:avLst/>
              <a:gdLst/>
              <a:ahLst/>
              <a:cxnLst/>
              <a:rect r="r" b="b" t="t" l="l"/>
              <a:pathLst>
                <a:path h="206205" w="224998">
                  <a:moveTo>
                    <a:pt x="103103" y="0"/>
                  </a:moveTo>
                  <a:lnTo>
                    <a:pt x="121895" y="0"/>
                  </a:lnTo>
                  <a:cubicBezTo>
                    <a:pt x="149240" y="0"/>
                    <a:pt x="175464" y="10863"/>
                    <a:pt x="194800" y="30198"/>
                  </a:cubicBezTo>
                  <a:cubicBezTo>
                    <a:pt x="214135" y="49534"/>
                    <a:pt x="224998" y="75758"/>
                    <a:pt x="224998" y="103103"/>
                  </a:cubicBezTo>
                  <a:lnTo>
                    <a:pt x="224998" y="103103"/>
                  </a:lnTo>
                  <a:cubicBezTo>
                    <a:pt x="224998" y="130447"/>
                    <a:pt x="214135" y="156672"/>
                    <a:pt x="194800" y="176007"/>
                  </a:cubicBezTo>
                  <a:cubicBezTo>
                    <a:pt x="175464" y="195343"/>
                    <a:pt x="149240" y="206205"/>
                    <a:pt x="121895" y="206205"/>
                  </a:cubicBezTo>
                  <a:lnTo>
                    <a:pt x="103103" y="206205"/>
                  </a:lnTo>
                  <a:cubicBezTo>
                    <a:pt x="75758" y="206205"/>
                    <a:pt x="49534" y="195343"/>
                    <a:pt x="30198" y="176007"/>
                  </a:cubicBezTo>
                  <a:cubicBezTo>
                    <a:pt x="10863" y="156672"/>
                    <a:pt x="0" y="130447"/>
                    <a:pt x="0" y="103103"/>
                  </a:cubicBezTo>
                  <a:lnTo>
                    <a:pt x="0" y="103103"/>
                  </a:lnTo>
                  <a:cubicBezTo>
                    <a:pt x="0" y="75758"/>
                    <a:pt x="10863" y="49534"/>
                    <a:pt x="30198" y="30198"/>
                  </a:cubicBezTo>
                  <a:cubicBezTo>
                    <a:pt x="49534" y="10863"/>
                    <a:pt x="75758" y="0"/>
                    <a:pt x="103103" y="0"/>
                  </a:cubicBezTo>
                  <a:close/>
                </a:path>
              </a:pathLst>
            </a:custGeom>
            <a:solidFill>
              <a:srgbClr val="FFFFFF"/>
            </a:solidFill>
            <a:ln w="9525" cap="rnd">
              <a:solidFill>
                <a:srgbClr val="000000"/>
              </a:solidFill>
              <a:prstDash val="solid"/>
              <a:round/>
            </a:ln>
          </p:spPr>
        </p:sp>
        <p:sp>
          <p:nvSpPr>
            <p:cNvPr name="TextBox 66" id="66"/>
            <p:cNvSpPr txBox="true"/>
            <p:nvPr/>
          </p:nvSpPr>
          <p:spPr>
            <a:xfrm>
              <a:off x="0" y="-85725"/>
              <a:ext cx="224998" cy="291930"/>
            </a:xfrm>
            <a:prstGeom prst="rect">
              <a:avLst/>
            </a:prstGeom>
          </p:spPr>
          <p:txBody>
            <a:bodyPr anchor="ctr" rtlCol="false" tIns="71838" lIns="71838" bIns="71838" rIns="71838"/>
            <a:lstStyle/>
            <a:p>
              <a:pPr algn="ctr">
                <a:lnSpc>
                  <a:spcPts val="4402"/>
                </a:lnSpc>
              </a:pPr>
            </a:p>
          </p:txBody>
        </p:sp>
      </p:grpSp>
      <p:sp>
        <p:nvSpPr>
          <p:cNvPr name="AutoShape 67" id="67"/>
          <p:cNvSpPr/>
          <p:nvPr/>
        </p:nvSpPr>
        <p:spPr>
          <a:xfrm flipH="true">
            <a:off x="6120502" y="18950486"/>
            <a:ext cx="1163674" cy="0"/>
          </a:xfrm>
          <a:prstGeom prst="line">
            <a:avLst/>
          </a:prstGeom>
          <a:ln cap="flat" w="19050">
            <a:solidFill>
              <a:srgbClr val="000000"/>
            </a:solidFill>
            <a:prstDash val="sysDot"/>
            <a:headEnd type="none" len="sm" w="sm"/>
            <a:tailEnd type="arrow" len="sm" w="med"/>
          </a:ln>
        </p:spPr>
      </p:sp>
      <p:sp>
        <p:nvSpPr>
          <p:cNvPr name="AutoShape 68" id="68"/>
          <p:cNvSpPr/>
          <p:nvPr/>
        </p:nvSpPr>
        <p:spPr>
          <a:xfrm>
            <a:off x="1050343" y="19500324"/>
            <a:ext cx="249334" cy="1569091"/>
          </a:xfrm>
          <a:prstGeom prst="line">
            <a:avLst/>
          </a:prstGeom>
          <a:ln cap="flat" w="19050">
            <a:solidFill>
              <a:srgbClr val="000000"/>
            </a:solidFill>
            <a:prstDash val="sysDot"/>
            <a:headEnd type="none" len="sm" w="sm"/>
            <a:tailEnd type="arrow" len="sm" w="med"/>
          </a:ln>
        </p:spPr>
      </p:sp>
      <p:sp>
        <p:nvSpPr>
          <p:cNvPr name="Freeform 69" id="69"/>
          <p:cNvSpPr/>
          <p:nvPr/>
        </p:nvSpPr>
        <p:spPr>
          <a:xfrm flipH="false" flipV="false" rot="0">
            <a:off x="11355267" y="18259753"/>
            <a:ext cx="8280880" cy="538257"/>
          </a:xfrm>
          <a:custGeom>
            <a:avLst/>
            <a:gdLst/>
            <a:ahLst/>
            <a:cxnLst/>
            <a:rect r="r" b="b" t="t" l="l"/>
            <a:pathLst>
              <a:path h="538257" w="8280880">
                <a:moveTo>
                  <a:pt x="0" y="0"/>
                </a:moveTo>
                <a:lnTo>
                  <a:pt x="8280880" y="0"/>
                </a:lnTo>
                <a:lnTo>
                  <a:pt x="8280880" y="538257"/>
                </a:lnTo>
                <a:lnTo>
                  <a:pt x="0" y="538257"/>
                </a:lnTo>
                <a:lnTo>
                  <a:pt x="0" y="0"/>
                </a:lnTo>
                <a:close/>
              </a:path>
            </a:pathLst>
          </a:custGeom>
          <a:blipFill>
            <a:blip r:embed="rId21"/>
            <a:stretch>
              <a:fillRect l="0" t="0" r="0" b="0"/>
            </a:stretch>
          </a:blipFill>
        </p:spPr>
      </p:sp>
      <p:sp>
        <p:nvSpPr>
          <p:cNvPr name="Freeform 70" id="70"/>
          <p:cNvSpPr/>
          <p:nvPr/>
        </p:nvSpPr>
        <p:spPr>
          <a:xfrm flipH="false" flipV="false" rot="0">
            <a:off x="15872760" y="19274822"/>
            <a:ext cx="4306896" cy="5548086"/>
          </a:xfrm>
          <a:custGeom>
            <a:avLst/>
            <a:gdLst/>
            <a:ahLst/>
            <a:cxnLst/>
            <a:rect r="r" b="b" t="t" l="l"/>
            <a:pathLst>
              <a:path h="5548086" w="4306896">
                <a:moveTo>
                  <a:pt x="0" y="0"/>
                </a:moveTo>
                <a:lnTo>
                  <a:pt x="4306896" y="0"/>
                </a:lnTo>
                <a:lnTo>
                  <a:pt x="4306896" y="5548085"/>
                </a:lnTo>
                <a:lnTo>
                  <a:pt x="0" y="5548085"/>
                </a:lnTo>
                <a:lnTo>
                  <a:pt x="0" y="0"/>
                </a:lnTo>
                <a:close/>
              </a:path>
            </a:pathLst>
          </a:custGeom>
          <a:blipFill>
            <a:blip r:embed="rId22"/>
            <a:stretch>
              <a:fillRect l="0" t="-572" r="0" b="-572"/>
            </a:stretch>
          </a:blipFill>
        </p:spPr>
      </p:sp>
      <p:sp>
        <p:nvSpPr>
          <p:cNvPr name="Freeform 71" id="71"/>
          <p:cNvSpPr/>
          <p:nvPr/>
        </p:nvSpPr>
        <p:spPr>
          <a:xfrm flipH="false" flipV="false" rot="0">
            <a:off x="11462928" y="19837815"/>
            <a:ext cx="4430735" cy="4916210"/>
          </a:xfrm>
          <a:custGeom>
            <a:avLst/>
            <a:gdLst/>
            <a:ahLst/>
            <a:cxnLst/>
            <a:rect r="r" b="b" t="t" l="l"/>
            <a:pathLst>
              <a:path h="4916210" w="4430735">
                <a:moveTo>
                  <a:pt x="0" y="0"/>
                </a:moveTo>
                <a:lnTo>
                  <a:pt x="4430734" y="0"/>
                </a:lnTo>
                <a:lnTo>
                  <a:pt x="4430734" y="4916211"/>
                </a:lnTo>
                <a:lnTo>
                  <a:pt x="0" y="4916211"/>
                </a:lnTo>
                <a:lnTo>
                  <a:pt x="0" y="0"/>
                </a:lnTo>
                <a:close/>
              </a:path>
            </a:pathLst>
          </a:custGeom>
          <a:blipFill>
            <a:blip r:embed="rId23"/>
            <a:stretch>
              <a:fillRect l="0" t="0" r="0" b="0"/>
            </a:stretch>
          </a:blipFill>
        </p:spPr>
      </p:sp>
      <p:grpSp>
        <p:nvGrpSpPr>
          <p:cNvPr name="Group 72" id="72"/>
          <p:cNvGrpSpPr/>
          <p:nvPr/>
        </p:nvGrpSpPr>
        <p:grpSpPr>
          <a:xfrm rot="0">
            <a:off x="13540216" y="25565316"/>
            <a:ext cx="6678604" cy="2907442"/>
            <a:chOff x="0" y="0"/>
            <a:chExt cx="1649968" cy="718292"/>
          </a:xfrm>
        </p:grpSpPr>
        <p:sp>
          <p:nvSpPr>
            <p:cNvPr name="Freeform 73" id="73"/>
            <p:cNvSpPr/>
            <p:nvPr/>
          </p:nvSpPr>
          <p:spPr>
            <a:xfrm flipH="false" flipV="false" rot="0">
              <a:off x="0" y="0"/>
              <a:ext cx="1649968" cy="718292"/>
            </a:xfrm>
            <a:custGeom>
              <a:avLst/>
              <a:gdLst/>
              <a:ahLst/>
              <a:cxnLst/>
              <a:rect r="r" b="b" t="t" l="l"/>
              <a:pathLst>
                <a:path h="718292" w="1649968">
                  <a:moveTo>
                    <a:pt x="32458" y="0"/>
                  </a:moveTo>
                  <a:lnTo>
                    <a:pt x="1617510" y="0"/>
                  </a:lnTo>
                  <a:cubicBezTo>
                    <a:pt x="1635436" y="0"/>
                    <a:pt x="1649968" y="14532"/>
                    <a:pt x="1649968" y="32458"/>
                  </a:cubicBezTo>
                  <a:lnTo>
                    <a:pt x="1649968" y="685834"/>
                  </a:lnTo>
                  <a:cubicBezTo>
                    <a:pt x="1649968" y="703760"/>
                    <a:pt x="1635436" y="718292"/>
                    <a:pt x="1617510" y="718292"/>
                  </a:cubicBezTo>
                  <a:lnTo>
                    <a:pt x="32458" y="718292"/>
                  </a:lnTo>
                  <a:cubicBezTo>
                    <a:pt x="14532" y="718292"/>
                    <a:pt x="0" y="703760"/>
                    <a:pt x="0" y="685834"/>
                  </a:cubicBezTo>
                  <a:lnTo>
                    <a:pt x="0" y="32458"/>
                  </a:lnTo>
                  <a:cubicBezTo>
                    <a:pt x="0" y="14532"/>
                    <a:pt x="14532" y="0"/>
                    <a:pt x="32458" y="0"/>
                  </a:cubicBezTo>
                  <a:close/>
                </a:path>
              </a:pathLst>
            </a:custGeom>
            <a:solidFill>
              <a:srgbClr val="FFFFFF"/>
            </a:solidFill>
            <a:ln w="9525" cap="rnd">
              <a:solidFill>
                <a:srgbClr val="000000"/>
              </a:solidFill>
              <a:prstDash val="solid"/>
              <a:round/>
            </a:ln>
          </p:spPr>
        </p:sp>
        <p:sp>
          <p:nvSpPr>
            <p:cNvPr name="TextBox 74" id="74"/>
            <p:cNvSpPr txBox="true"/>
            <p:nvPr/>
          </p:nvSpPr>
          <p:spPr>
            <a:xfrm>
              <a:off x="0" y="-85725"/>
              <a:ext cx="1649968" cy="804017"/>
            </a:xfrm>
            <a:prstGeom prst="rect">
              <a:avLst/>
            </a:prstGeom>
          </p:spPr>
          <p:txBody>
            <a:bodyPr anchor="ctr" rtlCol="false" tIns="71838" lIns="71838" bIns="71838" rIns="71838"/>
            <a:lstStyle/>
            <a:p>
              <a:pPr algn="ctr">
                <a:lnSpc>
                  <a:spcPts val="4402"/>
                </a:lnSpc>
              </a:pPr>
            </a:p>
          </p:txBody>
        </p:sp>
      </p:grpSp>
      <p:grpSp>
        <p:nvGrpSpPr>
          <p:cNvPr name="Group 75" id="75"/>
          <p:cNvGrpSpPr/>
          <p:nvPr/>
        </p:nvGrpSpPr>
        <p:grpSpPr>
          <a:xfrm rot="0">
            <a:off x="15049113" y="25088993"/>
            <a:ext cx="2652669" cy="639334"/>
            <a:chOff x="0" y="0"/>
            <a:chExt cx="655349" cy="157949"/>
          </a:xfrm>
        </p:grpSpPr>
        <p:sp>
          <p:nvSpPr>
            <p:cNvPr name="Freeform 76" id="76"/>
            <p:cNvSpPr/>
            <p:nvPr/>
          </p:nvSpPr>
          <p:spPr>
            <a:xfrm flipH="false" flipV="false" rot="0">
              <a:off x="0" y="0"/>
              <a:ext cx="655349" cy="157949"/>
            </a:xfrm>
            <a:custGeom>
              <a:avLst/>
              <a:gdLst/>
              <a:ahLst/>
              <a:cxnLst/>
              <a:rect r="r" b="b" t="t" l="l"/>
              <a:pathLst>
                <a:path h="157949" w="655349">
                  <a:moveTo>
                    <a:pt x="78975" y="0"/>
                  </a:moveTo>
                  <a:lnTo>
                    <a:pt x="576375" y="0"/>
                  </a:lnTo>
                  <a:cubicBezTo>
                    <a:pt x="597320" y="0"/>
                    <a:pt x="617408" y="8321"/>
                    <a:pt x="632218" y="23131"/>
                  </a:cubicBezTo>
                  <a:cubicBezTo>
                    <a:pt x="647029" y="37942"/>
                    <a:pt x="655349" y="58029"/>
                    <a:pt x="655349" y="78975"/>
                  </a:cubicBezTo>
                  <a:lnTo>
                    <a:pt x="655349" y="78975"/>
                  </a:lnTo>
                  <a:cubicBezTo>
                    <a:pt x="655349" y="99920"/>
                    <a:pt x="647029" y="120007"/>
                    <a:pt x="632218" y="134818"/>
                  </a:cubicBezTo>
                  <a:cubicBezTo>
                    <a:pt x="617408" y="149629"/>
                    <a:pt x="597320" y="157949"/>
                    <a:pt x="576375" y="157949"/>
                  </a:cubicBezTo>
                  <a:lnTo>
                    <a:pt x="78975" y="157949"/>
                  </a:lnTo>
                  <a:cubicBezTo>
                    <a:pt x="58029" y="157949"/>
                    <a:pt x="37942" y="149629"/>
                    <a:pt x="23131" y="134818"/>
                  </a:cubicBezTo>
                  <a:cubicBezTo>
                    <a:pt x="8321" y="120007"/>
                    <a:pt x="0" y="99920"/>
                    <a:pt x="0" y="78975"/>
                  </a:cubicBezTo>
                  <a:lnTo>
                    <a:pt x="0" y="78975"/>
                  </a:lnTo>
                  <a:cubicBezTo>
                    <a:pt x="0" y="58029"/>
                    <a:pt x="8321" y="37942"/>
                    <a:pt x="23131" y="23131"/>
                  </a:cubicBezTo>
                  <a:cubicBezTo>
                    <a:pt x="37942" y="8321"/>
                    <a:pt x="58029" y="0"/>
                    <a:pt x="78975" y="0"/>
                  </a:cubicBezTo>
                  <a:close/>
                </a:path>
              </a:pathLst>
            </a:custGeom>
            <a:solidFill>
              <a:srgbClr val="F59426"/>
            </a:solidFill>
            <a:ln w="9525" cap="rnd">
              <a:solidFill>
                <a:srgbClr val="000000"/>
              </a:solidFill>
              <a:prstDash val="solid"/>
              <a:round/>
            </a:ln>
          </p:spPr>
        </p:sp>
        <p:sp>
          <p:nvSpPr>
            <p:cNvPr name="TextBox 77" id="77"/>
            <p:cNvSpPr txBox="true"/>
            <p:nvPr/>
          </p:nvSpPr>
          <p:spPr>
            <a:xfrm>
              <a:off x="0" y="-85725"/>
              <a:ext cx="655349" cy="243674"/>
            </a:xfrm>
            <a:prstGeom prst="rect">
              <a:avLst/>
            </a:prstGeom>
          </p:spPr>
          <p:txBody>
            <a:bodyPr anchor="ctr" rtlCol="false" tIns="71838" lIns="71838" bIns="71838" rIns="71838"/>
            <a:lstStyle/>
            <a:p>
              <a:pPr algn="ctr">
                <a:lnSpc>
                  <a:spcPts val="4402"/>
                </a:lnSpc>
              </a:pPr>
            </a:p>
          </p:txBody>
        </p:sp>
      </p:grpSp>
      <p:grpSp>
        <p:nvGrpSpPr>
          <p:cNvPr name="Group 78" id="78"/>
          <p:cNvGrpSpPr/>
          <p:nvPr/>
        </p:nvGrpSpPr>
        <p:grpSpPr>
          <a:xfrm rot="0">
            <a:off x="15748586" y="25088993"/>
            <a:ext cx="4260648" cy="639334"/>
            <a:chOff x="0" y="0"/>
            <a:chExt cx="1052605" cy="157949"/>
          </a:xfrm>
        </p:grpSpPr>
        <p:sp>
          <p:nvSpPr>
            <p:cNvPr name="Freeform 79" id="79"/>
            <p:cNvSpPr/>
            <p:nvPr/>
          </p:nvSpPr>
          <p:spPr>
            <a:xfrm flipH="false" flipV="false" rot="0">
              <a:off x="0" y="0"/>
              <a:ext cx="1052605" cy="157949"/>
            </a:xfrm>
            <a:custGeom>
              <a:avLst/>
              <a:gdLst/>
              <a:ahLst/>
              <a:cxnLst/>
              <a:rect r="r" b="b" t="t" l="l"/>
              <a:pathLst>
                <a:path h="157949" w="1052605">
                  <a:moveTo>
                    <a:pt x="78975" y="0"/>
                  </a:moveTo>
                  <a:lnTo>
                    <a:pt x="973631" y="0"/>
                  </a:lnTo>
                  <a:cubicBezTo>
                    <a:pt x="994576" y="0"/>
                    <a:pt x="1014663" y="8321"/>
                    <a:pt x="1029474" y="23131"/>
                  </a:cubicBezTo>
                  <a:cubicBezTo>
                    <a:pt x="1044285" y="37942"/>
                    <a:pt x="1052605" y="58029"/>
                    <a:pt x="1052605" y="78975"/>
                  </a:cubicBezTo>
                  <a:lnTo>
                    <a:pt x="1052605" y="78975"/>
                  </a:lnTo>
                  <a:cubicBezTo>
                    <a:pt x="1052605" y="99920"/>
                    <a:pt x="1044285" y="120007"/>
                    <a:pt x="1029474" y="134818"/>
                  </a:cubicBezTo>
                  <a:cubicBezTo>
                    <a:pt x="1014663" y="149629"/>
                    <a:pt x="994576" y="157949"/>
                    <a:pt x="973631" y="157949"/>
                  </a:cubicBezTo>
                  <a:lnTo>
                    <a:pt x="78975" y="157949"/>
                  </a:lnTo>
                  <a:cubicBezTo>
                    <a:pt x="58029" y="157949"/>
                    <a:pt x="37942" y="149629"/>
                    <a:pt x="23131" y="134818"/>
                  </a:cubicBezTo>
                  <a:cubicBezTo>
                    <a:pt x="8321" y="120007"/>
                    <a:pt x="0" y="99920"/>
                    <a:pt x="0" y="78975"/>
                  </a:cubicBezTo>
                  <a:lnTo>
                    <a:pt x="0" y="78975"/>
                  </a:lnTo>
                  <a:cubicBezTo>
                    <a:pt x="0" y="58029"/>
                    <a:pt x="8321" y="37942"/>
                    <a:pt x="23131" y="23131"/>
                  </a:cubicBezTo>
                  <a:cubicBezTo>
                    <a:pt x="37942" y="8321"/>
                    <a:pt x="58029" y="0"/>
                    <a:pt x="78975" y="0"/>
                  </a:cubicBezTo>
                  <a:close/>
                </a:path>
              </a:pathLst>
            </a:custGeom>
            <a:solidFill>
              <a:srgbClr val="000000"/>
            </a:solidFill>
          </p:spPr>
        </p:sp>
        <p:sp>
          <p:nvSpPr>
            <p:cNvPr name="TextBox 80" id="80"/>
            <p:cNvSpPr txBox="true"/>
            <p:nvPr/>
          </p:nvSpPr>
          <p:spPr>
            <a:xfrm>
              <a:off x="0" y="-85725"/>
              <a:ext cx="1052605" cy="243674"/>
            </a:xfrm>
            <a:prstGeom prst="rect">
              <a:avLst/>
            </a:prstGeom>
          </p:spPr>
          <p:txBody>
            <a:bodyPr anchor="ctr" rtlCol="false" tIns="71838" lIns="71838" bIns="71838" rIns="71838"/>
            <a:lstStyle/>
            <a:p>
              <a:pPr algn="ctr">
                <a:lnSpc>
                  <a:spcPts val="4402"/>
                </a:lnSpc>
              </a:pPr>
            </a:p>
          </p:txBody>
        </p:sp>
      </p:grpSp>
      <p:grpSp>
        <p:nvGrpSpPr>
          <p:cNvPr name="Group 81" id="81"/>
          <p:cNvGrpSpPr/>
          <p:nvPr/>
        </p:nvGrpSpPr>
        <p:grpSpPr>
          <a:xfrm rot="0">
            <a:off x="19763456" y="24984832"/>
            <a:ext cx="910728" cy="834661"/>
            <a:chOff x="0" y="0"/>
            <a:chExt cx="224998" cy="206205"/>
          </a:xfrm>
        </p:grpSpPr>
        <p:sp>
          <p:nvSpPr>
            <p:cNvPr name="Freeform 82" id="82"/>
            <p:cNvSpPr/>
            <p:nvPr/>
          </p:nvSpPr>
          <p:spPr>
            <a:xfrm flipH="false" flipV="false" rot="0">
              <a:off x="0" y="0"/>
              <a:ext cx="224998" cy="206205"/>
            </a:xfrm>
            <a:custGeom>
              <a:avLst/>
              <a:gdLst/>
              <a:ahLst/>
              <a:cxnLst/>
              <a:rect r="r" b="b" t="t" l="l"/>
              <a:pathLst>
                <a:path h="206205" w="224998">
                  <a:moveTo>
                    <a:pt x="103103" y="0"/>
                  </a:moveTo>
                  <a:lnTo>
                    <a:pt x="121895" y="0"/>
                  </a:lnTo>
                  <a:cubicBezTo>
                    <a:pt x="149240" y="0"/>
                    <a:pt x="175464" y="10863"/>
                    <a:pt x="194800" y="30198"/>
                  </a:cubicBezTo>
                  <a:cubicBezTo>
                    <a:pt x="214135" y="49534"/>
                    <a:pt x="224998" y="75758"/>
                    <a:pt x="224998" y="103103"/>
                  </a:cubicBezTo>
                  <a:lnTo>
                    <a:pt x="224998" y="103103"/>
                  </a:lnTo>
                  <a:cubicBezTo>
                    <a:pt x="224998" y="130447"/>
                    <a:pt x="214135" y="156672"/>
                    <a:pt x="194800" y="176007"/>
                  </a:cubicBezTo>
                  <a:cubicBezTo>
                    <a:pt x="175464" y="195343"/>
                    <a:pt x="149240" y="206205"/>
                    <a:pt x="121895" y="206205"/>
                  </a:cubicBezTo>
                  <a:lnTo>
                    <a:pt x="103103" y="206205"/>
                  </a:lnTo>
                  <a:cubicBezTo>
                    <a:pt x="75758" y="206205"/>
                    <a:pt x="49534" y="195343"/>
                    <a:pt x="30198" y="176007"/>
                  </a:cubicBezTo>
                  <a:cubicBezTo>
                    <a:pt x="10863" y="156672"/>
                    <a:pt x="0" y="130447"/>
                    <a:pt x="0" y="103103"/>
                  </a:cubicBezTo>
                  <a:lnTo>
                    <a:pt x="0" y="103103"/>
                  </a:lnTo>
                  <a:cubicBezTo>
                    <a:pt x="0" y="75758"/>
                    <a:pt x="10863" y="49534"/>
                    <a:pt x="30198" y="30198"/>
                  </a:cubicBezTo>
                  <a:cubicBezTo>
                    <a:pt x="49534" y="10863"/>
                    <a:pt x="75758" y="0"/>
                    <a:pt x="103103" y="0"/>
                  </a:cubicBezTo>
                  <a:close/>
                </a:path>
              </a:pathLst>
            </a:custGeom>
            <a:solidFill>
              <a:srgbClr val="FFFFFF"/>
            </a:solidFill>
            <a:ln w="9525" cap="rnd">
              <a:solidFill>
                <a:srgbClr val="000000"/>
              </a:solidFill>
              <a:prstDash val="solid"/>
              <a:round/>
            </a:ln>
          </p:spPr>
        </p:sp>
        <p:sp>
          <p:nvSpPr>
            <p:cNvPr name="TextBox 83" id="83"/>
            <p:cNvSpPr txBox="true"/>
            <p:nvPr/>
          </p:nvSpPr>
          <p:spPr>
            <a:xfrm>
              <a:off x="0" y="-85725"/>
              <a:ext cx="224998" cy="291930"/>
            </a:xfrm>
            <a:prstGeom prst="rect">
              <a:avLst/>
            </a:prstGeom>
          </p:spPr>
          <p:txBody>
            <a:bodyPr anchor="ctr" rtlCol="false" tIns="71838" lIns="71838" bIns="71838" rIns="71838"/>
            <a:lstStyle/>
            <a:p>
              <a:pPr algn="ctr">
                <a:lnSpc>
                  <a:spcPts val="4402"/>
                </a:lnSpc>
              </a:pPr>
            </a:p>
          </p:txBody>
        </p:sp>
      </p:grpSp>
      <p:sp>
        <p:nvSpPr>
          <p:cNvPr name="AutoShape 84" id="84"/>
          <p:cNvSpPr/>
          <p:nvPr/>
        </p:nvSpPr>
        <p:spPr>
          <a:xfrm>
            <a:off x="13908661" y="25334247"/>
            <a:ext cx="1113445" cy="0"/>
          </a:xfrm>
          <a:prstGeom prst="line">
            <a:avLst/>
          </a:prstGeom>
          <a:ln cap="flat" w="19050">
            <a:solidFill>
              <a:srgbClr val="000000"/>
            </a:solidFill>
            <a:prstDash val="sysDot"/>
            <a:headEnd type="none" len="sm" w="sm"/>
            <a:tailEnd type="arrow" len="sm" w="med"/>
          </a:ln>
        </p:spPr>
      </p:sp>
      <p:sp>
        <p:nvSpPr>
          <p:cNvPr name="AutoShape 85" id="85"/>
          <p:cNvSpPr/>
          <p:nvPr/>
        </p:nvSpPr>
        <p:spPr>
          <a:xfrm flipH="true">
            <a:off x="20218820" y="25904943"/>
            <a:ext cx="223827" cy="1434260"/>
          </a:xfrm>
          <a:prstGeom prst="line">
            <a:avLst/>
          </a:prstGeom>
          <a:ln cap="flat" w="19050">
            <a:solidFill>
              <a:srgbClr val="000000"/>
            </a:solidFill>
            <a:prstDash val="sysDot"/>
            <a:headEnd type="none" len="sm" w="sm"/>
            <a:tailEnd type="arrow" len="sm" w="med"/>
          </a:ln>
        </p:spPr>
      </p:sp>
      <p:sp>
        <p:nvSpPr>
          <p:cNvPr name="Freeform 86" id="86"/>
          <p:cNvSpPr/>
          <p:nvPr/>
        </p:nvSpPr>
        <p:spPr>
          <a:xfrm flipH="false" flipV="false" rot="0">
            <a:off x="1108285" y="24251559"/>
            <a:ext cx="4474754" cy="4583615"/>
          </a:xfrm>
          <a:custGeom>
            <a:avLst/>
            <a:gdLst/>
            <a:ahLst/>
            <a:cxnLst/>
            <a:rect r="r" b="b" t="t" l="l"/>
            <a:pathLst>
              <a:path h="4583615" w="4474754">
                <a:moveTo>
                  <a:pt x="0" y="0"/>
                </a:moveTo>
                <a:lnTo>
                  <a:pt x="4474754" y="0"/>
                </a:lnTo>
                <a:lnTo>
                  <a:pt x="4474754" y="4583615"/>
                </a:lnTo>
                <a:lnTo>
                  <a:pt x="0" y="4583615"/>
                </a:lnTo>
                <a:lnTo>
                  <a:pt x="0" y="0"/>
                </a:lnTo>
                <a:close/>
              </a:path>
            </a:pathLst>
          </a:custGeom>
          <a:blipFill>
            <a:blip r:embed="rId24"/>
            <a:stretch>
              <a:fillRect l="0" t="0" r="0" b="0"/>
            </a:stretch>
          </a:blipFill>
        </p:spPr>
      </p:sp>
      <p:sp>
        <p:nvSpPr>
          <p:cNvPr name="Freeform 87" id="87"/>
          <p:cNvSpPr/>
          <p:nvPr/>
        </p:nvSpPr>
        <p:spPr>
          <a:xfrm flipH="false" flipV="false" rot="0">
            <a:off x="6889249" y="24251559"/>
            <a:ext cx="2892834" cy="2779612"/>
          </a:xfrm>
          <a:custGeom>
            <a:avLst/>
            <a:gdLst/>
            <a:ahLst/>
            <a:cxnLst/>
            <a:rect r="r" b="b" t="t" l="l"/>
            <a:pathLst>
              <a:path h="2779612" w="2892834">
                <a:moveTo>
                  <a:pt x="0" y="0"/>
                </a:moveTo>
                <a:lnTo>
                  <a:pt x="2892834" y="0"/>
                </a:lnTo>
                <a:lnTo>
                  <a:pt x="2892834" y="2779612"/>
                </a:lnTo>
                <a:lnTo>
                  <a:pt x="0" y="2779612"/>
                </a:lnTo>
                <a:lnTo>
                  <a:pt x="0" y="0"/>
                </a:lnTo>
                <a:close/>
              </a:path>
            </a:pathLst>
          </a:custGeom>
          <a:blipFill>
            <a:blip r:embed="rId25"/>
            <a:stretch>
              <a:fillRect l="0" t="0" r="0" b="0"/>
            </a:stretch>
          </a:blipFill>
        </p:spPr>
      </p:sp>
      <p:sp>
        <p:nvSpPr>
          <p:cNvPr name="Freeform 88" id="88"/>
          <p:cNvSpPr/>
          <p:nvPr/>
        </p:nvSpPr>
        <p:spPr>
          <a:xfrm flipH="false" flipV="false" rot="0">
            <a:off x="10195310" y="24231581"/>
            <a:ext cx="2637532" cy="2883479"/>
          </a:xfrm>
          <a:custGeom>
            <a:avLst/>
            <a:gdLst/>
            <a:ahLst/>
            <a:cxnLst/>
            <a:rect r="r" b="b" t="t" l="l"/>
            <a:pathLst>
              <a:path h="2883479" w="2637532">
                <a:moveTo>
                  <a:pt x="0" y="0"/>
                </a:moveTo>
                <a:lnTo>
                  <a:pt x="2637532" y="0"/>
                </a:lnTo>
                <a:lnTo>
                  <a:pt x="2637532" y="2883479"/>
                </a:lnTo>
                <a:lnTo>
                  <a:pt x="0" y="2883479"/>
                </a:lnTo>
                <a:lnTo>
                  <a:pt x="0" y="0"/>
                </a:lnTo>
                <a:close/>
              </a:path>
            </a:pathLst>
          </a:custGeom>
          <a:blipFill>
            <a:blip r:embed="rId26"/>
            <a:stretch>
              <a:fillRect l="-868" t="0" r="-868" b="-13589"/>
            </a:stretch>
          </a:blipFill>
        </p:spPr>
      </p:sp>
      <p:sp>
        <p:nvSpPr>
          <p:cNvPr name="Freeform 89" id="89"/>
          <p:cNvSpPr/>
          <p:nvPr/>
        </p:nvSpPr>
        <p:spPr>
          <a:xfrm flipH="false" flipV="false" rot="0">
            <a:off x="6833094" y="27271530"/>
            <a:ext cx="2674973" cy="2180103"/>
          </a:xfrm>
          <a:custGeom>
            <a:avLst/>
            <a:gdLst/>
            <a:ahLst/>
            <a:cxnLst/>
            <a:rect r="r" b="b" t="t" l="l"/>
            <a:pathLst>
              <a:path h="2180103" w="2674973">
                <a:moveTo>
                  <a:pt x="0" y="0"/>
                </a:moveTo>
                <a:lnTo>
                  <a:pt x="2674973" y="0"/>
                </a:lnTo>
                <a:lnTo>
                  <a:pt x="2674973" y="2180103"/>
                </a:lnTo>
                <a:lnTo>
                  <a:pt x="0" y="2180103"/>
                </a:lnTo>
                <a:lnTo>
                  <a:pt x="0" y="0"/>
                </a:lnTo>
                <a:close/>
              </a:path>
            </a:pathLst>
          </a:custGeom>
          <a:blipFill>
            <a:blip r:embed="rId27"/>
            <a:stretch>
              <a:fillRect l="0" t="0" r="0" b="0"/>
            </a:stretch>
          </a:blipFill>
        </p:spPr>
      </p:sp>
      <p:grpSp>
        <p:nvGrpSpPr>
          <p:cNvPr name="Group 90" id="90"/>
          <p:cNvGrpSpPr/>
          <p:nvPr/>
        </p:nvGrpSpPr>
        <p:grpSpPr>
          <a:xfrm rot="0">
            <a:off x="13540216" y="28592285"/>
            <a:ext cx="6678604" cy="859347"/>
            <a:chOff x="0" y="0"/>
            <a:chExt cx="1196730" cy="153985"/>
          </a:xfrm>
        </p:grpSpPr>
        <p:sp>
          <p:nvSpPr>
            <p:cNvPr name="Freeform 91" id="91"/>
            <p:cNvSpPr/>
            <p:nvPr/>
          </p:nvSpPr>
          <p:spPr>
            <a:xfrm flipH="false" flipV="false" rot="0">
              <a:off x="0" y="0"/>
              <a:ext cx="1196730" cy="153985"/>
            </a:xfrm>
            <a:custGeom>
              <a:avLst/>
              <a:gdLst/>
              <a:ahLst/>
              <a:cxnLst/>
              <a:rect r="r" b="b" t="t" l="l"/>
              <a:pathLst>
                <a:path h="153985" w="1196730">
                  <a:moveTo>
                    <a:pt x="32458" y="0"/>
                  </a:moveTo>
                  <a:lnTo>
                    <a:pt x="1164273" y="0"/>
                  </a:lnTo>
                  <a:cubicBezTo>
                    <a:pt x="1172881" y="0"/>
                    <a:pt x="1181137" y="3420"/>
                    <a:pt x="1187224" y="9507"/>
                  </a:cubicBezTo>
                  <a:cubicBezTo>
                    <a:pt x="1193311" y="15594"/>
                    <a:pt x="1196730" y="23850"/>
                    <a:pt x="1196730" y="32458"/>
                  </a:cubicBezTo>
                  <a:lnTo>
                    <a:pt x="1196730" y="121527"/>
                  </a:lnTo>
                  <a:cubicBezTo>
                    <a:pt x="1196730" y="139453"/>
                    <a:pt x="1182198" y="153985"/>
                    <a:pt x="1164273" y="153985"/>
                  </a:cubicBezTo>
                  <a:lnTo>
                    <a:pt x="32458" y="153985"/>
                  </a:lnTo>
                  <a:cubicBezTo>
                    <a:pt x="23850" y="153985"/>
                    <a:pt x="15594" y="150566"/>
                    <a:pt x="9507" y="144479"/>
                  </a:cubicBezTo>
                  <a:cubicBezTo>
                    <a:pt x="3420" y="138392"/>
                    <a:pt x="0" y="130136"/>
                    <a:pt x="0" y="121527"/>
                  </a:cubicBezTo>
                  <a:lnTo>
                    <a:pt x="0" y="32458"/>
                  </a:lnTo>
                  <a:cubicBezTo>
                    <a:pt x="0" y="14532"/>
                    <a:pt x="14532" y="0"/>
                    <a:pt x="32458" y="0"/>
                  </a:cubicBezTo>
                  <a:close/>
                </a:path>
              </a:pathLst>
            </a:custGeom>
            <a:solidFill>
              <a:srgbClr val="FFFFFF"/>
            </a:solidFill>
            <a:ln w="9525" cap="rnd">
              <a:solidFill>
                <a:srgbClr val="000000"/>
              </a:solidFill>
              <a:prstDash val="solid"/>
              <a:round/>
            </a:ln>
          </p:spPr>
        </p:sp>
        <p:sp>
          <p:nvSpPr>
            <p:cNvPr name="TextBox 92" id="92"/>
            <p:cNvSpPr txBox="true"/>
            <p:nvPr/>
          </p:nvSpPr>
          <p:spPr>
            <a:xfrm>
              <a:off x="0" y="-85725"/>
              <a:ext cx="1196730" cy="239710"/>
            </a:xfrm>
            <a:prstGeom prst="rect">
              <a:avLst/>
            </a:prstGeom>
          </p:spPr>
          <p:txBody>
            <a:bodyPr anchor="ctr" rtlCol="false" tIns="71838" lIns="71838" bIns="71838" rIns="71838"/>
            <a:lstStyle/>
            <a:p>
              <a:pPr algn="ctr">
                <a:lnSpc>
                  <a:spcPts val="4402"/>
                </a:lnSpc>
              </a:pPr>
            </a:p>
          </p:txBody>
        </p:sp>
      </p:grpSp>
      <p:sp>
        <p:nvSpPr>
          <p:cNvPr name="Freeform 93" id="93"/>
          <p:cNvSpPr/>
          <p:nvPr/>
        </p:nvSpPr>
        <p:spPr>
          <a:xfrm flipH="false" flipV="false" rot="0">
            <a:off x="9984317" y="27290819"/>
            <a:ext cx="3244734" cy="2141525"/>
          </a:xfrm>
          <a:custGeom>
            <a:avLst/>
            <a:gdLst/>
            <a:ahLst/>
            <a:cxnLst/>
            <a:rect r="r" b="b" t="t" l="l"/>
            <a:pathLst>
              <a:path h="2141525" w="3244734">
                <a:moveTo>
                  <a:pt x="0" y="0"/>
                </a:moveTo>
                <a:lnTo>
                  <a:pt x="3244735" y="0"/>
                </a:lnTo>
                <a:lnTo>
                  <a:pt x="3244735" y="2141525"/>
                </a:lnTo>
                <a:lnTo>
                  <a:pt x="0" y="2141525"/>
                </a:lnTo>
                <a:lnTo>
                  <a:pt x="0" y="0"/>
                </a:lnTo>
                <a:close/>
              </a:path>
            </a:pathLst>
          </a:custGeom>
          <a:blipFill>
            <a:blip r:embed="rId28"/>
            <a:stretch>
              <a:fillRect l="0" t="0" r="0" b="0"/>
            </a:stretch>
          </a:blipFill>
        </p:spPr>
      </p:sp>
      <p:sp>
        <p:nvSpPr>
          <p:cNvPr name="TextBox 94" id="94"/>
          <p:cNvSpPr txBox="true"/>
          <p:nvPr/>
        </p:nvSpPr>
        <p:spPr>
          <a:xfrm rot="0">
            <a:off x="16726586" y="873509"/>
            <a:ext cx="3947598" cy="1228763"/>
          </a:xfrm>
          <a:prstGeom prst="rect">
            <a:avLst/>
          </a:prstGeom>
        </p:spPr>
        <p:txBody>
          <a:bodyPr anchor="t" rtlCol="false" tIns="0" lIns="0" bIns="0" rIns="0">
            <a:spAutoFit/>
          </a:bodyPr>
          <a:lstStyle/>
          <a:p>
            <a:pPr algn="l">
              <a:lnSpc>
                <a:spcPts val="5174"/>
              </a:lnSpc>
            </a:pPr>
            <a:r>
              <a:rPr lang="en-US" b="true" sz="2874">
                <a:solidFill>
                  <a:srgbClr val="FFFFFF"/>
                </a:solidFill>
                <a:latin typeface="Barlow Bold"/>
                <a:ea typeface="Barlow Bold"/>
                <a:cs typeface="Barlow Bold"/>
                <a:sym typeface="Barlow Bold"/>
              </a:rPr>
              <a:t>KHOA</a:t>
            </a:r>
          </a:p>
          <a:p>
            <a:pPr algn="l">
              <a:lnSpc>
                <a:spcPts val="5174"/>
              </a:lnSpc>
            </a:pPr>
            <a:r>
              <a:rPr lang="en-US" b="true" sz="2874">
                <a:solidFill>
                  <a:srgbClr val="FFFFFF"/>
                </a:solidFill>
                <a:latin typeface="Barlow Bold"/>
                <a:ea typeface="Barlow Bold"/>
                <a:cs typeface="Barlow Bold"/>
                <a:sym typeface="Barlow Bold"/>
              </a:rPr>
              <a:t>CÔNG NGHỆ THÔNG TIN</a:t>
            </a:r>
          </a:p>
        </p:txBody>
      </p:sp>
      <p:sp>
        <p:nvSpPr>
          <p:cNvPr name="TextBox 95" id="95"/>
          <p:cNvSpPr txBox="true"/>
          <p:nvPr/>
        </p:nvSpPr>
        <p:spPr>
          <a:xfrm rot="0">
            <a:off x="1758448" y="5369166"/>
            <a:ext cx="16941937" cy="838203"/>
          </a:xfrm>
          <a:prstGeom prst="rect">
            <a:avLst/>
          </a:prstGeom>
        </p:spPr>
        <p:txBody>
          <a:bodyPr anchor="t" rtlCol="false" tIns="0" lIns="0" bIns="0" rIns="0">
            <a:spAutoFit/>
          </a:bodyPr>
          <a:lstStyle/>
          <a:p>
            <a:pPr algn="l">
              <a:lnSpc>
                <a:spcPts val="7198"/>
              </a:lnSpc>
            </a:pPr>
            <a:r>
              <a:rPr lang="en-US" sz="3999" i="true">
                <a:solidFill>
                  <a:srgbClr val="FFFFFF"/>
                </a:solidFill>
                <a:latin typeface="Barlow Italics"/>
                <a:ea typeface="Barlow Italics"/>
                <a:cs typeface="Barlow Italics"/>
                <a:sym typeface="Barlow Italics"/>
              </a:rPr>
              <a:t>Thành viên: Ngô Bình Minh - 524H0169</a:t>
            </a:r>
          </a:p>
        </p:txBody>
      </p:sp>
      <p:sp>
        <p:nvSpPr>
          <p:cNvPr name="TextBox 96" id="96"/>
          <p:cNvSpPr txBox="true"/>
          <p:nvPr/>
        </p:nvSpPr>
        <p:spPr>
          <a:xfrm rot="0">
            <a:off x="1758448" y="4796695"/>
            <a:ext cx="6306464" cy="777240"/>
          </a:xfrm>
          <a:prstGeom prst="rect">
            <a:avLst/>
          </a:prstGeom>
        </p:spPr>
        <p:txBody>
          <a:bodyPr anchor="t" rtlCol="false" tIns="0" lIns="0" bIns="0" rIns="0">
            <a:spAutoFit/>
          </a:bodyPr>
          <a:lstStyle/>
          <a:p>
            <a:pPr algn="l">
              <a:lnSpc>
                <a:spcPts val="6480"/>
              </a:lnSpc>
            </a:pPr>
            <a:r>
              <a:rPr lang="en-US" b="true" sz="4500" i="true">
                <a:solidFill>
                  <a:srgbClr val="FFFFFF"/>
                </a:solidFill>
                <a:latin typeface="Barlow Bold Italics"/>
                <a:ea typeface="Barlow Bold Italics"/>
                <a:cs typeface="Barlow Bold Italics"/>
                <a:sym typeface="Barlow Bold Italics"/>
              </a:rPr>
              <a:t>Tên đội: The SunRise</a:t>
            </a:r>
          </a:p>
        </p:txBody>
      </p:sp>
      <p:sp>
        <p:nvSpPr>
          <p:cNvPr name="TextBox 97" id="97"/>
          <p:cNvSpPr txBox="true"/>
          <p:nvPr/>
        </p:nvSpPr>
        <p:spPr>
          <a:xfrm rot="0">
            <a:off x="6702339" y="2881341"/>
            <a:ext cx="8378613" cy="1625713"/>
          </a:xfrm>
          <a:prstGeom prst="rect">
            <a:avLst/>
          </a:prstGeom>
        </p:spPr>
        <p:txBody>
          <a:bodyPr anchor="t" rtlCol="false" tIns="0" lIns="0" bIns="0" rIns="0">
            <a:spAutoFit/>
          </a:bodyPr>
          <a:lstStyle/>
          <a:p>
            <a:pPr algn="l">
              <a:lnSpc>
                <a:spcPts val="12032"/>
              </a:lnSpc>
            </a:pPr>
            <a:r>
              <a:rPr lang="en-US" sz="8355" i="true">
                <a:solidFill>
                  <a:srgbClr val="FFFFFF"/>
                </a:solidFill>
                <a:latin typeface="Bungee Shade"/>
                <a:ea typeface="Bungee Shade"/>
                <a:cs typeface="Bungee Shade"/>
                <a:sym typeface="Bungee Shade"/>
              </a:rPr>
              <a:t>FocusProof</a:t>
            </a:r>
          </a:p>
        </p:txBody>
      </p:sp>
      <p:sp>
        <p:nvSpPr>
          <p:cNvPr name="TextBox 98" id="98"/>
          <p:cNvSpPr txBox="true"/>
          <p:nvPr/>
        </p:nvSpPr>
        <p:spPr>
          <a:xfrm rot="0">
            <a:off x="2138400" y="7973005"/>
            <a:ext cx="8381618" cy="3975903"/>
          </a:xfrm>
          <a:prstGeom prst="rect">
            <a:avLst/>
          </a:prstGeom>
        </p:spPr>
        <p:txBody>
          <a:bodyPr anchor="t" rtlCol="false" tIns="0" lIns="0" bIns="0" rIns="0">
            <a:spAutoFit/>
          </a:bodyPr>
          <a:lstStyle/>
          <a:p>
            <a:pPr algn="just">
              <a:lnSpc>
                <a:spcPts val="2405"/>
              </a:lnSpc>
            </a:pPr>
            <a:r>
              <a:rPr lang="en-US" sz="1718">
                <a:solidFill>
                  <a:srgbClr val="000000"/>
                </a:solidFill>
                <a:latin typeface="Arimo"/>
                <a:ea typeface="Arimo"/>
                <a:cs typeface="Arimo"/>
                <a:sym typeface="Arimo"/>
              </a:rPr>
              <a:t>FocusProof là Chrome Extension kết hợp Web App giúp bạn đo lường, ghi nhận và chứng minh mức độ tập trung một cách khách quan trong mỗi phiên học tập hoặc làm việc.</a:t>
            </a:r>
          </a:p>
          <a:p>
            <a:pPr algn="just">
              <a:lnSpc>
                <a:spcPts val="2405"/>
              </a:lnSpc>
            </a:pPr>
            <a:r>
              <a:rPr lang="en-US" sz="1718">
                <a:solidFill>
                  <a:srgbClr val="000000"/>
                </a:solidFill>
                <a:latin typeface="Arimo"/>
                <a:ea typeface="Arimo"/>
                <a:cs typeface="Arimo"/>
                <a:sym typeface="Arimo"/>
              </a:rPr>
              <a:t>Lõi công nghệ 3-Signal Detection:</a:t>
            </a:r>
          </a:p>
          <a:p>
            <a:pPr algn="just" marL="370996" indent="-185498" lvl="1">
              <a:lnSpc>
                <a:spcPts val="2405"/>
              </a:lnSpc>
              <a:buFont typeface="Arial"/>
              <a:buChar char="•"/>
            </a:pPr>
            <a:r>
              <a:rPr lang="en-US" sz="1718">
                <a:solidFill>
                  <a:srgbClr val="000000"/>
                </a:solidFill>
                <a:latin typeface="Arimo"/>
                <a:ea typeface="Arimo"/>
                <a:cs typeface="Arimo"/>
                <a:sym typeface="Arimo"/>
              </a:rPr>
              <a:t>Face Detection: Phát hiện khuôn mặt qua webc</a:t>
            </a:r>
            <a:r>
              <a:rPr lang="en-US" sz="1718">
                <a:solidFill>
                  <a:srgbClr val="000000"/>
                </a:solidFill>
                <a:latin typeface="Arimo"/>
                <a:ea typeface="Arimo"/>
                <a:cs typeface="Arimo"/>
                <a:sym typeface="Arimo"/>
              </a:rPr>
              <a:t>am (xử lý cục bộ, không lưu ảnh/video).</a:t>
            </a:r>
          </a:p>
          <a:p>
            <a:pPr algn="just" marL="370996" indent="-185498" lvl="1">
              <a:lnSpc>
                <a:spcPts val="2405"/>
              </a:lnSpc>
              <a:buFont typeface="Arial"/>
              <a:buChar char="•"/>
            </a:pPr>
            <a:r>
              <a:rPr lang="en-US" sz="1718">
                <a:solidFill>
                  <a:srgbClr val="000000"/>
                </a:solidFill>
                <a:latin typeface="Arimo"/>
                <a:ea typeface="Arimo"/>
                <a:cs typeface="Arimo"/>
                <a:sym typeface="Arimo"/>
              </a:rPr>
              <a:t>Activity Tracking: Theo dõi chuột và bàn phím để loại bỏ tình trạng giả tập trung.</a:t>
            </a:r>
          </a:p>
          <a:p>
            <a:pPr algn="just" marL="370996" indent="-185498" lvl="1">
              <a:lnSpc>
                <a:spcPts val="2405"/>
              </a:lnSpc>
              <a:buFont typeface="Arial"/>
              <a:buChar char="•"/>
            </a:pPr>
            <a:r>
              <a:rPr lang="en-US" sz="1718">
                <a:solidFill>
                  <a:srgbClr val="000000"/>
                </a:solidFill>
                <a:latin typeface="Arimo"/>
                <a:ea typeface="Arimo"/>
                <a:cs typeface="Arimo"/>
                <a:sym typeface="Arimo"/>
              </a:rPr>
              <a:t>Tab Tracking: Phân biệt tab làm việc với tab giải trí theo mục tiêu của bạn.</a:t>
            </a:r>
          </a:p>
          <a:p>
            <a:pPr algn="just">
              <a:lnSpc>
                <a:spcPts val="2405"/>
              </a:lnSpc>
            </a:pPr>
            <a:r>
              <a:rPr lang="en-US" sz="1718">
                <a:solidFill>
                  <a:srgbClr val="000000"/>
                </a:solidFill>
                <a:latin typeface="Arimo"/>
                <a:ea typeface="Arimo"/>
                <a:cs typeface="Arimo"/>
                <a:sym typeface="Arimo"/>
              </a:rPr>
              <a:t>Kết quả cuối mỗi phiên:</a:t>
            </a:r>
          </a:p>
          <a:p>
            <a:pPr algn="just" marL="370996" indent="-185498" lvl="1">
              <a:lnSpc>
                <a:spcPts val="2405"/>
              </a:lnSpc>
              <a:buFont typeface="Arial"/>
              <a:buChar char="•"/>
            </a:pPr>
            <a:r>
              <a:rPr lang="en-US" sz="1718">
                <a:solidFill>
                  <a:srgbClr val="000000"/>
                </a:solidFill>
                <a:latin typeface="Arimo"/>
                <a:ea typeface="Arimo"/>
                <a:cs typeface="Arimo"/>
                <a:sym typeface="Arimo"/>
              </a:rPr>
              <a:t>Focus Score 0–100</a:t>
            </a:r>
          </a:p>
          <a:p>
            <a:pPr algn="just" marL="370996" indent="-185498" lvl="1">
              <a:lnSpc>
                <a:spcPts val="2405"/>
              </a:lnSpc>
              <a:buFont typeface="Arial"/>
              <a:buChar char="•"/>
            </a:pPr>
            <a:r>
              <a:rPr lang="en-US" sz="1718">
                <a:solidFill>
                  <a:srgbClr val="000000"/>
                </a:solidFill>
                <a:latin typeface="Arimo"/>
                <a:ea typeface="Arimo"/>
                <a:cs typeface="Arimo"/>
                <a:sym typeface="Arimo"/>
              </a:rPr>
              <a:t>AI Insight bằng tiếng Việt</a:t>
            </a:r>
          </a:p>
          <a:p>
            <a:pPr algn="just" marL="370996" indent="-185498" lvl="1">
              <a:lnSpc>
                <a:spcPts val="2405"/>
              </a:lnSpc>
              <a:buFont typeface="Arial"/>
              <a:buChar char="•"/>
            </a:pPr>
            <a:r>
              <a:rPr lang="en-US" sz="1718">
                <a:solidFill>
                  <a:srgbClr val="000000"/>
                </a:solidFill>
                <a:latin typeface="Arimo"/>
                <a:ea typeface="Arimo"/>
                <a:cs typeface="Arimo"/>
                <a:sym typeface="Arimo"/>
              </a:rPr>
              <a:t>Chứng chỉ PDF có QR Code &amp; chữ ký SHA-256</a:t>
            </a:r>
          </a:p>
          <a:p>
            <a:pPr algn="just">
              <a:lnSpc>
                <a:spcPts val="2405"/>
              </a:lnSpc>
            </a:pPr>
          </a:p>
        </p:txBody>
      </p:sp>
      <p:sp>
        <p:nvSpPr>
          <p:cNvPr name="TextBox 99" id="99"/>
          <p:cNvSpPr txBox="true"/>
          <p:nvPr/>
        </p:nvSpPr>
        <p:spPr>
          <a:xfrm rot="0">
            <a:off x="2442639" y="7140481"/>
            <a:ext cx="3936340" cy="444906"/>
          </a:xfrm>
          <a:prstGeom prst="rect">
            <a:avLst/>
          </a:prstGeom>
        </p:spPr>
        <p:txBody>
          <a:bodyPr anchor="t" rtlCol="false" tIns="0" lIns="0" bIns="0" rIns="0">
            <a:spAutoFit/>
          </a:bodyPr>
          <a:lstStyle/>
          <a:p>
            <a:pPr algn="l">
              <a:lnSpc>
                <a:spcPts val="3564"/>
              </a:lnSpc>
            </a:pPr>
            <a:r>
              <a:rPr lang="en-US" sz="2546" b="true">
                <a:solidFill>
                  <a:srgbClr val="FFFFFF"/>
                </a:solidFill>
                <a:latin typeface="Arimo Bold"/>
                <a:ea typeface="Arimo Bold"/>
                <a:cs typeface="Arimo Bold"/>
                <a:sym typeface="Arimo Bold"/>
              </a:rPr>
              <a:t>GIỚI THIỆU TỔNG QUÁT</a:t>
            </a:r>
          </a:p>
        </p:txBody>
      </p:sp>
      <p:sp>
        <p:nvSpPr>
          <p:cNvPr name="TextBox 100" id="100"/>
          <p:cNvSpPr txBox="true"/>
          <p:nvPr/>
        </p:nvSpPr>
        <p:spPr>
          <a:xfrm rot="0">
            <a:off x="1314218" y="6872053"/>
            <a:ext cx="965375" cy="918462"/>
          </a:xfrm>
          <a:prstGeom prst="rect">
            <a:avLst/>
          </a:prstGeom>
        </p:spPr>
        <p:txBody>
          <a:bodyPr anchor="t" rtlCol="false" tIns="0" lIns="0" bIns="0" rIns="0">
            <a:spAutoFit/>
          </a:bodyPr>
          <a:lstStyle/>
          <a:p>
            <a:pPr algn="l">
              <a:lnSpc>
                <a:spcPts val="7232"/>
              </a:lnSpc>
            </a:pPr>
            <a:r>
              <a:rPr lang="en-US" sz="5166" b="true">
                <a:solidFill>
                  <a:srgbClr val="000000"/>
                </a:solidFill>
                <a:latin typeface="Arimo Bold"/>
                <a:ea typeface="Arimo Bold"/>
                <a:cs typeface="Arimo Bold"/>
                <a:sym typeface="Arimo Bold"/>
              </a:rPr>
              <a:t>01</a:t>
            </a:r>
          </a:p>
        </p:txBody>
      </p:sp>
      <p:sp>
        <p:nvSpPr>
          <p:cNvPr name="TextBox 101" id="101"/>
          <p:cNvSpPr txBox="true"/>
          <p:nvPr/>
        </p:nvSpPr>
        <p:spPr>
          <a:xfrm rot="0">
            <a:off x="11514076" y="14020791"/>
            <a:ext cx="7757338" cy="4115137"/>
          </a:xfrm>
          <a:prstGeom prst="rect">
            <a:avLst/>
          </a:prstGeom>
        </p:spPr>
        <p:txBody>
          <a:bodyPr anchor="t" rtlCol="false" tIns="0" lIns="0" bIns="0" rIns="0">
            <a:spAutoFit/>
          </a:bodyPr>
          <a:lstStyle/>
          <a:p>
            <a:pPr algn="just">
              <a:lnSpc>
                <a:spcPts val="2081"/>
              </a:lnSpc>
            </a:pPr>
            <a:r>
              <a:rPr lang="en-US" sz="1486">
                <a:solidFill>
                  <a:srgbClr val="000000"/>
                </a:solidFill>
                <a:latin typeface="Arimo"/>
                <a:ea typeface="Arimo"/>
                <a:cs typeface="Arimo"/>
                <a:sym typeface="Arimo"/>
              </a:rPr>
              <a:t>FocusProof không chỉ là một công cụ theo dõi thời gian thông thường mà là giải pháp “Tập trung – Chứng minh – Cải thiện” hoàn chỉnh và khác biệt nhất hiện nay.</a:t>
            </a:r>
          </a:p>
          <a:p>
            <a:pPr algn="just">
              <a:lnSpc>
                <a:spcPts val="2081"/>
              </a:lnSpc>
            </a:pPr>
            <a:r>
              <a:rPr lang="en-US" sz="1486">
                <a:solidFill>
                  <a:srgbClr val="000000"/>
                </a:solidFill>
                <a:latin typeface="Arimo"/>
                <a:ea typeface="Arimo"/>
                <a:cs typeface="Arimo"/>
                <a:sym typeface="Arimo"/>
              </a:rPr>
              <a:t>Những điểm độc đáo nổi bật:</a:t>
            </a:r>
          </a:p>
          <a:p>
            <a:pPr algn="just" marL="320984" indent="-160492" lvl="1">
              <a:lnSpc>
                <a:spcPts val="2081"/>
              </a:lnSpc>
              <a:buFont typeface="Arial"/>
              <a:buChar char="•"/>
            </a:pPr>
            <a:r>
              <a:rPr lang="en-US" sz="1486">
                <a:solidFill>
                  <a:srgbClr val="000000"/>
                </a:solidFill>
                <a:latin typeface="Arimo"/>
                <a:ea typeface="Arimo"/>
                <a:cs typeface="Arimo"/>
                <a:sym typeface="Arimo"/>
              </a:rPr>
              <a:t>Local-first Privacy: Toàn bộ AI chạy ngay trong trình duyệt, không lưu trữ ảnh/video, đảm bảo quyền riêng tư tối đa cho người dùng.</a:t>
            </a:r>
          </a:p>
          <a:p>
            <a:pPr algn="just" marL="320984" indent="-160492" lvl="1">
              <a:lnSpc>
                <a:spcPts val="2081"/>
              </a:lnSpc>
              <a:buFont typeface="Arial"/>
              <a:buChar char="•"/>
            </a:pPr>
            <a:r>
              <a:rPr lang="en-US" sz="1486">
                <a:solidFill>
                  <a:srgbClr val="000000"/>
                </a:solidFill>
                <a:latin typeface="Arimo"/>
                <a:ea typeface="Arimo"/>
                <a:cs typeface="Arimo"/>
                <a:sym typeface="Arimo"/>
              </a:rPr>
              <a:t>Verifiable Certificate: Chứng chỉ PDF chuyên nghiệp có QR Code + chữ ký số SHA-256, cho phép xác thực độc lập và không thể giả mạo.</a:t>
            </a:r>
          </a:p>
          <a:p>
            <a:pPr algn="just" marL="320984" indent="-160492" lvl="1">
              <a:lnSpc>
                <a:spcPts val="2081"/>
              </a:lnSpc>
              <a:buFont typeface="Arial"/>
              <a:buChar char="•"/>
            </a:pPr>
            <a:r>
              <a:rPr lang="en-US" sz="1486">
                <a:solidFill>
                  <a:srgbClr val="000000"/>
                </a:solidFill>
                <a:latin typeface="Arimo"/>
                <a:ea typeface="Arimo"/>
                <a:cs typeface="Arimo"/>
                <a:sym typeface="Arimo"/>
              </a:rPr>
              <a:t>AI Coaching tiếng Việt: Sử dụng GPT-4o phân tích phiên làm việc và đưa ra khuyến nghị cải thiện cá nhân hóa bằng tiếng Việt, gần gũi và dễ áp dụng.</a:t>
            </a:r>
          </a:p>
          <a:p>
            <a:pPr algn="just" marL="320984" indent="-160492" lvl="1">
              <a:lnSpc>
                <a:spcPts val="2081"/>
              </a:lnSpc>
              <a:buFont typeface="Arial"/>
              <a:buChar char="•"/>
            </a:pPr>
            <a:r>
              <a:rPr lang="en-US" sz="1486">
                <a:solidFill>
                  <a:srgbClr val="000000"/>
                </a:solidFill>
                <a:latin typeface="Arimo"/>
                <a:ea typeface="Arimo"/>
                <a:cs typeface="Arimo"/>
                <a:sym typeface="Arimo"/>
              </a:rPr>
              <a:t>3-Sign</a:t>
            </a:r>
            <a:r>
              <a:rPr lang="en-US" sz="1486">
                <a:solidFill>
                  <a:srgbClr val="000000"/>
                </a:solidFill>
                <a:latin typeface="Arimo"/>
                <a:ea typeface="Arimo"/>
                <a:cs typeface="Arimo"/>
                <a:sym typeface="Arimo"/>
              </a:rPr>
              <a:t>al Detection: Hệ thống phát hiện 3 lớp (Face Detection + Activity Tracking + Tab Tracking) – duy nhất trên thị trường, mang lại độ chính xác và khách quan cao.</a:t>
            </a:r>
          </a:p>
          <a:p>
            <a:pPr algn="just" marL="320984" indent="-160492" lvl="1">
              <a:lnSpc>
                <a:spcPts val="2081"/>
              </a:lnSpc>
              <a:buFont typeface="Arial"/>
              <a:buChar char="•"/>
            </a:pPr>
            <a:r>
              <a:rPr lang="en-US" sz="1486">
                <a:solidFill>
                  <a:srgbClr val="000000"/>
                </a:solidFill>
                <a:latin typeface="Arimo"/>
                <a:ea typeface="Arimo"/>
                <a:cs typeface="Arimo"/>
                <a:sym typeface="Arimo"/>
              </a:rPr>
              <a:t>Gamification &amp; Social: Hệ thống Streak, Leaderboard và tính năng chia sẻ chứng chỉ lên mạng xã hội, khuyến khích người dùng duy trì thói quen tập trung lâu dài.</a:t>
            </a:r>
          </a:p>
          <a:p>
            <a:pPr algn="just">
              <a:lnSpc>
                <a:spcPts val="2081"/>
              </a:lnSpc>
            </a:pPr>
            <a:r>
              <a:rPr lang="en-US" sz="1486">
                <a:solidFill>
                  <a:srgbClr val="000000"/>
                </a:solidFill>
                <a:latin typeface="Arimo"/>
                <a:ea typeface="Arimo"/>
                <a:cs typeface="Arimo"/>
                <a:sym typeface="Arimo"/>
              </a:rPr>
              <a:t>FocusProof kết hợp sáng tạo công nghệ cục bộ với cơ chế chứng minh minh bạch, tạo ra giá trị khác biệt rõ rệt so với các giải pháp hiện có trên thị trường.</a:t>
            </a:r>
          </a:p>
          <a:p>
            <a:pPr algn="just">
              <a:lnSpc>
                <a:spcPts val="2081"/>
              </a:lnSpc>
            </a:pPr>
          </a:p>
        </p:txBody>
      </p:sp>
      <p:sp>
        <p:nvSpPr>
          <p:cNvPr name="TextBox 102" id="102"/>
          <p:cNvSpPr txBox="true"/>
          <p:nvPr/>
        </p:nvSpPr>
        <p:spPr>
          <a:xfrm rot="0">
            <a:off x="15049113" y="13109632"/>
            <a:ext cx="4295986" cy="444766"/>
          </a:xfrm>
          <a:prstGeom prst="rect">
            <a:avLst/>
          </a:prstGeom>
        </p:spPr>
        <p:txBody>
          <a:bodyPr anchor="t" rtlCol="false" tIns="0" lIns="0" bIns="0" rIns="0">
            <a:spAutoFit/>
          </a:bodyPr>
          <a:lstStyle/>
          <a:p>
            <a:pPr algn="l">
              <a:lnSpc>
                <a:spcPts val="3570"/>
              </a:lnSpc>
            </a:pPr>
            <a:r>
              <a:rPr lang="en-US" sz="2550" b="true">
                <a:solidFill>
                  <a:srgbClr val="FFFFFF"/>
                </a:solidFill>
                <a:latin typeface="Arimo Bold"/>
                <a:ea typeface="Arimo Bold"/>
                <a:cs typeface="Arimo Bold"/>
                <a:sym typeface="Arimo Bold"/>
              </a:rPr>
              <a:t> ĐỘC  ĐÁO VÀ SÁNG TẠO</a:t>
            </a:r>
          </a:p>
        </p:txBody>
      </p:sp>
      <p:sp>
        <p:nvSpPr>
          <p:cNvPr name="TextBox 103" id="103"/>
          <p:cNvSpPr txBox="true"/>
          <p:nvPr/>
        </p:nvSpPr>
        <p:spPr>
          <a:xfrm rot="0">
            <a:off x="19245600" y="12898520"/>
            <a:ext cx="781093" cy="835892"/>
          </a:xfrm>
          <a:prstGeom prst="rect">
            <a:avLst/>
          </a:prstGeom>
        </p:spPr>
        <p:txBody>
          <a:bodyPr anchor="t" rtlCol="false" tIns="0" lIns="0" bIns="0" rIns="0">
            <a:spAutoFit/>
          </a:bodyPr>
          <a:lstStyle/>
          <a:p>
            <a:pPr algn="r">
              <a:lnSpc>
                <a:spcPts val="6647"/>
              </a:lnSpc>
            </a:pPr>
            <a:r>
              <a:rPr lang="en-US" b="true" sz="4748">
                <a:solidFill>
                  <a:srgbClr val="000000"/>
                </a:solidFill>
                <a:latin typeface="Arimo Bold"/>
                <a:ea typeface="Arimo Bold"/>
                <a:cs typeface="Arimo Bold"/>
                <a:sym typeface="Arimo Bold"/>
              </a:rPr>
              <a:t>02</a:t>
            </a:r>
          </a:p>
        </p:txBody>
      </p:sp>
      <p:sp>
        <p:nvSpPr>
          <p:cNvPr name="TextBox 104" id="104"/>
          <p:cNvSpPr txBox="true"/>
          <p:nvPr/>
        </p:nvSpPr>
        <p:spPr>
          <a:xfrm rot="0">
            <a:off x="12281991" y="12211378"/>
            <a:ext cx="6131357" cy="540584"/>
          </a:xfrm>
          <a:prstGeom prst="rect">
            <a:avLst/>
          </a:prstGeom>
        </p:spPr>
        <p:txBody>
          <a:bodyPr anchor="t" rtlCol="false" tIns="0" lIns="0" bIns="0" rIns="0">
            <a:spAutoFit/>
          </a:bodyPr>
          <a:lstStyle/>
          <a:p>
            <a:pPr algn="ctr">
              <a:lnSpc>
                <a:spcPts val="1428"/>
              </a:lnSpc>
              <a:spcBef>
                <a:spcPct val="0"/>
              </a:spcBef>
            </a:pPr>
            <a:r>
              <a:rPr lang="en-US" b="true" sz="1020">
                <a:solidFill>
                  <a:srgbClr val="000000"/>
                </a:solidFill>
                <a:latin typeface="Arimo Bold"/>
                <a:ea typeface="Arimo Bold"/>
                <a:cs typeface="Arimo Bold"/>
                <a:sym typeface="Arimo Bold"/>
              </a:rPr>
              <a:t>Hình 1: Kiến trúc tổng thể gồm Chrome Extension MV3 (Popup, Background, Offscreen Camera, Content Script), Supabase Backend (Auth, PostgreSQL với RLS, Edge Functions) và Web App Next.js (Landing, Pricing, Team Dashboard); tích hợp Stripe và OpenAI.</a:t>
            </a:r>
          </a:p>
        </p:txBody>
      </p:sp>
      <p:sp>
        <p:nvSpPr>
          <p:cNvPr name="TextBox 105" id="105"/>
          <p:cNvSpPr txBox="true"/>
          <p:nvPr/>
        </p:nvSpPr>
        <p:spPr>
          <a:xfrm rot="0">
            <a:off x="2543508" y="18017972"/>
            <a:ext cx="6538435" cy="510909"/>
          </a:xfrm>
          <a:prstGeom prst="rect">
            <a:avLst/>
          </a:prstGeom>
        </p:spPr>
        <p:txBody>
          <a:bodyPr anchor="t" rtlCol="false" tIns="0" lIns="0" bIns="0" rIns="0">
            <a:spAutoFit/>
          </a:bodyPr>
          <a:lstStyle/>
          <a:p>
            <a:pPr algn="ctr">
              <a:lnSpc>
                <a:spcPts val="1346"/>
              </a:lnSpc>
              <a:spcBef>
                <a:spcPct val="0"/>
              </a:spcBef>
            </a:pPr>
            <a:r>
              <a:rPr lang="en-US" b="true" sz="961">
                <a:solidFill>
                  <a:srgbClr val="000000"/>
                </a:solidFill>
                <a:latin typeface="Arimo Bold"/>
                <a:ea typeface="Arimo Bold"/>
                <a:cs typeface="Arimo Bold"/>
                <a:sym typeface="Arimo Bold"/>
              </a:rPr>
              <a:t> </a:t>
            </a:r>
          </a:p>
          <a:p>
            <a:pPr algn="ctr">
              <a:lnSpc>
                <a:spcPts val="1346"/>
              </a:lnSpc>
              <a:spcBef>
                <a:spcPct val="0"/>
              </a:spcBef>
            </a:pPr>
            <a:r>
              <a:rPr lang="en-US" b="true" sz="961">
                <a:solidFill>
                  <a:srgbClr val="000000"/>
                </a:solidFill>
                <a:latin typeface="Arimo Bold"/>
                <a:ea typeface="Arimo Bold"/>
                <a:cs typeface="Arimo Bold"/>
                <a:sym typeface="Arimo Bold"/>
              </a:rPr>
              <a:t>Hình 2: Business Model Canvas chuẩn 9 khối — phiên bản mở rộng minh họa của Bảng BMC trong phần Tổng quan đề án phía trên.</a:t>
            </a:r>
          </a:p>
        </p:txBody>
      </p:sp>
      <p:sp>
        <p:nvSpPr>
          <p:cNvPr name="TextBox 106" id="106"/>
          <p:cNvSpPr txBox="true"/>
          <p:nvPr/>
        </p:nvSpPr>
        <p:spPr>
          <a:xfrm rot="0">
            <a:off x="1758448" y="19381226"/>
            <a:ext cx="9424669" cy="4775083"/>
          </a:xfrm>
          <a:prstGeom prst="rect">
            <a:avLst/>
          </a:prstGeom>
        </p:spPr>
        <p:txBody>
          <a:bodyPr anchor="t" rtlCol="false" tIns="0" lIns="0" bIns="0" rIns="0">
            <a:spAutoFit/>
          </a:bodyPr>
          <a:lstStyle/>
          <a:p>
            <a:pPr algn="l">
              <a:lnSpc>
                <a:spcPts val="1931"/>
              </a:lnSpc>
            </a:pPr>
            <a:r>
              <a:rPr lang="en-US" sz="1379">
                <a:solidFill>
                  <a:srgbClr val="000000"/>
                </a:solidFill>
                <a:latin typeface="Arimo"/>
                <a:ea typeface="Arimo"/>
                <a:cs typeface="Arimo"/>
                <a:sym typeface="Arimo"/>
              </a:rPr>
              <a:t>Việc sản xuất sản phẩm là khả thi: FocusProof đã hoàn thành phiên bản v1.0 với Chrome Extension Manifest V3 và Web App hoạt động ổn định. Sản phẩm hiện có Core Engine với hệ thống 3-Signal Detection (Face Detection, Activity Tracking, Tab Tracking), PDF Certificate có QR Code và SHA-256, cùng hơn 36 unit test pass. Toàn bộ công nghệ cốt lõi (MediaPipe BlazeFace, React 19, Tailwind CSS, Supabase) đều là các công nghệ mã nguồn mở, ổn định và dễ mở rộng. Hiện tại, dự án đã sẵn sàng chuyển sang giai đoạn kinh doanh hóa (v1.1).</a:t>
            </a:r>
          </a:p>
          <a:p>
            <a:pPr algn="l">
              <a:lnSpc>
                <a:spcPts val="1931"/>
              </a:lnSpc>
            </a:pPr>
            <a:r>
              <a:rPr lang="en-US" sz="1379">
                <a:solidFill>
                  <a:srgbClr val="000000"/>
                </a:solidFill>
                <a:latin typeface="Arimo"/>
                <a:ea typeface="Arimo"/>
                <a:cs typeface="Arimo"/>
                <a:sym typeface="Arimo"/>
              </a:rPr>
              <a:t>Cơ cấu chi phí và giá thành hợp lý: Chi phí phát triển ban đầu chủ yếu là thời gian cá nhân. Chi phí vận hành hàng tháng thấp nhờ mô hình </a:t>
            </a:r>
            <a:r>
              <a:rPr lang="en-US" sz="1379">
                <a:solidFill>
                  <a:srgbClr val="000000"/>
                </a:solidFill>
                <a:latin typeface="Arimo"/>
                <a:ea typeface="Arimo"/>
                <a:cs typeface="Arimo"/>
                <a:sym typeface="Arimo"/>
              </a:rPr>
              <a:t>local-first (AI chạy ngay trên trình duyệt của người dùng). Các chi phí chính bao gồm Supabase (~25 USD/tháng), OpenAI API (~0,15 USD/1.000 token) và marketing. Giá bán được thiết kế hợp lý: gói Pro chỉ 79.000đ/tháng, gói Team 99.000đ/người/tháng – mức giá cạnh tranh cao so với giá trị mà sản phẩm mang lại.</a:t>
            </a:r>
          </a:p>
          <a:p>
            <a:pPr algn="l">
              <a:lnSpc>
                <a:spcPts val="1931"/>
              </a:lnSpc>
            </a:pPr>
            <a:r>
              <a:rPr lang="en-US" sz="1379">
                <a:solidFill>
                  <a:srgbClr val="000000"/>
                </a:solidFill>
                <a:latin typeface="Arimo"/>
                <a:ea typeface="Arimo"/>
                <a:cs typeface="Arimo"/>
                <a:sym typeface="Arimo"/>
              </a:rPr>
              <a:t>Thuận lợi:</a:t>
            </a:r>
          </a:p>
          <a:p>
            <a:pPr algn="l" marL="297859" indent="-148930" lvl="1">
              <a:lnSpc>
                <a:spcPts val="1931"/>
              </a:lnSpc>
              <a:buFont typeface="Arial"/>
              <a:buChar char="•"/>
            </a:pPr>
            <a:r>
              <a:rPr lang="en-US" sz="1379">
                <a:solidFill>
                  <a:srgbClr val="000000"/>
                </a:solidFill>
                <a:latin typeface="Arimo"/>
                <a:ea typeface="Arimo"/>
                <a:cs typeface="Arimo"/>
                <a:sym typeface="Arimo"/>
              </a:rPr>
              <a:t>Đội ngũ đã tự phát triển được sản phẩm MVP hoàn chỉnh.</a:t>
            </a:r>
          </a:p>
          <a:p>
            <a:pPr algn="l" marL="297859" indent="-148930" lvl="1">
              <a:lnSpc>
                <a:spcPts val="1931"/>
              </a:lnSpc>
              <a:buFont typeface="Arial"/>
              <a:buChar char="•"/>
            </a:pPr>
            <a:r>
              <a:rPr lang="en-US" sz="1379">
                <a:solidFill>
                  <a:srgbClr val="000000"/>
                </a:solidFill>
                <a:latin typeface="Arimo"/>
                <a:ea typeface="Arimo"/>
                <a:cs typeface="Arimo"/>
                <a:sym typeface="Arimo"/>
              </a:rPr>
              <a:t>Công nghệ local-first giúp giảm đáng kể chi phí server và bảo vệ quyền riêng tư.</a:t>
            </a:r>
          </a:p>
          <a:p>
            <a:pPr algn="l" marL="297859" indent="-148930" lvl="1">
              <a:lnSpc>
                <a:spcPts val="1931"/>
              </a:lnSpc>
              <a:buFont typeface="Arial"/>
              <a:buChar char="•"/>
            </a:pPr>
            <a:r>
              <a:rPr lang="en-US" sz="1379">
                <a:solidFill>
                  <a:srgbClr val="000000"/>
                </a:solidFill>
                <a:latin typeface="Arimo"/>
                <a:ea typeface="Arimo"/>
                <a:cs typeface="Arimo"/>
                <a:sym typeface="Arimo"/>
              </a:rPr>
              <a:t>Thị trường sinh viên, freelancer và doanh nghiệp nhỏ tại Việt Nam đang tăng trưởng mạnh.</a:t>
            </a:r>
          </a:p>
          <a:p>
            <a:pPr algn="l">
              <a:lnSpc>
                <a:spcPts val="1931"/>
              </a:lnSpc>
            </a:pPr>
            <a:r>
              <a:rPr lang="en-US" sz="1379">
                <a:solidFill>
                  <a:srgbClr val="000000"/>
                </a:solidFill>
                <a:latin typeface="Arimo"/>
                <a:ea typeface="Arimo"/>
                <a:cs typeface="Arimo"/>
                <a:sym typeface="Arimo"/>
              </a:rPr>
              <a:t>Khó khăn:</a:t>
            </a:r>
          </a:p>
          <a:p>
            <a:pPr algn="l" marL="297859" indent="-148930" lvl="1">
              <a:lnSpc>
                <a:spcPts val="1931"/>
              </a:lnSpc>
              <a:buFont typeface="Arial"/>
              <a:buChar char="•"/>
            </a:pPr>
            <a:r>
              <a:rPr lang="en-US" sz="1379">
                <a:solidFill>
                  <a:srgbClr val="000000"/>
                </a:solidFill>
                <a:latin typeface="Arimo"/>
                <a:ea typeface="Arimo"/>
                <a:cs typeface="Arimo"/>
                <a:sym typeface="Arimo"/>
              </a:rPr>
              <a:t>Cạnh tranh từ các công cụ nước ngoài (RescueTime, Forest, Hubstaff).</a:t>
            </a:r>
          </a:p>
          <a:p>
            <a:pPr algn="l" marL="297859" indent="-148930" lvl="1">
              <a:lnSpc>
                <a:spcPts val="1931"/>
              </a:lnSpc>
              <a:buFont typeface="Arial"/>
              <a:buChar char="•"/>
            </a:pPr>
            <a:r>
              <a:rPr lang="en-US" sz="1379">
                <a:solidFill>
                  <a:srgbClr val="000000"/>
                </a:solidFill>
                <a:latin typeface="Arimo"/>
                <a:ea typeface="Arimo"/>
                <a:cs typeface="Arimo"/>
                <a:sym typeface="Arimo"/>
              </a:rPr>
              <a:t>Xây dựng lòng tin của người dùng về quyền riêng tư.</a:t>
            </a:r>
          </a:p>
          <a:p>
            <a:pPr algn="l" marL="297859" indent="-148930" lvl="1">
              <a:lnSpc>
                <a:spcPts val="1931"/>
              </a:lnSpc>
              <a:buFont typeface="Arial"/>
              <a:buChar char="•"/>
            </a:pPr>
            <a:r>
              <a:rPr lang="en-US" sz="1379">
                <a:solidFill>
                  <a:srgbClr val="000000"/>
                </a:solidFill>
                <a:latin typeface="Arimo"/>
                <a:ea typeface="Arimo"/>
                <a:cs typeface="Arimo"/>
                <a:sym typeface="Arimo"/>
              </a:rPr>
              <a:t>Phụ thuộc vào chính sách của Chrome Web Store khi publish.</a:t>
            </a:r>
          </a:p>
          <a:p>
            <a:pPr algn="l">
              <a:lnSpc>
                <a:spcPts val="1931"/>
              </a:lnSpc>
            </a:pPr>
            <a:r>
              <a:rPr lang="en-US" sz="1379">
                <a:solidFill>
                  <a:srgbClr val="000000"/>
                </a:solidFill>
                <a:latin typeface="Arimo"/>
                <a:ea typeface="Arimo"/>
                <a:cs typeface="Arimo"/>
                <a:sym typeface="Arimo"/>
              </a:rPr>
              <a:t>Tính cạnh tranh: FocusProof có lợi thế vượt trội về quyền riêng tư (local-first) và chứng chỉ PDF có QR xác thực – hai tính năng mà hầu hết đối thủ hiện tại chưa sở hữu. Nhờ đó, sản phẩm có khả năng cạnh tranh mạnh trên thị trường.</a:t>
            </a:r>
          </a:p>
          <a:p>
            <a:pPr algn="l">
              <a:lnSpc>
                <a:spcPts val="1931"/>
              </a:lnSpc>
            </a:pPr>
          </a:p>
        </p:txBody>
      </p:sp>
      <p:sp>
        <p:nvSpPr>
          <p:cNvPr name="TextBox 107" id="107"/>
          <p:cNvSpPr txBox="true"/>
          <p:nvPr/>
        </p:nvSpPr>
        <p:spPr>
          <a:xfrm rot="0">
            <a:off x="2138400" y="18765031"/>
            <a:ext cx="3029475" cy="398176"/>
          </a:xfrm>
          <a:prstGeom prst="rect">
            <a:avLst/>
          </a:prstGeom>
        </p:spPr>
        <p:txBody>
          <a:bodyPr anchor="t" rtlCol="false" tIns="0" lIns="0" bIns="0" rIns="0">
            <a:spAutoFit/>
          </a:bodyPr>
          <a:lstStyle/>
          <a:p>
            <a:pPr algn="l">
              <a:lnSpc>
                <a:spcPts val="3151"/>
              </a:lnSpc>
            </a:pPr>
            <a:r>
              <a:rPr lang="en-US" sz="2251" b="true">
                <a:solidFill>
                  <a:srgbClr val="FFFFFF"/>
                </a:solidFill>
                <a:latin typeface="Arimo Bold"/>
                <a:ea typeface="Arimo Bold"/>
                <a:cs typeface="Arimo Bold"/>
                <a:sym typeface="Arimo Bold"/>
              </a:rPr>
              <a:t>TÍNH KHẢ THI</a:t>
            </a:r>
          </a:p>
        </p:txBody>
      </p:sp>
      <p:sp>
        <p:nvSpPr>
          <p:cNvPr name="TextBox 108" id="108"/>
          <p:cNvSpPr txBox="true"/>
          <p:nvPr/>
        </p:nvSpPr>
        <p:spPr>
          <a:xfrm rot="0">
            <a:off x="1108285" y="18680294"/>
            <a:ext cx="598528" cy="548600"/>
          </a:xfrm>
          <a:prstGeom prst="rect">
            <a:avLst/>
          </a:prstGeom>
        </p:spPr>
        <p:txBody>
          <a:bodyPr anchor="t" rtlCol="false" tIns="0" lIns="0" bIns="0" rIns="0">
            <a:spAutoFit/>
          </a:bodyPr>
          <a:lstStyle/>
          <a:p>
            <a:pPr algn="l">
              <a:lnSpc>
                <a:spcPts val="4352"/>
              </a:lnSpc>
            </a:pPr>
            <a:r>
              <a:rPr lang="en-US" sz="3108" b="true">
                <a:solidFill>
                  <a:srgbClr val="000000"/>
                </a:solidFill>
                <a:latin typeface="Arimo Bold"/>
                <a:ea typeface="Arimo Bold"/>
                <a:cs typeface="Arimo Bold"/>
                <a:sym typeface="Arimo Bold"/>
              </a:rPr>
              <a:t>03</a:t>
            </a:r>
          </a:p>
        </p:txBody>
      </p:sp>
      <p:sp>
        <p:nvSpPr>
          <p:cNvPr name="TextBox 109" id="109"/>
          <p:cNvSpPr txBox="true"/>
          <p:nvPr/>
        </p:nvSpPr>
        <p:spPr>
          <a:xfrm rot="0">
            <a:off x="15080952" y="18139880"/>
            <a:ext cx="583461" cy="173072"/>
          </a:xfrm>
          <a:prstGeom prst="rect">
            <a:avLst/>
          </a:prstGeom>
        </p:spPr>
        <p:txBody>
          <a:bodyPr anchor="t" rtlCol="false" tIns="0" lIns="0" bIns="0" rIns="0">
            <a:spAutoFit/>
          </a:bodyPr>
          <a:lstStyle/>
          <a:p>
            <a:pPr algn="ctr">
              <a:lnSpc>
                <a:spcPts val="1346"/>
              </a:lnSpc>
              <a:spcBef>
                <a:spcPct val="0"/>
              </a:spcBef>
            </a:pPr>
            <a:r>
              <a:rPr lang="en-US" b="true" sz="961">
                <a:solidFill>
                  <a:srgbClr val="000000"/>
                </a:solidFill>
                <a:latin typeface="Arimo Bold"/>
                <a:ea typeface="Arimo Bold"/>
                <a:cs typeface="Arimo Bold"/>
                <a:sym typeface="Arimo Bold"/>
              </a:rPr>
              <a:t> User flow</a:t>
            </a:r>
          </a:p>
        </p:txBody>
      </p:sp>
      <p:sp>
        <p:nvSpPr>
          <p:cNvPr name="TextBox 110" id="110"/>
          <p:cNvSpPr txBox="true"/>
          <p:nvPr/>
        </p:nvSpPr>
        <p:spPr>
          <a:xfrm rot="0">
            <a:off x="16007458" y="18950410"/>
            <a:ext cx="4019235" cy="238656"/>
          </a:xfrm>
          <a:prstGeom prst="rect">
            <a:avLst/>
          </a:prstGeom>
        </p:spPr>
        <p:txBody>
          <a:bodyPr anchor="t" rtlCol="false" tIns="0" lIns="0" bIns="0" rIns="0">
            <a:spAutoFit/>
          </a:bodyPr>
          <a:lstStyle/>
          <a:p>
            <a:pPr algn="ctr">
              <a:lnSpc>
                <a:spcPts val="943"/>
              </a:lnSpc>
              <a:spcBef>
                <a:spcPct val="0"/>
              </a:spcBef>
            </a:pPr>
            <a:r>
              <a:rPr lang="en-US" b="true" sz="673">
                <a:solidFill>
                  <a:srgbClr val="000000"/>
                </a:solidFill>
                <a:latin typeface="Arimo Bold"/>
                <a:ea typeface="Arimo Bold"/>
                <a:cs typeface="Arimo Bold"/>
                <a:sym typeface="Arimo Bold"/>
              </a:rPr>
              <a:t>Hình 3: Hành trình người dùng từ cài đặt → trial 7 ngày → hết credit → popup 3 lựa chọn (mời bạn / Pro / Team) → MRR → tái đầu tư. Vòng lặp viral loop được tích hợp sẵn.</a:t>
            </a:r>
          </a:p>
        </p:txBody>
      </p:sp>
      <p:sp>
        <p:nvSpPr>
          <p:cNvPr name="TextBox 111" id="111"/>
          <p:cNvSpPr txBox="true"/>
          <p:nvPr/>
        </p:nvSpPr>
        <p:spPr>
          <a:xfrm rot="0">
            <a:off x="11684877" y="18931436"/>
            <a:ext cx="4041557" cy="402135"/>
          </a:xfrm>
          <a:prstGeom prst="rect">
            <a:avLst/>
          </a:prstGeom>
        </p:spPr>
        <p:txBody>
          <a:bodyPr anchor="t" rtlCol="false" tIns="0" lIns="0" bIns="0" rIns="0">
            <a:spAutoFit/>
          </a:bodyPr>
          <a:lstStyle/>
          <a:p>
            <a:pPr algn="ctr">
              <a:lnSpc>
                <a:spcPts val="1042"/>
              </a:lnSpc>
              <a:spcBef>
                <a:spcPct val="0"/>
              </a:spcBef>
            </a:pPr>
            <a:r>
              <a:rPr lang="en-US" b="true" sz="744">
                <a:solidFill>
                  <a:srgbClr val="000000"/>
                </a:solidFill>
                <a:latin typeface="Arimo Bold"/>
                <a:ea typeface="Arimo Bold"/>
                <a:cs typeface="Arimo Bold"/>
                <a:sym typeface="Arimo Bold"/>
              </a:rPr>
              <a:t>Hình 4: Pipeline Core Engine — thu thập 3 tín hiệu (Face qua MediaPipe, Activity qua keyboard/mouse, Tab qua chrome.tabs API) → Goal Evaluator → Focus Score → Tùy chọn AI Analysis → PDF Certificate có QR + SHA-256.</a:t>
            </a:r>
          </a:p>
        </p:txBody>
      </p:sp>
      <p:sp>
        <p:nvSpPr>
          <p:cNvPr name="TextBox 112" id="112"/>
          <p:cNvSpPr txBox="true"/>
          <p:nvPr/>
        </p:nvSpPr>
        <p:spPr>
          <a:xfrm rot="0">
            <a:off x="13705656" y="25718802"/>
            <a:ext cx="6472459" cy="2753956"/>
          </a:xfrm>
          <a:prstGeom prst="rect">
            <a:avLst/>
          </a:prstGeom>
        </p:spPr>
        <p:txBody>
          <a:bodyPr anchor="t" rtlCol="false" tIns="0" lIns="0" bIns="0" rIns="0">
            <a:spAutoFit/>
          </a:bodyPr>
          <a:lstStyle/>
          <a:p>
            <a:pPr algn="just">
              <a:lnSpc>
                <a:spcPts val="1706"/>
              </a:lnSpc>
            </a:pPr>
            <a:r>
              <a:rPr lang="en-US" sz="1218">
                <a:solidFill>
                  <a:srgbClr val="000000"/>
                </a:solidFill>
                <a:latin typeface="Arimo"/>
                <a:ea typeface="Arimo"/>
                <a:cs typeface="Arimo"/>
                <a:sym typeface="Arimo"/>
              </a:rPr>
              <a:t>Nguồn thu chính:</a:t>
            </a:r>
          </a:p>
          <a:p>
            <a:pPr algn="just" marL="263161" indent="-131580" lvl="1">
              <a:lnSpc>
                <a:spcPts val="1706"/>
              </a:lnSpc>
              <a:buFont typeface="Arial"/>
              <a:buChar char="•"/>
            </a:pPr>
            <a:r>
              <a:rPr lang="en-US" sz="1218">
                <a:solidFill>
                  <a:srgbClr val="000000"/>
                </a:solidFill>
                <a:latin typeface="Arimo"/>
                <a:ea typeface="Arimo"/>
                <a:cs typeface="Arimo"/>
                <a:sym typeface="Arimo"/>
              </a:rPr>
              <a:t>Gói Pro cá nhân (79.000 VNĐ/tháng)</a:t>
            </a:r>
          </a:p>
          <a:p>
            <a:pPr algn="just" marL="263161" indent="-131580" lvl="1">
              <a:lnSpc>
                <a:spcPts val="1706"/>
              </a:lnSpc>
              <a:buFont typeface="Arial"/>
              <a:buChar char="•"/>
            </a:pPr>
            <a:r>
              <a:rPr lang="en-US" sz="1218">
                <a:solidFill>
                  <a:srgbClr val="000000"/>
                </a:solidFill>
                <a:latin typeface="Arimo"/>
                <a:ea typeface="Arimo"/>
                <a:cs typeface="Arimo"/>
                <a:sym typeface="Arimo"/>
              </a:rPr>
              <a:t>Gói Team/Education (99.000 VNĐ/người/tháng)</a:t>
            </a:r>
          </a:p>
          <a:p>
            <a:pPr algn="just" marL="263161" indent="-131580" lvl="1">
              <a:lnSpc>
                <a:spcPts val="1706"/>
              </a:lnSpc>
              <a:buFont typeface="Arial"/>
              <a:buChar char="•"/>
            </a:pPr>
            <a:r>
              <a:rPr lang="en-US" sz="1218">
                <a:solidFill>
                  <a:srgbClr val="000000"/>
                </a:solidFill>
                <a:latin typeface="Arimo"/>
                <a:ea typeface="Arimo"/>
                <a:cs typeface="Arimo"/>
                <a:sym typeface="Arimo"/>
              </a:rPr>
              <a:t>Credit bổ sung cho AI</a:t>
            </a:r>
          </a:p>
          <a:p>
            <a:pPr algn="just">
              <a:lnSpc>
                <a:spcPts val="1706"/>
              </a:lnSpc>
            </a:pPr>
            <a:r>
              <a:rPr lang="en-US" sz="1218">
                <a:solidFill>
                  <a:srgbClr val="000000"/>
                </a:solidFill>
                <a:latin typeface="Arimo"/>
                <a:ea typeface="Arimo"/>
                <a:cs typeface="Arimo"/>
                <a:sym typeface="Arimo"/>
              </a:rPr>
              <a:t>Dự kiến năm đầu (2026):</a:t>
            </a:r>
          </a:p>
          <a:p>
            <a:pPr algn="just" marL="263161" indent="-131580" lvl="1">
              <a:lnSpc>
                <a:spcPts val="1706"/>
              </a:lnSpc>
              <a:buFont typeface="Arial"/>
              <a:buChar char="•"/>
            </a:pPr>
            <a:r>
              <a:rPr lang="en-US" sz="1218">
                <a:solidFill>
                  <a:srgbClr val="000000"/>
                </a:solidFill>
                <a:latin typeface="Arimo"/>
                <a:ea typeface="Arimo"/>
                <a:cs typeface="Arimo"/>
                <a:sym typeface="Arimo"/>
              </a:rPr>
              <a:t>Doanh thu: khoảng 4 tỷ VNĐ</a:t>
            </a:r>
          </a:p>
          <a:p>
            <a:pPr algn="just" marL="263161" indent="-131580" lvl="1">
              <a:lnSpc>
                <a:spcPts val="1706"/>
              </a:lnSpc>
              <a:buFont typeface="Arial"/>
              <a:buChar char="•"/>
            </a:pPr>
            <a:r>
              <a:rPr lang="en-US" sz="1218">
                <a:solidFill>
                  <a:srgbClr val="000000"/>
                </a:solidFill>
                <a:latin typeface="Arimo"/>
                <a:ea typeface="Arimo"/>
                <a:cs typeface="Arimo"/>
                <a:sym typeface="Arimo"/>
              </a:rPr>
              <a:t>Chi phí vận</a:t>
            </a:r>
            <a:r>
              <a:rPr lang="en-US" sz="1218">
                <a:solidFill>
                  <a:srgbClr val="000000"/>
                </a:solidFill>
                <a:latin typeface="Arimo"/>
                <a:ea typeface="Arimo"/>
                <a:cs typeface="Arimo"/>
                <a:sym typeface="Arimo"/>
              </a:rPr>
              <a:t> hành: khoảng 450 triệu VNĐ</a:t>
            </a:r>
          </a:p>
          <a:p>
            <a:pPr algn="just" marL="263161" indent="-131580" lvl="1">
              <a:lnSpc>
                <a:spcPts val="1706"/>
              </a:lnSpc>
              <a:buFont typeface="Arial"/>
              <a:buChar char="•"/>
            </a:pPr>
            <a:r>
              <a:rPr lang="en-US" sz="1218">
                <a:solidFill>
                  <a:srgbClr val="000000"/>
                </a:solidFill>
                <a:latin typeface="Arimo"/>
                <a:ea typeface="Arimo"/>
                <a:cs typeface="Arimo"/>
                <a:sym typeface="Arimo"/>
              </a:rPr>
              <a:t>Lợi nhuận ròng: khoảng 3 tỷ VNĐ</a:t>
            </a:r>
          </a:p>
          <a:p>
            <a:pPr algn="just" marL="263161" indent="-131580" lvl="1">
              <a:lnSpc>
                <a:spcPts val="1706"/>
              </a:lnSpc>
              <a:buFont typeface="Arial"/>
              <a:buChar char="•"/>
            </a:pPr>
            <a:r>
              <a:rPr lang="en-US" sz="1218">
                <a:solidFill>
                  <a:srgbClr val="000000"/>
                </a:solidFill>
                <a:latin typeface="Arimo"/>
                <a:ea typeface="Arimo"/>
                <a:cs typeface="Arimo"/>
                <a:sym typeface="Arimo"/>
              </a:rPr>
              <a:t>Hoàn vốn: tháng thứ 5–6</a:t>
            </a:r>
          </a:p>
          <a:p>
            <a:pPr algn="just">
              <a:lnSpc>
                <a:spcPts val="1706"/>
              </a:lnSpc>
            </a:pPr>
            <a:r>
              <a:rPr lang="en-US" sz="1218">
                <a:solidFill>
                  <a:srgbClr val="000000"/>
                </a:solidFill>
                <a:latin typeface="Arimo"/>
                <a:ea typeface="Arimo"/>
                <a:cs typeface="Arimo"/>
                <a:sym typeface="Arimo"/>
              </a:rPr>
              <a:t>Tăng trưởng &amp; Tác động xã hội: Năm thứ hai dự kiến đạt 150.000 người dùng. Ngoài lợi nhuận kinh tế, FocusProof góp phần nâng cao năng suất và thói quen tập trung cho sinh viên, freelancer Việt Nam.</a:t>
            </a:r>
          </a:p>
          <a:p>
            <a:pPr algn="just">
              <a:lnSpc>
                <a:spcPts val="1706"/>
              </a:lnSpc>
            </a:pPr>
          </a:p>
        </p:txBody>
      </p:sp>
      <p:sp>
        <p:nvSpPr>
          <p:cNvPr name="TextBox 113" id="113"/>
          <p:cNvSpPr txBox="true"/>
          <p:nvPr/>
        </p:nvSpPr>
        <p:spPr>
          <a:xfrm rot="0">
            <a:off x="16535353" y="25181860"/>
            <a:ext cx="3887403" cy="383456"/>
          </a:xfrm>
          <a:prstGeom prst="rect">
            <a:avLst/>
          </a:prstGeom>
        </p:spPr>
        <p:txBody>
          <a:bodyPr anchor="t" rtlCol="false" tIns="0" lIns="0" bIns="0" rIns="0">
            <a:spAutoFit/>
          </a:bodyPr>
          <a:lstStyle/>
          <a:p>
            <a:pPr algn="l">
              <a:lnSpc>
                <a:spcPts val="3015"/>
              </a:lnSpc>
            </a:pPr>
            <a:r>
              <a:rPr lang="en-US" sz="2153" b="true">
                <a:solidFill>
                  <a:srgbClr val="FFFFFF"/>
                </a:solidFill>
                <a:latin typeface="Arimo Bold"/>
                <a:ea typeface="Arimo Bold"/>
                <a:cs typeface="Arimo Bold"/>
                <a:sym typeface="Arimo Bold"/>
              </a:rPr>
              <a:t>TIỀM NĂNG DỰ ÁN</a:t>
            </a:r>
          </a:p>
        </p:txBody>
      </p:sp>
      <p:sp>
        <p:nvSpPr>
          <p:cNvPr name="TextBox 114" id="114"/>
          <p:cNvSpPr txBox="true"/>
          <p:nvPr/>
        </p:nvSpPr>
        <p:spPr>
          <a:xfrm rot="0">
            <a:off x="19933475" y="25099958"/>
            <a:ext cx="489282" cy="528210"/>
          </a:xfrm>
          <a:prstGeom prst="rect">
            <a:avLst/>
          </a:prstGeom>
        </p:spPr>
        <p:txBody>
          <a:bodyPr anchor="t" rtlCol="false" tIns="0" lIns="0" bIns="0" rIns="0">
            <a:spAutoFit/>
          </a:bodyPr>
          <a:lstStyle/>
          <a:p>
            <a:pPr algn="r">
              <a:lnSpc>
                <a:spcPts val="4164"/>
              </a:lnSpc>
            </a:pPr>
            <a:r>
              <a:rPr lang="en-US" b="true" sz="2974">
                <a:solidFill>
                  <a:srgbClr val="000000"/>
                </a:solidFill>
                <a:latin typeface="Arimo Bold"/>
                <a:ea typeface="Arimo Bold"/>
                <a:cs typeface="Arimo Bold"/>
                <a:sym typeface="Arimo Bold"/>
              </a:rPr>
              <a:t>04</a:t>
            </a:r>
          </a:p>
        </p:txBody>
      </p:sp>
      <p:sp>
        <p:nvSpPr>
          <p:cNvPr name="TextBox 115" id="115"/>
          <p:cNvSpPr txBox="true"/>
          <p:nvPr/>
        </p:nvSpPr>
        <p:spPr>
          <a:xfrm rot="0">
            <a:off x="797169" y="29101452"/>
            <a:ext cx="5323333" cy="274221"/>
          </a:xfrm>
          <a:prstGeom prst="rect">
            <a:avLst/>
          </a:prstGeom>
        </p:spPr>
        <p:txBody>
          <a:bodyPr anchor="t" rtlCol="false" tIns="0" lIns="0" bIns="0" rIns="0">
            <a:spAutoFit/>
          </a:bodyPr>
          <a:lstStyle/>
          <a:p>
            <a:pPr algn="ctr">
              <a:lnSpc>
                <a:spcPts val="1095"/>
              </a:lnSpc>
              <a:spcBef>
                <a:spcPct val="0"/>
              </a:spcBef>
            </a:pPr>
            <a:r>
              <a:rPr lang="en-US" b="true" sz="782">
                <a:solidFill>
                  <a:srgbClr val="000000"/>
                </a:solidFill>
                <a:latin typeface="Arimo Bold"/>
                <a:ea typeface="Arimo Bold"/>
                <a:cs typeface="Arimo Bold"/>
                <a:sym typeface="Arimo Bold"/>
              </a:rPr>
              <a:t>Hình 5: Sequence diagram thể hiện logic trừ Credit ATOMIC server-side tại Supabase Edge Function — chống bypass client, xử lý các trường hợp Pro/Team/Trial/đủ Credit/thiếu Credit.</a:t>
            </a:r>
          </a:p>
        </p:txBody>
      </p:sp>
      <p:pic>
        <p:nvPicPr>
          <p:cNvPr name="Picture 116" id="116"/>
          <p:cNvPicPr>
            <a:picLocks noChangeAspect="true"/>
          </p:cNvPicPr>
          <p:nvPr/>
        </p:nvPicPr>
        <p:blipFill>
          <a:blip r:embed="rId29"/>
          <a:stretch>
            <a:fillRect/>
          </a:stretch>
        </p:blipFill>
        <p:spPr>
          <a:xfrm rot="0">
            <a:off x="16184349" y="3363773"/>
            <a:ext cx="1104826" cy="1104826"/>
          </a:xfrm>
          <a:prstGeom prst="rect">
            <a:avLst/>
          </a:prstGeom>
        </p:spPr>
      </p:pic>
      <p:sp>
        <p:nvSpPr>
          <p:cNvPr name="TextBox 117" id="117"/>
          <p:cNvSpPr txBox="true"/>
          <p:nvPr/>
        </p:nvSpPr>
        <p:spPr>
          <a:xfrm rot="0">
            <a:off x="16007458" y="4404009"/>
            <a:ext cx="1579119" cy="167990"/>
          </a:xfrm>
          <a:prstGeom prst="rect">
            <a:avLst/>
          </a:prstGeom>
        </p:spPr>
        <p:txBody>
          <a:bodyPr anchor="t" rtlCol="false" tIns="0" lIns="0" bIns="0" rIns="0">
            <a:spAutoFit/>
          </a:bodyPr>
          <a:lstStyle/>
          <a:p>
            <a:pPr algn="ctr">
              <a:lnSpc>
                <a:spcPts val="1210"/>
              </a:lnSpc>
              <a:spcBef>
                <a:spcPct val="0"/>
              </a:spcBef>
            </a:pPr>
            <a:r>
              <a:rPr lang="en-US" b="true" sz="864">
                <a:solidFill>
                  <a:srgbClr val="FFFFFF"/>
                </a:solidFill>
                <a:latin typeface="Arimo Bold"/>
                <a:ea typeface="Arimo Bold"/>
                <a:cs typeface="Arimo Bold"/>
                <a:sym typeface="Arimo Bold"/>
              </a:rPr>
              <a:t>https://focusproof.hcm.it.com/</a:t>
            </a:r>
          </a:p>
        </p:txBody>
      </p:sp>
      <p:sp>
        <p:nvSpPr>
          <p:cNvPr name="TextBox 118" id="118"/>
          <p:cNvSpPr txBox="true"/>
          <p:nvPr/>
        </p:nvSpPr>
        <p:spPr>
          <a:xfrm rot="0">
            <a:off x="14299742" y="28679961"/>
            <a:ext cx="3953352" cy="611310"/>
          </a:xfrm>
          <a:prstGeom prst="rect">
            <a:avLst/>
          </a:prstGeom>
        </p:spPr>
        <p:txBody>
          <a:bodyPr anchor="t" rtlCol="false" tIns="0" lIns="0" bIns="0" rIns="0">
            <a:spAutoFit/>
          </a:bodyPr>
          <a:lstStyle/>
          <a:p>
            <a:pPr algn="l">
              <a:lnSpc>
                <a:spcPts val="1230"/>
              </a:lnSpc>
            </a:pPr>
            <a:r>
              <a:rPr lang="en-US" sz="879" b="true">
                <a:solidFill>
                  <a:srgbClr val="000000"/>
                </a:solidFill>
                <a:latin typeface="Arimo Bold"/>
                <a:ea typeface="Arimo Bold"/>
                <a:cs typeface="Arimo Bold"/>
                <a:sym typeface="Arimo Bold"/>
              </a:rPr>
              <a:t>Thông tin liên hệ:</a:t>
            </a:r>
          </a:p>
          <a:p>
            <a:pPr algn="l">
              <a:lnSpc>
                <a:spcPts val="1230"/>
              </a:lnSpc>
            </a:pPr>
            <a:r>
              <a:rPr lang="en-US" sz="879" b="true">
                <a:solidFill>
                  <a:srgbClr val="000000"/>
                </a:solidFill>
                <a:latin typeface="Arimo Bold"/>
                <a:ea typeface="Arimo Bold"/>
                <a:cs typeface="Arimo Bold"/>
                <a:sym typeface="Arimo Bold"/>
              </a:rPr>
              <a:t>Ngô Bình Minh - 524H0169 - TDTU</a:t>
            </a:r>
          </a:p>
          <a:p>
            <a:pPr algn="l">
              <a:lnSpc>
                <a:spcPts val="1230"/>
              </a:lnSpc>
            </a:pPr>
            <a:r>
              <a:rPr lang="en-US" sz="879" b="true">
                <a:solidFill>
                  <a:srgbClr val="000000"/>
                </a:solidFill>
                <a:latin typeface="Arimo Bold"/>
                <a:ea typeface="Arimo Bold"/>
                <a:cs typeface="Arimo Bold"/>
                <a:sym typeface="Arimo Bold"/>
              </a:rPr>
              <a:t>Email: ngobinhminh2322006@gmail.com // 524H0169@student.tdtu.edu.vn</a:t>
            </a:r>
          </a:p>
          <a:p>
            <a:pPr algn="l">
              <a:lnSpc>
                <a:spcPts val="1230"/>
              </a:lnSpc>
              <a:spcBef>
                <a:spcPct val="0"/>
              </a:spcBef>
            </a:pPr>
            <a:r>
              <a:rPr lang="en-US" b="true" sz="879">
                <a:solidFill>
                  <a:srgbClr val="000000"/>
                </a:solidFill>
                <a:latin typeface="Arimo Bold"/>
                <a:ea typeface="Arimo Bold"/>
                <a:cs typeface="Arimo Bold"/>
                <a:sym typeface="Arimo Bold"/>
              </a:rPr>
              <a:t>SĐT: 0905484286</a:t>
            </a:r>
          </a:p>
        </p:txBody>
      </p:sp>
      <p:sp>
        <p:nvSpPr>
          <p:cNvPr name="Freeform 119" id="119"/>
          <p:cNvSpPr/>
          <p:nvPr/>
        </p:nvSpPr>
        <p:spPr>
          <a:xfrm flipH="false" flipV="false" rot="0">
            <a:off x="13592293" y="28633659"/>
            <a:ext cx="632735" cy="742014"/>
          </a:xfrm>
          <a:custGeom>
            <a:avLst/>
            <a:gdLst/>
            <a:ahLst/>
            <a:cxnLst/>
            <a:rect r="r" b="b" t="t" l="l"/>
            <a:pathLst>
              <a:path h="742014" w="632735">
                <a:moveTo>
                  <a:pt x="0" y="0"/>
                </a:moveTo>
                <a:lnTo>
                  <a:pt x="632735" y="0"/>
                </a:lnTo>
                <a:lnTo>
                  <a:pt x="632735" y="742013"/>
                </a:lnTo>
                <a:lnTo>
                  <a:pt x="0" y="742013"/>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20" id="120"/>
          <p:cNvSpPr/>
          <p:nvPr/>
        </p:nvSpPr>
        <p:spPr>
          <a:xfrm flipH="false" flipV="false" rot="0">
            <a:off x="-993228" y="29101874"/>
            <a:ext cx="2888701" cy="2487894"/>
          </a:xfrm>
          <a:custGeom>
            <a:avLst/>
            <a:gdLst/>
            <a:ahLst/>
            <a:cxnLst/>
            <a:rect r="r" b="b" t="t" l="l"/>
            <a:pathLst>
              <a:path h="2487894" w="2888701">
                <a:moveTo>
                  <a:pt x="0" y="0"/>
                </a:moveTo>
                <a:lnTo>
                  <a:pt x="2888702" y="0"/>
                </a:lnTo>
                <a:lnTo>
                  <a:pt x="2888702" y="2487894"/>
                </a:lnTo>
                <a:lnTo>
                  <a:pt x="0" y="2487894"/>
                </a:lnTo>
                <a:lnTo>
                  <a:pt x="0" y="0"/>
                </a:lnTo>
                <a:close/>
              </a:path>
            </a:pathLst>
          </a:custGeom>
          <a:blipFill>
            <a:blip r:embed="rId32"/>
            <a:stretch>
              <a:fillRect l="0" t="0" r="0" b="0"/>
            </a:stretch>
          </a:blipFill>
        </p:spPr>
      </p:sp>
      <p:sp>
        <p:nvSpPr>
          <p:cNvPr name="Freeform 121" id="121"/>
          <p:cNvSpPr/>
          <p:nvPr/>
        </p:nvSpPr>
        <p:spPr>
          <a:xfrm flipH="false" flipV="false" rot="0">
            <a:off x="195867" y="29122342"/>
            <a:ext cx="1030684" cy="901390"/>
          </a:xfrm>
          <a:custGeom>
            <a:avLst/>
            <a:gdLst/>
            <a:ahLst/>
            <a:cxnLst/>
            <a:rect r="r" b="b" t="t" l="l"/>
            <a:pathLst>
              <a:path h="901390" w="1030684">
                <a:moveTo>
                  <a:pt x="0" y="0"/>
                </a:moveTo>
                <a:lnTo>
                  <a:pt x="1030684" y="0"/>
                </a:lnTo>
                <a:lnTo>
                  <a:pt x="1030684" y="901390"/>
                </a:lnTo>
                <a:lnTo>
                  <a:pt x="0" y="901390"/>
                </a:lnTo>
                <a:lnTo>
                  <a:pt x="0" y="0"/>
                </a:lnTo>
                <a:close/>
              </a:path>
            </a:pathLst>
          </a:custGeom>
          <a:blipFill>
            <a:blip r:embed="rId33"/>
            <a:stretch>
              <a:fillRect l="0" t="0" r="0" b="0"/>
            </a:stretch>
          </a:blipFill>
        </p:spPr>
      </p:sp>
      <p:sp>
        <p:nvSpPr>
          <p:cNvPr name="Freeform 122" id="122"/>
          <p:cNvSpPr/>
          <p:nvPr/>
        </p:nvSpPr>
        <p:spPr>
          <a:xfrm flipH="false" flipV="false" rot="0">
            <a:off x="70647" y="29004665"/>
            <a:ext cx="300525" cy="276083"/>
          </a:xfrm>
          <a:custGeom>
            <a:avLst/>
            <a:gdLst/>
            <a:ahLst/>
            <a:cxnLst/>
            <a:rect r="r" b="b" t="t" l="l"/>
            <a:pathLst>
              <a:path h="276083" w="300525">
                <a:moveTo>
                  <a:pt x="0" y="0"/>
                </a:moveTo>
                <a:lnTo>
                  <a:pt x="300525" y="0"/>
                </a:lnTo>
                <a:lnTo>
                  <a:pt x="300525" y="276084"/>
                </a:lnTo>
                <a:lnTo>
                  <a:pt x="0" y="276084"/>
                </a:lnTo>
                <a:lnTo>
                  <a:pt x="0" y="0"/>
                </a:lnTo>
                <a:close/>
              </a:path>
            </a:pathLst>
          </a:custGeom>
          <a:blipFill>
            <a:blip r:embed="rId34"/>
            <a:stretch>
              <a:fillRect l="0" t="0" r="0" b="0"/>
            </a:stretch>
          </a:blipFill>
        </p:spPr>
      </p:sp>
      <p:sp>
        <p:nvSpPr>
          <p:cNvPr name="Freeform 123" id="123"/>
          <p:cNvSpPr/>
          <p:nvPr/>
        </p:nvSpPr>
        <p:spPr>
          <a:xfrm flipH="false" flipV="false" rot="0">
            <a:off x="1028942" y="29078433"/>
            <a:ext cx="121512" cy="111630"/>
          </a:xfrm>
          <a:custGeom>
            <a:avLst/>
            <a:gdLst/>
            <a:ahLst/>
            <a:cxnLst/>
            <a:rect r="r" b="b" t="t" l="l"/>
            <a:pathLst>
              <a:path h="111630" w="121512">
                <a:moveTo>
                  <a:pt x="0" y="0"/>
                </a:moveTo>
                <a:lnTo>
                  <a:pt x="121512" y="0"/>
                </a:lnTo>
                <a:lnTo>
                  <a:pt x="121512" y="111630"/>
                </a:lnTo>
                <a:lnTo>
                  <a:pt x="0" y="111630"/>
                </a:lnTo>
                <a:lnTo>
                  <a:pt x="0" y="0"/>
                </a:lnTo>
                <a:close/>
              </a:path>
            </a:pathLst>
          </a:custGeom>
          <a:blipFill>
            <a:blip r:embed="rId34"/>
            <a:stretch>
              <a:fillRect l="0" t="0" r="0" b="0"/>
            </a:stretch>
          </a:blipFill>
        </p:spPr>
      </p:sp>
      <p:sp>
        <p:nvSpPr>
          <p:cNvPr name="Freeform 124" id="124"/>
          <p:cNvSpPr/>
          <p:nvPr/>
        </p:nvSpPr>
        <p:spPr>
          <a:xfrm flipH="false" flipV="false" rot="0">
            <a:off x="665231" y="30038830"/>
            <a:ext cx="91957" cy="84478"/>
          </a:xfrm>
          <a:custGeom>
            <a:avLst/>
            <a:gdLst/>
            <a:ahLst/>
            <a:cxnLst/>
            <a:rect r="r" b="b" t="t" l="l"/>
            <a:pathLst>
              <a:path h="84478" w="91957">
                <a:moveTo>
                  <a:pt x="0" y="0"/>
                </a:moveTo>
                <a:lnTo>
                  <a:pt x="91956" y="0"/>
                </a:lnTo>
                <a:lnTo>
                  <a:pt x="91956" y="84478"/>
                </a:lnTo>
                <a:lnTo>
                  <a:pt x="0" y="84478"/>
                </a:lnTo>
                <a:lnTo>
                  <a:pt x="0" y="0"/>
                </a:lnTo>
                <a:close/>
              </a:path>
            </a:pathLst>
          </a:custGeom>
          <a:blipFill>
            <a:blip r:embed="rId34"/>
            <a:stretch>
              <a:fillRect l="0" t="0" r="0" b="0"/>
            </a:stretch>
          </a:blipFill>
        </p:spPr>
      </p:sp>
      <p:sp>
        <p:nvSpPr>
          <p:cNvPr name="Freeform 125" id="125"/>
          <p:cNvSpPr/>
          <p:nvPr/>
        </p:nvSpPr>
        <p:spPr>
          <a:xfrm flipH="false" flipV="false" rot="0">
            <a:off x="96556" y="29353745"/>
            <a:ext cx="1194567" cy="503510"/>
          </a:xfrm>
          <a:custGeom>
            <a:avLst/>
            <a:gdLst/>
            <a:ahLst/>
            <a:cxnLst/>
            <a:rect r="r" b="b" t="t" l="l"/>
            <a:pathLst>
              <a:path h="503510" w="1194567">
                <a:moveTo>
                  <a:pt x="0" y="0"/>
                </a:moveTo>
                <a:lnTo>
                  <a:pt x="1194567" y="0"/>
                </a:lnTo>
                <a:lnTo>
                  <a:pt x="1194567" y="503509"/>
                </a:lnTo>
                <a:lnTo>
                  <a:pt x="0" y="503509"/>
                </a:lnTo>
                <a:lnTo>
                  <a:pt x="0" y="0"/>
                </a:lnTo>
                <a:close/>
              </a:path>
            </a:pathLst>
          </a:custGeom>
          <a:blipFill>
            <a:blip r:embed="rId35"/>
            <a:stretch>
              <a:fillRect l="0" t="0" r="0" b="0"/>
            </a:stretch>
          </a:blipFill>
        </p:spPr>
      </p:sp>
      <p:sp>
        <p:nvSpPr>
          <p:cNvPr name="Freeform 126" id="126"/>
          <p:cNvSpPr/>
          <p:nvPr/>
        </p:nvSpPr>
        <p:spPr>
          <a:xfrm flipH="false" flipV="false" rot="-3993668">
            <a:off x="19641612" y="27789941"/>
            <a:ext cx="5421182" cy="4666734"/>
          </a:xfrm>
          <a:custGeom>
            <a:avLst/>
            <a:gdLst/>
            <a:ahLst/>
            <a:cxnLst/>
            <a:rect r="r" b="b" t="t" l="l"/>
            <a:pathLst>
              <a:path h="4666734" w="5421182">
                <a:moveTo>
                  <a:pt x="0" y="0"/>
                </a:moveTo>
                <a:lnTo>
                  <a:pt x="5421183" y="0"/>
                </a:lnTo>
                <a:lnTo>
                  <a:pt x="5421183" y="4666734"/>
                </a:lnTo>
                <a:lnTo>
                  <a:pt x="0" y="4666734"/>
                </a:lnTo>
                <a:lnTo>
                  <a:pt x="0" y="0"/>
                </a:lnTo>
                <a:close/>
              </a:path>
            </a:pathLst>
          </a:custGeom>
          <a:blipFill>
            <a:blip r:embed="rId32"/>
            <a:stretch>
              <a:fillRect l="0" t="0" r="0" b="0"/>
            </a:stretch>
          </a:blipFill>
        </p:spPr>
      </p:sp>
      <p:sp>
        <p:nvSpPr>
          <p:cNvPr name="Freeform 127" id="127"/>
          <p:cNvSpPr/>
          <p:nvPr/>
        </p:nvSpPr>
        <p:spPr>
          <a:xfrm flipH="false" flipV="false" rot="-383067">
            <a:off x="19418498" y="29030385"/>
            <a:ext cx="1519236" cy="996998"/>
          </a:xfrm>
          <a:custGeom>
            <a:avLst/>
            <a:gdLst/>
            <a:ahLst/>
            <a:cxnLst/>
            <a:rect r="r" b="b" t="t" l="l"/>
            <a:pathLst>
              <a:path h="996998" w="1519236">
                <a:moveTo>
                  <a:pt x="0" y="0"/>
                </a:moveTo>
                <a:lnTo>
                  <a:pt x="1519235" y="0"/>
                </a:lnTo>
                <a:lnTo>
                  <a:pt x="1519235" y="996999"/>
                </a:lnTo>
                <a:lnTo>
                  <a:pt x="0" y="996999"/>
                </a:lnTo>
                <a:lnTo>
                  <a:pt x="0" y="0"/>
                </a:lnTo>
                <a:close/>
              </a:path>
            </a:pathLst>
          </a:custGeom>
          <a:blipFill>
            <a:blip r:embed="rId36"/>
            <a:stretch>
              <a:fillRect l="0" t="0" r="0" b="0"/>
            </a:stretch>
          </a:blipFill>
        </p:spPr>
      </p:sp>
      <p:sp>
        <p:nvSpPr>
          <p:cNvPr name="Freeform 128" id="128"/>
          <p:cNvSpPr/>
          <p:nvPr/>
        </p:nvSpPr>
        <p:spPr>
          <a:xfrm flipH="false" flipV="false" rot="0">
            <a:off x="20729030" y="29501465"/>
            <a:ext cx="166423" cy="152888"/>
          </a:xfrm>
          <a:custGeom>
            <a:avLst/>
            <a:gdLst/>
            <a:ahLst/>
            <a:cxnLst/>
            <a:rect r="r" b="b" t="t" l="l"/>
            <a:pathLst>
              <a:path h="152888" w="166423">
                <a:moveTo>
                  <a:pt x="0" y="0"/>
                </a:moveTo>
                <a:lnTo>
                  <a:pt x="166423" y="0"/>
                </a:lnTo>
                <a:lnTo>
                  <a:pt x="166423" y="152888"/>
                </a:lnTo>
                <a:lnTo>
                  <a:pt x="0" y="152888"/>
                </a:lnTo>
                <a:lnTo>
                  <a:pt x="0" y="0"/>
                </a:lnTo>
                <a:close/>
              </a:path>
            </a:pathLst>
          </a:custGeom>
          <a:blipFill>
            <a:blip r:embed="rId34"/>
            <a:stretch>
              <a:fillRect l="0" t="0" r="0" b="0"/>
            </a:stretch>
          </a:blipFill>
        </p:spPr>
      </p:sp>
      <p:sp>
        <p:nvSpPr>
          <p:cNvPr name="Freeform 129" id="129"/>
          <p:cNvSpPr/>
          <p:nvPr/>
        </p:nvSpPr>
        <p:spPr>
          <a:xfrm flipH="false" flipV="false" rot="0">
            <a:off x="19566001" y="29004665"/>
            <a:ext cx="166423" cy="152888"/>
          </a:xfrm>
          <a:custGeom>
            <a:avLst/>
            <a:gdLst/>
            <a:ahLst/>
            <a:cxnLst/>
            <a:rect r="r" b="b" t="t" l="l"/>
            <a:pathLst>
              <a:path h="152888" w="166423">
                <a:moveTo>
                  <a:pt x="0" y="0"/>
                </a:moveTo>
                <a:lnTo>
                  <a:pt x="166423" y="0"/>
                </a:lnTo>
                <a:lnTo>
                  <a:pt x="166423" y="152888"/>
                </a:lnTo>
                <a:lnTo>
                  <a:pt x="0" y="152888"/>
                </a:lnTo>
                <a:lnTo>
                  <a:pt x="0" y="0"/>
                </a:lnTo>
                <a:close/>
              </a:path>
            </a:pathLst>
          </a:custGeom>
          <a:blipFill>
            <a:blip r:embed="rId34"/>
            <a:stretch>
              <a:fillRect l="0" t="0" r="0" b="0"/>
            </a:stretch>
          </a:blipFill>
        </p:spPr>
      </p:sp>
      <p:sp>
        <p:nvSpPr>
          <p:cNvPr name="Freeform 130" id="130"/>
          <p:cNvSpPr/>
          <p:nvPr/>
        </p:nvSpPr>
        <p:spPr>
          <a:xfrm flipH="false" flipV="false" rot="0">
            <a:off x="19478114" y="29654353"/>
            <a:ext cx="114237" cy="104946"/>
          </a:xfrm>
          <a:custGeom>
            <a:avLst/>
            <a:gdLst/>
            <a:ahLst/>
            <a:cxnLst/>
            <a:rect r="r" b="b" t="t" l="l"/>
            <a:pathLst>
              <a:path h="104946" w="114237">
                <a:moveTo>
                  <a:pt x="0" y="0"/>
                </a:moveTo>
                <a:lnTo>
                  <a:pt x="114237" y="0"/>
                </a:lnTo>
                <a:lnTo>
                  <a:pt x="114237" y="104946"/>
                </a:lnTo>
                <a:lnTo>
                  <a:pt x="0" y="104946"/>
                </a:lnTo>
                <a:lnTo>
                  <a:pt x="0" y="0"/>
                </a:lnTo>
                <a:close/>
              </a:path>
            </a:pathLst>
          </a:custGeom>
          <a:blipFill>
            <a:blip r:embed="rId34"/>
            <a:stretch>
              <a:fillRect l="0" t="0" r="0" b="0"/>
            </a:stretch>
          </a:blipFill>
        </p:spPr>
      </p:sp>
      <p:sp>
        <p:nvSpPr>
          <p:cNvPr name="Freeform 131" id="131"/>
          <p:cNvSpPr/>
          <p:nvPr/>
        </p:nvSpPr>
        <p:spPr>
          <a:xfrm flipH="false" flipV="false" rot="5400000">
            <a:off x="-2233482" y="14365980"/>
            <a:ext cx="6851179" cy="996535"/>
          </a:xfrm>
          <a:custGeom>
            <a:avLst/>
            <a:gdLst/>
            <a:ahLst/>
            <a:cxnLst/>
            <a:rect r="r" b="b" t="t" l="l"/>
            <a:pathLst>
              <a:path h="996535" w="6851179">
                <a:moveTo>
                  <a:pt x="0" y="0"/>
                </a:moveTo>
                <a:lnTo>
                  <a:pt x="6851179" y="0"/>
                </a:lnTo>
                <a:lnTo>
                  <a:pt x="6851179" y="996535"/>
                </a:lnTo>
                <a:lnTo>
                  <a:pt x="0" y="996535"/>
                </a:lnTo>
                <a:lnTo>
                  <a:pt x="0" y="0"/>
                </a:lnTo>
                <a:close/>
              </a:path>
            </a:pathLst>
          </a:custGeom>
          <a:blipFill>
            <a:blip r:embed="rId37">
              <a:alphaModFix amt="36000"/>
              <a:extLst>
                <a:ext uri="{96DAC541-7B7A-43D3-8B79-37D633B846F1}">
                  <asvg:svgBlip xmlns:asvg="http://schemas.microsoft.com/office/drawing/2016/SVG/main" r:embed="rId3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DAHHMeRgIK0</dc:identifier>
  <dcterms:modified xsi:type="dcterms:W3CDTF">2011-08-01T06:04:30Z</dcterms:modified>
  <cp:revision>1</cp:revision>
  <dc:title>PosterTemplate.pptx</dc:title>
</cp:coreProperties>
</file>