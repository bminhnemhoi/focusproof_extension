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7543800"/>
            <a:ext cx="18287543" cy="2743200"/>
            <a:chOff x="0" y="0"/>
            <a:chExt cx="24383390" cy="3657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3657600"/>
            </a:xfrm>
            <a:custGeom>
              <a:avLst/>
              <a:gdLst/>
              <a:ahLst/>
              <a:cxnLst/>
              <a:rect l="l" t="t" r="r" b="b"/>
              <a:pathLst>
                <a:path w="24383364" h="3657600">
                  <a:moveTo>
                    <a:pt x="0" y="0"/>
                  </a:moveTo>
                  <a:lnTo>
                    <a:pt x="24383364" y="0"/>
                  </a:lnTo>
                  <a:lnTo>
                    <a:pt x="2438336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7543800"/>
            <a:ext cx="18287543" cy="30004"/>
            <a:chOff x="0" y="0"/>
            <a:chExt cx="24383390" cy="400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40005"/>
            </a:xfrm>
            <a:custGeom>
              <a:avLst/>
              <a:gdLst/>
              <a:ahLst/>
              <a:cxnLst/>
              <a:rect l="l" t="t" r="r" b="b"/>
              <a:pathLst>
                <a:path w="24383364" h="40005">
                  <a:moveTo>
                    <a:pt x="0" y="0"/>
                  </a:moveTo>
                  <a:lnTo>
                    <a:pt x="24383364" y="0"/>
                  </a:lnTo>
                  <a:lnTo>
                    <a:pt x="24383364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1509903"/>
            <a:ext cx="822960" cy="822960"/>
            <a:chOff x="0" y="0"/>
            <a:chExt cx="1097280" cy="1097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/>
              <a:stretch>
                <a:fillRect l="-9340" r="-9340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0" y="48599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3"/>
                </a:lnTo>
                <a:lnTo>
                  <a:pt x="0" y="1234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319465" y="-371365"/>
            <a:ext cx="2830252" cy="2830252"/>
          </a:xfrm>
          <a:custGeom>
            <a:avLst/>
            <a:gdLst/>
            <a:ahLst/>
            <a:cxnLst/>
            <a:rect l="l" t="t" r="r" b="b"/>
            <a:pathLst>
              <a:path w="2830252" h="2830252">
                <a:moveTo>
                  <a:pt x="0" y="0"/>
                </a:moveTo>
                <a:lnTo>
                  <a:pt x="2830253" y="0"/>
                </a:lnTo>
                <a:lnTo>
                  <a:pt x="2830253" y="2830253"/>
                </a:lnTo>
                <a:lnTo>
                  <a:pt x="0" y="2830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46049" y="1600523"/>
            <a:ext cx="8138160" cy="81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FocusProof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2713863"/>
            <a:ext cx="15956280" cy="165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FOCUSPROOF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4104513"/>
            <a:ext cx="15956280" cy="122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E87A2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Chứng chỉ Tập trung Thông minh &amp; Xác thực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5338953"/>
            <a:ext cx="1595628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4F7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&amp; Verifiable Focus Certificate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6308598"/>
            <a:ext cx="15956280" cy="8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4F7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 mỗi giờ học thành một bằng chứng số có giá trị.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8101203"/>
            <a:ext cx="15956280" cy="65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STARTUP CHALLENGER 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8708898"/>
            <a:ext cx="1595628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4F7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Tác giả: Ngô Bình Minh — MSSV 524H0169 — Khoa CNTT, ĐH Tôn Đức Thắng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9257538"/>
            <a:ext cx="1595628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4F7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TP. Hồ Chí Minh, tháng 04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97280" y="2331720"/>
            <a:ext cx="4389120" cy="6309360"/>
            <a:chOff x="0" y="0"/>
            <a:chExt cx="5852160" cy="8412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52160" cy="8412480"/>
            </a:xfrm>
            <a:custGeom>
              <a:avLst/>
              <a:gdLst/>
              <a:ahLst/>
              <a:cxnLst/>
              <a:rect l="l" t="t" r="r" b="b"/>
              <a:pathLst>
                <a:path w="5852160" h="8412480">
                  <a:moveTo>
                    <a:pt x="0" y="0"/>
                  </a:moveTo>
                  <a:lnTo>
                    <a:pt x="5852160" y="0"/>
                  </a:lnTo>
                  <a:lnTo>
                    <a:pt x="585216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97280" y="2331720"/>
            <a:ext cx="4389120" cy="548640"/>
            <a:chOff x="0" y="0"/>
            <a:chExt cx="585216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52160" cy="731520"/>
            </a:xfrm>
            <a:custGeom>
              <a:avLst/>
              <a:gdLst/>
              <a:ahLst/>
              <a:cxnLst/>
              <a:rect l="l" t="t" r="r" b="b"/>
              <a:pathLst>
                <a:path w="5852160" h="73152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010394" y="3147536"/>
            <a:ext cx="2562892" cy="2562892"/>
            <a:chOff x="0" y="0"/>
            <a:chExt cx="3128010" cy="3128010"/>
          </a:xfrm>
        </p:grpSpPr>
        <p:sp>
          <p:nvSpPr>
            <p:cNvPr id="13" name="Freeform 13"/>
            <p:cNvSpPr/>
            <p:nvPr/>
          </p:nvSpPr>
          <p:spPr>
            <a:xfrm>
              <a:off x="9525" y="9525"/>
              <a:ext cx="3108960" cy="3108960"/>
            </a:xfrm>
            <a:custGeom>
              <a:avLst/>
              <a:gdLst/>
              <a:ahLst/>
              <a:cxnLst/>
              <a:rect l="l" t="t" r="r" b="b"/>
              <a:pathLst>
                <a:path w="3108960" h="3108960">
                  <a:moveTo>
                    <a:pt x="0" y="1554480"/>
                  </a:moveTo>
                  <a:cubicBezTo>
                    <a:pt x="0" y="695960"/>
                    <a:pt x="695960" y="0"/>
                    <a:pt x="1554480" y="0"/>
                  </a:cubicBezTo>
                  <a:cubicBezTo>
                    <a:pt x="2413000" y="0"/>
                    <a:pt x="3108960" y="695960"/>
                    <a:pt x="3108960" y="1554480"/>
                  </a:cubicBezTo>
                  <a:cubicBezTo>
                    <a:pt x="3108960" y="2413000"/>
                    <a:pt x="2413000" y="3108960"/>
                    <a:pt x="1554480" y="3108960"/>
                  </a:cubicBezTo>
                  <a:cubicBezTo>
                    <a:pt x="695960" y="3108960"/>
                    <a:pt x="0" y="2413000"/>
                    <a:pt x="0" y="1554480"/>
                  </a:cubicBezTo>
                  <a:close/>
                </a:path>
              </a:pathLst>
            </a:custGeom>
            <a:blipFill>
              <a:blip r:embed="rId2"/>
              <a:stretch>
                <a:fillRect l="-2666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128010" cy="3128010"/>
            </a:xfrm>
            <a:custGeom>
              <a:avLst/>
              <a:gdLst/>
              <a:ahLst/>
              <a:cxnLst/>
              <a:rect l="l" t="t" r="r" b="b"/>
              <a:pathLst>
                <a:path w="3128010" h="3128010">
                  <a:moveTo>
                    <a:pt x="0" y="1564005"/>
                  </a:moveTo>
                  <a:cubicBezTo>
                    <a:pt x="0" y="700278"/>
                    <a:pt x="700278" y="0"/>
                    <a:pt x="1564005" y="0"/>
                  </a:cubicBezTo>
                  <a:lnTo>
                    <a:pt x="1564005" y="9525"/>
                  </a:lnTo>
                  <a:lnTo>
                    <a:pt x="1564005" y="0"/>
                  </a:lnTo>
                  <a:cubicBezTo>
                    <a:pt x="2427732" y="0"/>
                    <a:pt x="3128010" y="700278"/>
                    <a:pt x="3128010" y="1564005"/>
                  </a:cubicBezTo>
                  <a:cubicBezTo>
                    <a:pt x="3128010" y="2427732"/>
                    <a:pt x="2427732" y="3128010"/>
                    <a:pt x="1564005" y="3128010"/>
                  </a:cubicBezTo>
                  <a:lnTo>
                    <a:pt x="1564005" y="3118485"/>
                  </a:lnTo>
                  <a:lnTo>
                    <a:pt x="1564005" y="3128010"/>
                  </a:lnTo>
                  <a:cubicBezTo>
                    <a:pt x="700278" y="3128010"/>
                    <a:pt x="0" y="2427732"/>
                    <a:pt x="0" y="1564005"/>
                  </a:cubicBezTo>
                  <a:lnTo>
                    <a:pt x="9525" y="1564005"/>
                  </a:lnTo>
                  <a:lnTo>
                    <a:pt x="17526" y="1569085"/>
                  </a:lnTo>
                  <a:cubicBezTo>
                    <a:pt x="15240" y="1572641"/>
                    <a:pt x="10922" y="1574292"/>
                    <a:pt x="6858" y="1573149"/>
                  </a:cubicBezTo>
                  <a:cubicBezTo>
                    <a:pt x="2794" y="1572006"/>
                    <a:pt x="0" y="1568196"/>
                    <a:pt x="0" y="1564005"/>
                  </a:cubicBezTo>
                  <a:moveTo>
                    <a:pt x="19050" y="1564005"/>
                  </a:moveTo>
                  <a:lnTo>
                    <a:pt x="9525" y="1564005"/>
                  </a:lnTo>
                  <a:lnTo>
                    <a:pt x="1524" y="1558925"/>
                  </a:lnTo>
                  <a:cubicBezTo>
                    <a:pt x="3810" y="1555369"/>
                    <a:pt x="8128" y="1553718"/>
                    <a:pt x="12192" y="1554861"/>
                  </a:cubicBezTo>
                  <a:cubicBezTo>
                    <a:pt x="16256" y="1556004"/>
                    <a:pt x="19050" y="1559814"/>
                    <a:pt x="19050" y="1564005"/>
                  </a:cubicBezTo>
                  <a:cubicBezTo>
                    <a:pt x="19050" y="2417318"/>
                    <a:pt x="710692" y="3108960"/>
                    <a:pt x="1564005" y="3108960"/>
                  </a:cubicBezTo>
                  <a:cubicBezTo>
                    <a:pt x="2417318" y="3108960"/>
                    <a:pt x="3108960" y="2417318"/>
                    <a:pt x="3108960" y="1564005"/>
                  </a:cubicBezTo>
                  <a:lnTo>
                    <a:pt x="3118485" y="1564005"/>
                  </a:lnTo>
                  <a:lnTo>
                    <a:pt x="3108960" y="1564005"/>
                  </a:lnTo>
                  <a:cubicBezTo>
                    <a:pt x="3108960" y="710692"/>
                    <a:pt x="2417318" y="19050"/>
                    <a:pt x="1564005" y="19050"/>
                  </a:cubicBezTo>
                  <a:lnTo>
                    <a:pt x="1564005" y="9525"/>
                  </a:lnTo>
                  <a:lnTo>
                    <a:pt x="1564005" y="19050"/>
                  </a:lnTo>
                  <a:cubicBezTo>
                    <a:pt x="710692" y="19050"/>
                    <a:pt x="19050" y="710692"/>
                    <a:pt x="19050" y="1564005"/>
                  </a:cubicBezTo>
                  <a:close/>
                </a:path>
              </a:pathLst>
            </a:custGeom>
            <a:solidFill>
              <a:srgbClr val="0B2E4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 Giới thiệu nhóm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8680" y="1165098"/>
            <a:ext cx="1499616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Solo Founder — TECH STARTUP CHALLENGER 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2358390"/>
            <a:ext cx="429768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FOUNDER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00" y="5691378"/>
            <a:ext cx="429768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Ngô Bình Minh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6240018"/>
            <a:ext cx="429768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MSSV 524H0169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000" y="6720078"/>
            <a:ext cx="429768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 năm 2 — CNTT — TDTU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7337298"/>
            <a:ext cx="4297680" cy="94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1F6F8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Founder · Full-stack Dev</a:t>
            </a:r>
          </a:p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1F6F8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UI/UX · AI Integrator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80760" y="2321433"/>
            <a:ext cx="11292840" cy="6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Vai trò trong dự án solo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17920" y="3112770"/>
            <a:ext cx="11292840" cy="349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Product Owner — định hình ý tưởng, lộ trình và chiến lược kiếm tiền.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Full-stack Developer — Chrome Extension MV3, React, Supabase, Edge Functions.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AI/ML Engineer — tích hợp BlazeFace + GPT-4o cho Focus Score và phân tích.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UI/UX Designer — thiết kế popup, widget, trang chứng chỉ và landing.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Growth &amp; Operations — viral loop, đối tác trường, hỗ trợ người dùng.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80760" y="6779133"/>
            <a:ext cx="11292840" cy="6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Lý do làm một mình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17920" y="7570470"/>
            <a:ext cx="11292840" cy="198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Tốc độ: 1 người ra quyết định nhanh, không phụ thuộc lịch họp.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Toàn cảnh: nắm cả tech, sản phẩm và kinh doanh để hiểu user sâu nhất.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Sẵn sàng mở rộng team khi có doanh thu / nhà đầu tư đồng hành.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/ 12</a:t>
            </a:r>
          </a:p>
        </p:txBody>
      </p:sp>
      <p:sp>
        <p:nvSpPr>
          <p:cNvPr id="28" name="Freeform 28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 Câu chuyện truyền cảm hứng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680" y="1165098"/>
            <a:ext cx="1499616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sao tôi xây FocusProof?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97280" y="2331720"/>
            <a:ext cx="16459200" cy="1920240"/>
            <a:chOff x="0" y="0"/>
            <a:chExt cx="21945600" cy="25603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2560320"/>
            </a:xfrm>
            <a:custGeom>
              <a:avLst/>
              <a:gdLst/>
              <a:ahLst/>
              <a:cxnLst/>
              <a:rect l="l" t="t" r="r" b="b"/>
              <a:pathLst>
                <a:path w="21945600" h="2560320">
                  <a:moveTo>
                    <a:pt x="0" y="0"/>
                  </a:moveTo>
                  <a:lnTo>
                    <a:pt x="21945600" y="0"/>
                  </a:lnTo>
                  <a:lnTo>
                    <a:pt x="219456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97280" y="2331720"/>
            <a:ext cx="246888" cy="1920240"/>
            <a:chOff x="0" y="0"/>
            <a:chExt cx="329184" cy="2560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9184" cy="2560320"/>
            </a:xfrm>
            <a:custGeom>
              <a:avLst/>
              <a:gdLst/>
              <a:ahLst/>
              <a:cxnLst/>
              <a:rect l="l" t="t" r="r" b="b"/>
              <a:pathLst>
                <a:path w="329184" h="2560320">
                  <a:moveTo>
                    <a:pt x="0" y="0"/>
                  </a:moveTo>
                  <a:lnTo>
                    <a:pt x="329184" y="0"/>
                  </a:lnTo>
                  <a:lnTo>
                    <a:pt x="329184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554480" y="2536698"/>
            <a:ext cx="15681960" cy="149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“Tôi học 8 tiếng mỗi ngày, nhưng cha mẹ vẫn hỏi: con có thật sự học không?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Tôi không có cách nào chứng minh — cho đến khi tự tay xây FocusProof.”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97280" y="4663440"/>
            <a:ext cx="5486400" cy="685800"/>
            <a:chOff x="0" y="0"/>
            <a:chExt cx="731520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97280" y="4663440"/>
            <a:ext cx="5486400" cy="685800"/>
            <a:chOff x="0" y="0"/>
            <a:chExt cx="73152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315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VẤN ĐỀ THẬT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5349240"/>
            <a:ext cx="5486400" cy="4114800"/>
            <a:chOff x="0" y="0"/>
            <a:chExt cx="7315200" cy="548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15200" cy="5486400"/>
            </a:xfrm>
            <a:custGeom>
              <a:avLst/>
              <a:gdLst/>
              <a:ahLst/>
              <a:cxnLst/>
              <a:rect l="l" t="t" r="r" b="b"/>
              <a:pathLst>
                <a:path w="7315200" h="5486400">
                  <a:moveTo>
                    <a:pt x="0" y="0"/>
                  </a:moveTo>
                  <a:lnTo>
                    <a:pt x="7315200" y="0"/>
                  </a:lnTo>
                  <a:lnTo>
                    <a:pt x="731520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348740" y="5494020"/>
            <a:ext cx="4983480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85% sinh viên thừa nhận mất tập trung vì điện thoại &amp; mạng xã hội.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Cha mẹ, trường lớp, doanh nghiệp KHÔNG có công cụ kiểm chứng giờ học/làm thật.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Pomodoro/Forest chỉ đếm thời gian — không xác thực được hành vi tập trung.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720840" y="4663440"/>
            <a:ext cx="5486400" cy="685800"/>
            <a:chOff x="0" y="0"/>
            <a:chExt cx="73152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720840" y="4663440"/>
            <a:ext cx="5486400" cy="685800"/>
            <a:chOff x="0" y="0"/>
            <a:chExt cx="731520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7315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KHOẢNH KHẮC "AHA"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20840" y="5349240"/>
            <a:ext cx="5486400" cy="4114800"/>
            <a:chOff x="0" y="0"/>
            <a:chExt cx="7315200" cy="548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0" cy="5486400"/>
            </a:xfrm>
            <a:custGeom>
              <a:avLst/>
              <a:gdLst/>
              <a:ahLst/>
              <a:cxnLst/>
              <a:rect l="l" t="t" r="r" b="b"/>
              <a:pathLst>
                <a:path w="7315200" h="5486400">
                  <a:moveTo>
                    <a:pt x="0" y="0"/>
                  </a:moveTo>
                  <a:lnTo>
                    <a:pt x="7315200" y="0"/>
                  </a:lnTo>
                  <a:lnTo>
                    <a:pt x="731520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6972300" y="5494020"/>
            <a:ext cx="4983480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Trong kỳ thi cuối năm, tôi muốn tự thưởng cho mình mỗi giờ tập trung thật sự.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Tôi nhận ra: nếu có thể CHỨNG MINH giờ học, ta có thể đổi nó lấy phần thưởng / học bổng / việc làm.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Tập trung phải trở thành một loại "tài sản số" có thể đo đếm và chia sẻ.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344400" y="4663440"/>
            <a:ext cx="5486400" cy="685800"/>
            <a:chOff x="0" y="0"/>
            <a:chExt cx="731520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2344400" y="4663440"/>
            <a:ext cx="5486400" cy="685800"/>
            <a:chOff x="0" y="0"/>
            <a:chExt cx="7315200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7315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SỨ MỆNH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44400" y="5349240"/>
            <a:ext cx="5486400" cy="4114800"/>
            <a:chOff x="0" y="0"/>
            <a:chExt cx="7315200" cy="5486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0" cy="5486400"/>
            </a:xfrm>
            <a:custGeom>
              <a:avLst/>
              <a:gdLst/>
              <a:ahLst/>
              <a:cxnLst/>
              <a:rect l="l" t="t" r="r" b="b"/>
              <a:pathLst>
                <a:path w="7315200" h="5486400">
                  <a:moveTo>
                    <a:pt x="0" y="0"/>
                  </a:moveTo>
                  <a:lnTo>
                    <a:pt x="7315200" y="0"/>
                  </a:lnTo>
                  <a:lnTo>
                    <a:pt x="731520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2595860" y="5494020"/>
            <a:ext cx="4983480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Biến mỗi giờ tập trung thành một chứng chỉ số có thể xác thực.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Giúp 5 triệu sinh viên &amp; freelancer Việt Nam có "hồ sơ kỷ luật" minh bạch.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Calibri (MS)"/>
                <a:ea typeface="Calibri (MS)"/>
                <a:cs typeface="Calibri (MS)"/>
                <a:sym typeface="Calibri (MS)"/>
              </a:rPr>
              <a:t>►  Tạo nền kinh tế khen thưởng dựa trên dữ liệu tập trung thật.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/ 12</a:t>
            </a:r>
          </a:p>
        </p:txBody>
      </p:sp>
      <p:sp>
        <p:nvSpPr>
          <p:cNvPr id="41" name="Freeform 41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 Sản phẩm — Vấn đề &amp; Giải pháp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97280" y="2194560"/>
            <a:ext cx="8092440" cy="7269480"/>
            <a:chOff x="0" y="0"/>
            <a:chExt cx="10789920" cy="9692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89920" cy="9692640"/>
            </a:xfrm>
            <a:custGeom>
              <a:avLst/>
              <a:gdLst/>
              <a:ahLst/>
              <a:cxnLst/>
              <a:rect l="l" t="t" r="r" b="b"/>
              <a:pathLst>
                <a:path w="10789920" h="9692640">
                  <a:moveTo>
                    <a:pt x="0" y="0"/>
                  </a:moveTo>
                  <a:lnTo>
                    <a:pt x="10789920" y="0"/>
                  </a:lnTo>
                  <a:lnTo>
                    <a:pt x="1078992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2194560"/>
            <a:ext cx="8092440" cy="754380"/>
            <a:chOff x="0" y="0"/>
            <a:chExt cx="1078992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89920" cy="1005840"/>
            </a:xfrm>
            <a:custGeom>
              <a:avLst/>
              <a:gdLst/>
              <a:ahLst/>
              <a:cxnLst/>
              <a:rect l="l" t="t" r="r" b="b"/>
              <a:pathLst>
                <a:path w="10789920" h="1005840">
                  <a:moveTo>
                    <a:pt x="0" y="0"/>
                  </a:moveTo>
                  <a:lnTo>
                    <a:pt x="10789920" y="0"/>
                  </a:lnTo>
                  <a:lnTo>
                    <a:pt x="107899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97280" y="2194560"/>
            <a:ext cx="8092440" cy="754380"/>
            <a:chOff x="0" y="0"/>
            <a:chExt cx="1078992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89920" cy="1005840"/>
            </a:xfrm>
            <a:custGeom>
              <a:avLst/>
              <a:gdLst/>
              <a:ahLst/>
              <a:cxnLst/>
              <a:rect l="l" t="t" r="r" b="b"/>
              <a:pathLst>
                <a:path w="10789920" h="1005840">
                  <a:moveTo>
                    <a:pt x="0" y="0"/>
                  </a:moveTo>
                  <a:lnTo>
                    <a:pt x="10789920" y="0"/>
                  </a:lnTo>
                  <a:lnTo>
                    <a:pt x="10789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9021" b="-15902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078992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VẤN ĐỀ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17320" y="3181350"/>
            <a:ext cx="7452360" cy="609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Mất tập trung là "đại dịch năng suất" của Gen Z.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Không có công cụ chứng minh việc học/làm thật cho cha mẹ, giáo viên, nhà tuyển dụng.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Pomodoro/Forest: chỉ đếm giờ, dễ gian lận, không có dữ liệu hành vi.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Học bổng &amp; nội bộ doanh nghiệp thiếu cơ chế thưởng theo kỷ luật.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Người dùng thiếu động lực dài hạn → bỏ app sau 1–2 tuần.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95460" y="2194560"/>
            <a:ext cx="8161020" cy="7269480"/>
            <a:chOff x="0" y="0"/>
            <a:chExt cx="10881360" cy="9692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81360" cy="9692640"/>
            </a:xfrm>
            <a:custGeom>
              <a:avLst/>
              <a:gdLst/>
              <a:ahLst/>
              <a:cxnLst/>
              <a:rect l="l" t="t" r="r" b="b"/>
              <a:pathLst>
                <a:path w="10881360" h="9692640">
                  <a:moveTo>
                    <a:pt x="0" y="0"/>
                  </a:moveTo>
                  <a:lnTo>
                    <a:pt x="10881360" y="0"/>
                  </a:lnTo>
                  <a:lnTo>
                    <a:pt x="10881360" y="9692640"/>
                  </a:lnTo>
                  <a:lnTo>
                    <a:pt x="0" y="969264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395460" y="2194560"/>
            <a:ext cx="8161020" cy="754380"/>
            <a:chOff x="0" y="0"/>
            <a:chExt cx="1088136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81360" cy="1005840"/>
            </a:xfrm>
            <a:custGeom>
              <a:avLst/>
              <a:gdLst/>
              <a:ahLst/>
              <a:cxnLst/>
              <a:rect l="l" t="t" r="r" b="b"/>
              <a:pathLst>
                <a:path w="10881360" h="1005840">
                  <a:moveTo>
                    <a:pt x="0" y="0"/>
                  </a:moveTo>
                  <a:lnTo>
                    <a:pt x="10881360" y="0"/>
                  </a:lnTo>
                  <a:lnTo>
                    <a:pt x="1088136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395460" y="2194560"/>
            <a:ext cx="8161020" cy="754380"/>
            <a:chOff x="0" y="0"/>
            <a:chExt cx="10881360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881360" cy="1005840"/>
            </a:xfrm>
            <a:custGeom>
              <a:avLst/>
              <a:gdLst/>
              <a:ahLst/>
              <a:cxnLst/>
              <a:rect l="l" t="t" r="r" b="b"/>
              <a:pathLst>
                <a:path w="10881360" h="1005840">
                  <a:moveTo>
                    <a:pt x="0" y="0"/>
                  </a:moveTo>
                  <a:lnTo>
                    <a:pt x="10881360" y="0"/>
                  </a:lnTo>
                  <a:lnTo>
                    <a:pt x="10881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0792" b="-16079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88136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GIẢI PHÁP — FOCUSPROOF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15500" y="3181350"/>
            <a:ext cx="7520940" cy="609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Chrome Extension đo tập trung bằng 3 tín hiệu: Khuôn mặt + Hoạt động + Tab.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Focus Score 0–100 chấm thật theo mục tiêu phiên học.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Cấp Chứng chỉ PDF + QR xác thực online — chia sẻ với cha mẹ, giáo viên, nhà tuyển dụng.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Gamification: streak, leaderboard, đổi điểm → tăng giữ chân.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Freemium + Credit System + Pro/Team — kinh doanh bền vững.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/ 12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 Sản phẩm — Lõi công nghệ "3-Signal Focus Engine"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680" y="1165098"/>
            <a:ext cx="1499616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USP — không đối thủ nào trên thị trường có cùng kiến trúc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68680" y="1853538"/>
            <a:ext cx="9723120" cy="7687464"/>
            <a:chOff x="0" y="0"/>
            <a:chExt cx="10312575" cy="19602605"/>
          </a:xfrm>
        </p:grpSpPr>
        <p:sp>
          <p:nvSpPr>
            <p:cNvPr id="11" name="Freeform 11" descr="focus_engine.png"/>
            <p:cNvSpPr/>
            <p:nvPr/>
          </p:nvSpPr>
          <p:spPr>
            <a:xfrm>
              <a:off x="0" y="0"/>
              <a:ext cx="10312588" cy="19602631"/>
            </a:xfrm>
            <a:custGeom>
              <a:avLst/>
              <a:gdLst/>
              <a:ahLst/>
              <a:cxnLst/>
              <a:rect l="l" t="t" r="r" b="b"/>
              <a:pathLst>
                <a:path w="10312588" h="19602631">
                  <a:moveTo>
                    <a:pt x="0" y="0"/>
                  </a:moveTo>
                  <a:lnTo>
                    <a:pt x="10312588" y="0"/>
                  </a:lnTo>
                  <a:lnTo>
                    <a:pt x="10312588" y="19602631"/>
                  </a:lnTo>
                  <a:lnTo>
                    <a:pt x="0" y="19602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77" r="-127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938760" y="2193798"/>
            <a:ext cx="484632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 tín hiệu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8760" y="2907030"/>
            <a:ext cx="4983480" cy="335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Khuôn mặt (BlazeFace) — tại chỗ trên trình duyệt, KHÔNG gửi ảnh.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Hoạt động — chuột/bàn phím để loại idle giả tập trung.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Tab/Domain — phân loại tab học vs giải trí theo mục tiêu.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38760" y="6582918"/>
            <a:ext cx="484632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Đầu 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38760" y="7296150"/>
            <a:ext cx="4983480" cy="212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Focus Score 0–100 + biểu đồ.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AI insight tiếng Việt (GPT-4o).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PDF + QR xác thực chứng chỉ.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/ 12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 Sản phẩm — Kiến trúc tổng thể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680" y="1165098"/>
            <a:ext cx="1499616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Chrome Extension MV3 · Supabase · Web · Stripe · OpenAI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48640" y="2057399"/>
            <a:ext cx="12710160" cy="7483603"/>
            <a:chOff x="0" y="0"/>
            <a:chExt cx="16824960" cy="9082837"/>
          </a:xfrm>
        </p:grpSpPr>
        <p:sp>
          <p:nvSpPr>
            <p:cNvPr id="11" name="Freeform 11" descr="architecture.png"/>
            <p:cNvSpPr/>
            <p:nvPr/>
          </p:nvSpPr>
          <p:spPr>
            <a:xfrm>
              <a:off x="0" y="0"/>
              <a:ext cx="16824961" cy="9082786"/>
            </a:xfrm>
            <a:custGeom>
              <a:avLst/>
              <a:gdLst/>
              <a:ahLst/>
              <a:cxnLst/>
              <a:rect l="l" t="t" r="r" b="b"/>
              <a:pathLst>
                <a:path w="16824961" h="9082786">
                  <a:moveTo>
                    <a:pt x="0" y="0"/>
                  </a:moveTo>
                  <a:lnTo>
                    <a:pt x="16824961" y="0"/>
                  </a:lnTo>
                  <a:lnTo>
                    <a:pt x="16824961" y="9082786"/>
                  </a:lnTo>
                  <a:lnTo>
                    <a:pt x="0" y="908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3487400" y="2193798"/>
            <a:ext cx="443484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Tại sao kiến trúc này thắng?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87400" y="2907030"/>
            <a:ext cx="4434840" cy="678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Privacy-first: AI chạy ngay trên trình duyệt (BlazeFace).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Server-side credit: chống gian lận, đếm AI/PDF chính xác.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Supabase PostgreSQL: scale tới hàng trăm ngàn user với chi phí thấp.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Stripe + Edge Function: thanh toán quốc tế ngay từ MVP.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Tách biệt Free / Pro / Team — dễ thử nghiệm pricing.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/ 12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 Sản phẩm — Hành trình người dùng &amp; Chứng chỉ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125980" y="2194560"/>
            <a:ext cx="891540" cy="891540"/>
            <a:chOff x="0" y="0"/>
            <a:chExt cx="1188720" cy="1188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125980" y="2194560"/>
            <a:ext cx="891540" cy="891540"/>
            <a:chOff x="0" y="0"/>
            <a:chExt cx="1188720" cy="1188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2960" y="3360420"/>
            <a:ext cx="3360420" cy="3429000"/>
            <a:chOff x="0" y="0"/>
            <a:chExt cx="4480560" cy="4572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80560" cy="4572000"/>
            </a:xfrm>
            <a:custGeom>
              <a:avLst/>
              <a:gdLst/>
              <a:ahLst/>
              <a:cxnLst/>
              <a:rect l="l" t="t" r="r" b="b"/>
              <a:pathLst>
                <a:path w="4480560" h="4572000">
                  <a:moveTo>
                    <a:pt x="0" y="0"/>
                  </a:moveTo>
                  <a:lnTo>
                    <a:pt x="4480560" y="0"/>
                  </a:lnTo>
                  <a:lnTo>
                    <a:pt x="448056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005840" y="3496818"/>
            <a:ext cx="29946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Đặt mục tiêu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5840" y="4182618"/>
            <a:ext cx="2994660" cy="258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mở popup, chọn mục tiêu (vd: "Học giải tích 60'").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183380" y="2468880"/>
            <a:ext cx="137160" cy="411480"/>
            <a:chOff x="0" y="0"/>
            <a:chExt cx="18288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2880" cy="548640"/>
            </a:xfrm>
            <a:custGeom>
              <a:avLst/>
              <a:gdLst/>
              <a:ahLst/>
              <a:cxnLst/>
              <a:rect l="l" t="t" r="r" b="b"/>
              <a:pathLst>
                <a:path w="182880" h="548640">
                  <a:moveTo>
                    <a:pt x="0" y="137160"/>
                  </a:moveTo>
                  <a:lnTo>
                    <a:pt x="91440" y="137160"/>
                  </a:lnTo>
                  <a:lnTo>
                    <a:pt x="91440" y="0"/>
                  </a:lnTo>
                  <a:lnTo>
                    <a:pt x="182880" y="274320"/>
                  </a:lnTo>
                  <a:lnTo>
                    <a:pt x="91440" y="548640"/>
                  </a:lnTo>
                  <a:lnTo>
                    <a:pt x="9144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623560" y="2194560"/>
            <a:ext cx="891540" cy="891540"/>
            <a:chOff x="0" y="0"/>
            <a:chExt cx="1188720" cy="11887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623560" y="2194560"/>
            <a:ext cx="891540" cy="891540"/>
            <a:chOff x="0" y="0"/>
            <a:chExt cx="1188720" cy="1188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20540" y="3360420"/>
            <a:ext cx="3360420" cy="3429000"/>
            <a:chOff x="0" y="0"/>
            <a:chExt cx="4480560" cy="4572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80560" cy="4572000"/>
            </a:xfrm>
            <a:custGeom>
              <a:avLst/>
              <a:gdLst/>
              <a:ahLst/>
              <a:cxnLst/>
              <a:rect l="l" t="t" r="r" b="b"/>
              <a:pathLst>
                <a:path w="4480560" h="4572000">
                  <a:moveTo>
                    <a:pt x="0" y="0"/>
                  </a:moveTo>
                  <a:lnTo>
                    <a:pt x="4480560" y="0"/>
                  </a:lnTo>
                  <a:lnTo>
                    <a:pt x="448056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4503420" y="3496818"/>
            <a:ext cx="29946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Bắt đầu phiên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03420" y="4182618"/>
            <a:ext cx="2994660" cy="258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Cấp camera (chỉ tại chỗ) → Widget hiện điểm tập trung real-time.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80960" y="2468880"/>
            <a:ext cx="137160" cy="411480"/>
            <a:chOff x="0" y="0"/>
            <a:chExt cx="182880" cy="548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2880" cy="548640"/>
            </a:xfrm>
            <a:custGeom>
              <a:avLst/>
              <a:gdLst/>
              <a:ahLst/>
              <a:cxnLst/>
              <a:rect l="l" t="t" r="r" b="b"/>
              <a:pathLst>
                <a:path w="182880" h="548640">
                  <a:moveTo>
                    <a:pt x="0" y="137160"/>
                  </a:moveTo>
                  <a:lnTo>
                    <a:pt x="91440" y="137160"/>
                  </a:lnTo>
                  <a:lnTo>
                    <a:pt x="91440" y="0"/>
                  </a:lnTo>
                  <a:lnTo>
                    <a:pt x="182880" y="274320"/>
                  </a:lnTo>
                  <a:lnTo>
                    <a:pt x="91440" y="548640"/>
                  </a:lnTo>
                  <a:lnTo>
                    <a:pt x="9144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121140" y="2194560"/>
            <a:ext cx="891540" cy="891540"/>
            <a:chOff x="0" y="0"/>
            <a:chExt cx="1188720" cy="11887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121140" y="2194560"/>
            <a:ext cx="891540" cy="891540"/>
            <a:chOff x="0" y="0"/>
            <a:chExt cx="1188720" cy="11887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18120" y="3360420"/>
            <a:ext cx="3360420" cy="3429000"/>
            <a:chOff x="0" y="0"/>
            <a:chExt cx="4480560" cy="4572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480560" cy="4572000"/>
            </a:xfrm>
            <a:custGeom>
              <a:avLst/>
              <a:gdLst/>
              <a:ahLst/>
              <a:cxnLst/>
              <a:rect l="l" t="t" r="r" b="b"/>
              <a:pathLst>
                <a:path w="4480560" h="4572000">
                  <a:moveTo>
                    <a:pt x="0" y="0"/>
                  </a:moveTo>
                  <a:lnTo>
                    <a:pt x="4480560" y="0"/>
                  </a:lnTo>
                  <a:lnTo>
                    <a:pt x="448056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8001000" y="3496818"/>
            <a:ext cx="29946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Engine chấm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01000" y="4182618"/>
            <a:ext cx="2994660" cy="258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3-Signal Engine tính Focus Score mỗi 5s, cảnh báo khi mất tập trung.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1178540" y="2468880"/>
            <a:ext cx="137160" cy="411480"/>
            <a:chOff x="0" y="0"/>
            <a:chExt cx="18288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82880" cy="548640"/>
            </a:xfrm>
            <a:custGeom>
              <a:avLst/>
              <a:gdLst/>
              <a:ahLst/>
              <a:cxnLst/>
              <a:rect l="l" t="t" r="r" b="b"/>
              <a:pathLst>
                <a:path w="182880" h="548640">
                  <a:moveTo>
                    <a:pt x="0" y="137160"/>
                  </a:moveTo>
                  <a:lnTo>
                    <a:pt x="91440" y="137160"/>
                  </a:lnTo>
                  <a:lnTo>
                    <a:pt x="91440" y="0"/>
                  </a:lnTo>
                  <a:lnTo>
                    <a:pt x="182880" y="274320"/>
                  </a:lnTo>
                  <a:lnTo>
                    <a:pt x="91440" y="548640"/>
                  </a:lnTo>
                  <a:lnTo>
                    <a:pt x="9144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618720" y="2194560"/>
            <a:ext cx="891540" cy="891540"/>
            <a:chOff x="0" y="0"/>
            <a:chExt cx="1188720" cy="11887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2618720" y="2194560"/>
            <a:ext cx="891540" cy="891540"/>
            <a:chOff x="0" y="0"/>
            <a:chExt cx="1188720" cy="1188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315700" y="3360420"/>
            <a:ext cx="3360420" cy="3429000"/>
            <a:chOff x="0" y="0"/>
            <a:chExt cx="4480560" cy="45720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480560" cy="4572000"/>
            </a:xfrm>
            <a:custGeom>
              <a:avLst/>
              <a:gdLst/>
              <a:ahLst/>
              <a:cxnLst/>
              <a:rect l="l" t="t" r="r" b="b"/>
              <a:pathLst>
                <a:path w="4480560" h="4572000">
                  <a:moveTo>
                    <a:pt x="0" y="0"/>
                  </a:moveTo>
                  <a:lnTo>
                    <a:pt x="4480560" y="0"/>
                  </a:lnTo>
                  <a:lnTo>
                    <a:pt x="448056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11498580" y="3496818"/>
            <a:ext cx="29946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thúc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98580" y="4182618"/>
            <a:ext cx="2994660" cy="258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 cáo: điểm số, biểu đồ, AI insight, gợi ý cải thiện.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4676120" y="2468880"/>
            <a:ext cx="137160" cy="411480"/>
            <a:chOff x="0" y="0"/>
            <a:chExt cx="18288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82880" cy="548640"/>
            </a:xfrm>
            <a:custGeom>
              <a:avLst/>
              <a:gdLst/>
              <a:ahLst/>
              <a:cxnLst/>
              <a:rect l="l" t="t" r="r" b="b"/>
              <a:pathLst>
                <a:path w="182880" h="548640">
                  <a:moveTo>
                    <a:pt x="0" y="137160"/>
                  </a:moveTo>
                  <a:lnTo>
                    <a:pt x="91440" y="137160"/>
                  </a:lnTo>
                  <a:lnTo>
                    <a:pt x="91440" y="0"/>
                  </a:lnTo>
                  <a:lnTo>
                    <a:pt x="182880" y="274320"/>
                  </a:lnTo>
                  <a:lnTo>
                    <a:pt x="91440" y="548640"/>
                  </a:lnTo>
                  <a:lnTo>
                    <a:pt x="9144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6116300" y="2194560"/>
            <a:ext cx="891540" cy="891540"/>
            <a:chOff x="0" y="0"/>
            <a:chExt cx="1188720" cy="11887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6116300" y="2194560"/>
            <a:ext cx="891540" cy="891540"/>
            <a:chOff x="0" y="0"/>
            <a:chExt cx="1188720" cy="11887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813280" y="3360420"/>
            <a:ext cx="3360420" cy="3429000"/>
            <a:chOff x="0" y="0"/>
            <a:chExt cx="4480560" cy="4572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480560" cy="4572000"/>
            </a:xfrm>
            <a:custGeom>
              <a:avLst/>
              <a:gdLst/>
              <a:ahLst/>
              <a:cxnLst/>
              <a:rect l="l" t="t" r="r" b="b"/>
              <a:pathLst>
                <a:path w="4480560" h="4572000">
                  <a:moveTo>
                    <a:pt x="0" y="0"/>
                  </a:moveTo>
                  <a:lnTo>
                    <a:pt x="4480560" y="0"/>
                  </a:lnTo>
                  <a:lnTo>
                    <a:pt x="448056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14996160" y="3496818"/>
            <a:ext cx="29946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Chứng chỉ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996160" y="4182618"/>
            <a:ext cx="2994660" cy="258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 + QR — chia sẻ Facebook, gửi cha mẹ, dán vào CV.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822960" y="6858000"/>
            <a:ext cx="16596360" cy="2674620"/>
            <a:chOff x="0" y="0"/>
            <a:chExt cx="22128480" cy="35661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2128480" cy="3566160"/>
            </a:xfrm>
            <a:custGeom>
              <a:avLst/>
              <a:gdLst/>
              <a:ahLst/>
              <a:cxnLst/>
              <a:rect l="l" t="t" r="r" b="b"/>
              <a:pathLst>
                <a:path w="22128480" h="3566160">
                  <a:moveTo>
                    <a:pt x="0" y="0"/>
                  </a:moveTo>
                  <a:lnTo>
                    <a:pt x="22128480" y="0"/>
                  </a:lnTo>
                  <a:lnTo>
                    <a:pt x="22128480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1143000" y="6956298"/>
            <a:ext cx="15956280" cy="706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E87A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★  CHỨNG CHỈ FOCUSPROOF — "BẰNG CHỨNG TẬP TRUNG" CỦA BẠN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3000" y="7679055"/>
            <a:ext cx="1595628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►  Mỗi chứng chỉ có mã QR dẫn đến trang xác thực công khai (không thể giả mạo).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►  Có thể chia sẻ với cha mẹ, giáo viên, nhà tuyển dụng, học bổng.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►  Lưu vĩnh viễn trong tài khoản — tạo "profile kỷ luật" cá nhân.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/ 12</a:t>
            </a:r>
          </a:p>
        </p:txBody>
      </p:sp>
      <p:sp>
        <p:nvSpPr>
          <p:cNvPr id="68" name="Freeform 68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  Tính khả thi — Thị trường &amp; Khách hàng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680" y="1165098"/>
            <a:ext cx="1499616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Việt Nam là điểm khởi đầu, sản phẩm Born-Global ngay từ MVP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2960" y="2125980"/>
            <a:ext cx="5554980" cy="822960"/>
            <a:chOff x="0" y="0"/>
            <a:chExt cx="7406640" cy="1097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06640" cy="1097280"/>
            </a:xfrm>
            <a:custGeom>
              <a:avLst/>
              <a:gdLst/>
              <a:ahLst/>
              <a:cxnLst/>
              <a:rect l="l" t="t" r="r" b="b"/>
              <a:pathLst>
                <a:path w="7406640" h="1097280">
                  <a:moveTo>
                    <a:pt x="0" y="0"/>
                  </a:moveTo>
                  <a:lnTo>
                    <a:pt x="7406640" y="0"/>
                  </a:lnTo>
                  <a:lnTo>
                    <a:pt x="740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22960" y="2125980"/>
            <a:ext cx="5554980" cy="822960"/>
            <a:chOff x="0" y="0"/>
            <a:chExt cx="7406640" cy="10972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06640" cy="1097280"/>
            </a:xfrm>
            <a:custGeom>
              <a:avLst/>
              <a:gdLst/>
              <a:ahLst/>
              <a:cxnLst/>
              <a:rect l="l" t="t" r="r" b="b"/>
              <a:pathLst>
                <a:path w="7406640" h="1097280">
                  <a:moveTo>
                    <a:pt x="0" y="0"/>
                  </a:moveTo>
                  <a:lnTo>
                    <a:pt x="7406640" y="0"/>
                  </a:lnTo>
                  <a:lnTo>
                    <a:pt x="740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524" b="-81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4066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TAM — Toàn cầu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948940"/>
            <a:ext cx="5554980" cy="2743200"/>
            <a:chOff x="0" y="0"/>
            <a:chExt cx="7406640" cy="3657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06640" cy="3657600"/>
            </a:xfrm>
            <a:custGeom>
              <a:avLst/>
              <a:gdLst/>
              <a:ahLst/>
              <a:cxnLst/>
              <a:rect l="l" t="t" r="r" b="b"/>
              <a:pathLst>
                <a:path w="7406640" h="3657600">
                  <a:moveTo>
                    <a:pt x="0" y="0"/>
                  </a:moveTo>
                  <a:lnTo>
                    <a:pt x="7406640" y="0"/>
                  </a:lnTo>
                  <a:lnTo>
                    <a:pt x="7406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74420" y="3085338"/>
            <a:ext cx="5052060" cy="251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1.6 tỷ học sinh – sinh viên + freelancer.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50 tỷ USD ngành EdTech &amp; năng suất.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652260" y="2125980"/>
            <a:ext cx="5554980" cy="822960"/>
            <a:chOff x="0" y="0"/>
            <a:chExt cx="7406640" cy="1097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06640" cy="1097280"/>
            </a:xfrm>
            <a:custGeom>
              <a:avLst/>
              <a:gdLst/>
              <a:ahLst/>
              <a:cxnLst/>
              <a:rect l="l" t="t" r="r" b="b"/>
              <a:pathLst>
                <a:path w="7406640" h="1097280">
                  <a:moveTo>
                    <a:pt x="0" y="0"/>
                  </a:moveTo>
                  <a:lnTo>
                    <a:pt x="7406640" y="0"/>
                  </a:lnTo>
                  <a:lnTo>
                    <a:pt x="740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652260" y="2125980"/>
            <a:ext cx="5554980" cy="822960"/>
            <a:chOff x="0" y="0"/>
            <a:chExt cx="740664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406640" cy="1097280"/>
            </a:xfrm>
            <a:custGeom>
              <a:avLst/>
              <a:gdLst/>
              <a:ahLst/>
              <a:cxnLst/>
              <a:rect l="l" t="t" r="r" b="b"/>
              <a:pathLst>
                <a:path w="7406640" h="1097280">
                  <a:moveTo>
                    <a:pt x="0" y="0"/>
                  </a:moveTo>
                  <a:lnTo>
                    <a:pt x="7406640" y="0"/>
                  </a:lnTo>
                  <a:lnTo>
                    <a:pt x="740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524" b="-8152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74066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SAM — Đông Nam Á + VN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52260" y="2948940"/>
            <a:ext cx="5554980" cy="2743200"/>
            <a:chOff x="0" y="0"/>
            <a:chExt cx="7406640" cy="3657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406640" cy="3657600"/>
            </a:xfrm>
            <a:custGeom>
              <a:avLst/>
              <a:gdLst/>
              <a:ahLst/>
              <a:cxnLst/>
              <a:rect l="l" t="t" r="r" b="b"/>
              <a:pathLst>
                <a:path w="7406640" h="3657600">
                  <a:moveTo>
                    <a:pt x="0" y="0"/>
                  </a:moveTo>
                  <a:lnTo>
                    <a:pt x="7406640" y="0"/>
                  </a:lnTo>
                  <a:lnTo>
                    <a:pt x="7406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6903720" y="3085338"/>
            <a:ext cx="5052060" cy="251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30 triệu sinh viên &amp; người làm tự do dùng Chrome.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1.2 tỷ USD thị trường có thể tiếp cận.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481560" y="2125980"/>
            <a:ext cx="5554980" cy="822960"/>
            <a:chOff x="0" y="0"/>
            <a:chExt cx="7406640" cy="1097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406640" cy="1097280"/>
            </a:xfrm>
            <a:custGeom>
              <a:avLst/>
              <a:gdLst/>
              <a:ahLst/>
              <a:cxnLst/>
              <a:rect l="l" t="t" r="r" b="b"/>
              <a:pathLst>
                <a:path w="7406640" h="1097280">
                  <a:moveTo>
                    <a:pt x="0" y="0"/>
                  </a:moveTo>
                  <a:lnTo>
                    <a:pt x="7406640" y="0"/>
                  </a:lnTo>
                  <a:lnTo>
                    <a:pt x="7406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481560" y="2125980"/>
            <a:ext cx="5554980" cy="822960"/>
            <a:chOff x="0" y="0"/>
            <a:chExt cx="7406640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406640" cy="1097280"/>
            </a:xfrm>
            <a:custGeom>
              <a:avLst/>
              <a:gdLst/>
              <a:ahLst/>
              <a:cxnLst/>
              <a:rect l="l" t="t" r="r" b="b"/>
              <a:pathLst>
                <a:path w="7406640" h="1097280">
                  <a:moveTo>
                    <a:pt x="0" y="0"/>
                  </a:moveTo>
                  <a:lnTo>
                    <a:pt x="7406640" y="0"/>
                  </a:lnTo>
                  <a:lnTo>
                    <a:pt x="7406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524" b="-8152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4066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SOM — 3 năm đầu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481560" y="2948940"/>
            <a:ext cx="5554980" cy="2743200"/>
            <a:chOff x="0" y="0"/>
            <a:chExt cx="7406640" cy="3657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406640" cy="3657600"/>
            </a:xfrm>
            <a:custGeom>
              <a:avLst/>
              <a:gdLst/>
              <a:ahLst/>
              <a:cxnLst/>
              <a:rect l="l" t="t" r="r" b="b"/>
              <a:pathLst>
                <a:path w="7406640" h="3657600">
                  <a:moveTo>
                    <a:pt x="0" y="0"/>
                  </a:moveTo>
                  <a:lnTo>
                    <a:pt x="7406640" y="0"/>
                  </a:lnTo>
                  <a:lnTo>
                    <a:pt x="7406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2733020" y="3085338"/>
            <a:ext cx="5052060" cy="251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200.000 user trả phí khả thi.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 6 triệu USD doanh thu mục tiêu.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8680" y="6034278"/>
            <a:ext cx="1650492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khúc khách hàng cốt lõi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22960" y="6789420"/>
            <a:ext cx="3909060" cy="2743200"/>
            <a:chOff x="0" y="0"/>
            <a:chExt cx="5212080" cy="3657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0"/>
                  </a:moveTo>
                  <a:lnTo>
                    <a:pt x="5212080" y="0"/>
                  </a:lnTo>
                  <a:lnTo>
                    <a:pt x="52120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822960" y="6789420"/>
            <a:ext cx="3909060" cy="754380"/>
            <a:chOff x="0" y="0"/>
            <a:chExt cx="5212080" cy="10058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22960" y="6789420"/>
            <a:ext cx="3909060" cy="754380"/>
            <a:chOff x="0" y="0"/>
            <a:chExt cx="5212080" cy="1005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967" b="-5096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5212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Sinh viên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18–24t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74420" y="7680198"/>
            <a:ext cx="3406140" cy="176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 nhân Pro 49K/tháng. Cần chứng chỉ thật để xin học bổng, internship.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006340" y="6789420"/>
            <a:ext cx="3909060" cy="2743200"/>
            <a:chOff x="0" y="0"/>
            <a:chExt cx="5212080" cy="3657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0"/>
                  </a:moveTo>
                  <a:lnTo>
                    <a:pt x="5212080" y="0"/>
                  </a:lnTo>
                  <a:lnTo>
                    <a:pt x="52120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5006340" y="6789420"/>
            <a:ext cx="3909060" cy="754380"/>
            <a:chOff x="0" y="0"/>
            <a:chExt cx="521208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5006340" y="6789420"/>
            <a:ext cx="3909060" cy="754380"/>
            <a:chOff x="0" y="0"/>
            <a:chExt cx="5212080" cy="10058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967" b="-5096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5212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Phụ huynh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&amp; gia đình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257800" y="7680198"/>
            <a:ext cx="3406140" cy="176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Mua Pro tặng con để theo dõi giờ học. Trả phí cho "sự yên tâm".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9189720" y="6789420"/>
            <a:ext cx="3909060" cy="2743200"/>
            <a:chOff x="0" y="0"/>
            <a:chExt cx="5212080" cy="36576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0"/>
                  </a:moveTo>
                  <a:lnTo>
                    <a:pt x="5212080" y="0"/>
                  </a:lnTo>
                  <a:lnTo>
                    <a:pt x="52120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189720" y="6789420"/>
            <a:ext cx="3909060" cy="754380"/>
            <a:chOff x="0" y="0"/>
            <a:chExt cx="5212080" cy="10058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189720" y="6789420"/>
            <a:ext cx="3909060" cy="754380"/>
            <a:chOff x="0" y="0"/>
            <a:chExt cx="5212080" cy="10058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967" b="-50967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5212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Freelancer &amp; Remote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441180" y="7680198"/>
            <a:ext cx="3406140" cy="176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Cần báo cáo giờ làm cho khách hàng. Pro/Team 199K-499K/tháng.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3373100" y="6789420"/>
            <a:ext cx="3909060" cy="2743200"/>
            <a:chOff x="0" y="0"/>
            <a:chExt cx="5212080" cy="36576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212080" cy="3657600"/>
            </a:xfrm>
            <a:custGeom>
              <a:avLst/>
              <a:gdLst/>
              <a:ahLst/>
              <a:cxnLst/>
              <a:rect l="l" t="t" r="r" b="b"/>
              <a:pathLst>
                <a:path w="5212080" h="3657600">
                  <a:moveTo>
                    <a:pt x="0" y="0"/>
                  </a:moveTo>
                  <a:lnTo>
                    <a:pt x="5212080" y="0"/>
                  </a:lnTo>
                  <a:lnTo>
                    <a:pt x="52120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3373100" y="6789420"/>
            <a:ext cx="3909060" cy="754380"/>
            <a:chOff x="0" y="0"/>
            <a:chExt cx="5212080" cy="10058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3373100" y="6789420"/>
            <a:ext cx="3909060" cy="754380"/>
            <a:chOff x="0" y="0"/>
            <a:chExt cx="5212080" cy="10058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212080" cy="1005840"/>
            </a:xfrm>
            <a:custGeom>
              <a:avLst/>
              <a:gdLst/>
              <a:ahLst/>
              <a:cxnLst/>
              <a:rect l="l" t="t" r="r" b="b"/>
              <a:pathLst>
                <a:path w="5212080" h="100584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967" b="-50967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5212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Trường học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&amp; trung tâm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3624560" y="7680198"/>
            <a:ext cx="3406140" cy="176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plan. License theo lớp. Báo cáo nhóm cho giáo viên.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/ 12</a:t>
            </a:r>
          </a:p>
        </p:txBody>
      </p:sp>
      <p:sp>
        <p:nvSpPr>
          <p:cNvPr id="69" name="Freeform 69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  Tính khả thi — Mô hình kinh doanh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680" y="1165098"/>
            <a:ext cx="1499616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Freemium + Credit System + Pro/Team — không phụ thuộc quảng cáo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744200" y="2125218"/>
            <a:ext cx="717804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 dòng tiền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12780" y="2838450"/>
            <a:ext cx="7178040" cy="267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Pro Cá nhân: 49.000 đ / tháng.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Pro Team: 199.000 đ / tháng / 5 người.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Trường &amp; doanh nghiệp: từ 499.000 đ / tháng.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Credit pack: 19K – 99K cho user thỉnh thoảng dùng AI/PDF.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4200" y="5759958"/>
            <a:ext cx="717804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Tại sao bền vững?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12780" y="6473190"/>
            <a:ext cx="7178040" cy="321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CAC ≤ 30K nhờ viral loop từ chứng chỉ chia sẻ.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LTV ≈ 12 tháng × 49K = 588K → LTV/CAC ≈ 19×.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Chi phí biên gần 0: AI on-device + Supabase free tier.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Credit System chống gian lận, chống lạm dụng AI miễn phí.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/ 12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0" name="Picture 19" descr="monetization.png">
            <a:extLst>
              <a:ext uri="{FF2B5EF4-FFF2-40B4-BE49-F238E27FC236}">
                <a16:creationId xmlns:a16="http://schemas.microsoft.com/office/drawing/2014/main" id="{E487FDC7-85B5-A4C2-8664-57704825D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1911096"/>
            <a:ext cx="9389520" cy="7781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9.  Tính khả thi — Business Model Canvas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8680" y="1165098"/>
            <a:ext cx="14996160" cy="5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 chuẩn 9 khối Osterwalder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/ 12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6" name="Picture 15" descr="bmc.png">
            <a:extLst>
              <a:ext uri="{FF2B5EF4-FFF2-40B4-BE49-F238E27FC236}">
                <a16:creationId xmlns:a16="http://schemas.microsoft.com/office/drawing/2014/main" id="{ABFF0A15-5B68-9318-6976-771CCEA7E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581" y="1481328"/>
            <a:ext cx="18312581" cy="8256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246888"/>
            <a:chOff x="0" y="0"/>
            <a:chExt cx="24383390" cy="329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329184"/>
            </a:xfrm>
            <a:custGeom>
              <a:avLst/>
              <a:gdLst/>
              <a:ahLst/>
              <a:cxnLst/>
              <a:rect l="l" t="t" r="r" b="b"/>
              <a:pathLst>
                <a:path w="24383364" h="329184">
                  <a:moveTo>
                    <a:pt x="0" y="0"/>
                  </a:moveTo>
                  <a:lnTo>
                    <a:pt x="24383364" y="0"/>
                  </a:lnTo>
                  <a:lnTo>
                    <a:pt x="2438336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46888"/>
            <a:ext cx="617220" cy="1234440"/>
            <a:chOff x="0" y="0"/>
            <a:chExt cx="822960" cy="1645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" cy="1645920"/>
            </a:xfrm>
            <a:custGeom>
              <a:avLst/>
              <a:gdLst/>
              <a:ahLst/>
              <a:cxnLst/>
              <a:rect l="l" t="t" r="r" b="b"/>
              <a:pathLst>
                <a:path w="822960" h="1645920">
                  <a:moveTo>
                    <a:pt x="0" y="0"/>
                  </a:moveTo>
                  <a:lnTo>
                    <a:pt x="822960" y="0"/>
                  </a:lnTo>
                  <a:lnTo>
                    <a:pt x="8229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8680" y="332613"/>
            <a:ext cx="14996160" cy="95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  Kết quả dự kiến &amp; Kế hoạch phát triển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22960" y="1714500"/>
            <a:ext cx="16596360" cy="22498"/>
            <a:chOff x="0" y="0"/>
            <a:chExt cx="22128480" cy="299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28480" cy="29972"/>
            </a:xfrm>
            <a:custGeom>
              <a:avLst/>
              <a:gdLst/>
              <a:ahLst/>
              <a:cxnLst/>
              <a:rect l="l" t="t" r="r" b="b"/>
              <a:pathLst>
                <a:path w="22128480" h="29972">
                  <a:moveTo>
                    <a:pt x="0" y="0"/>
                  </a:moveTo>
                  <a:lnTo>
                    <a:pt x="22128480" y="0"/>
                  </a:lnTo>
                  <a:lnTo>
                    <a:pt x="22128480" y="29972"/>
                  </a:lnTo>
                  <a:lnTo>
                    <a:pt x="0" y="29972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868680" y="2125218"/>
            <a:ext cx="81381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Lộ trình 6 giai đoạn (8–10 tuần MVP, 12 tháng go-to-market)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22960" y="2880360"/>
            <a:ext cx="2057400" cy="685800"/>
            <a:chOff x="0" y="0"/>
            <a:chExt cx="27432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22960" y="2880360"/>
            <a:ext cx="2057400" cy="685800"/>
            <a:chOff x="0" y="0"/>
            <a:chExt cx="27432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Tuần 1–2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80360" y="2880360"/>
            <a:ext cx="6172200" cy="685800"/>
            <a:chOff x="0" y="0"/>
            <a:chExt cx="822960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086100" y="2880360"/>
            <a:ext cx="6035040" cy="685800"/>
            <a:chOff x="0" y="0"/>
            <a:chExt cx="804672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46720" cy="914400"/>
            </a:xfrm>
            <a:custGeom>
              <a:avLst/>
              <a:gdLst/>
              <a:ahLst/>
              <a:cxnLst/>
              <a:rect l="l" t="t" r="r" b="b"/>
              <a:pathLst>
                <a:path w="8046720" h="91440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468" b="-12146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0467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Foundation + Engine MVP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22960" y="3771900"/>
            <a:ext cx="2057400" cy="685800"/>
            <a:chOff x="0" y="0"/>
            <a:chExt cx="274320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22960" y="3771900"/>
            <a:ext cx="2057400" cy="685800"/>
            <a:chOff x="0" y="0"/>
            <a:chExt cx="27432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Tuần 3–4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80360" y="3771900"/>
            <a:ext cx="6172200" cy="685800"/>
            <a:chOff x="0" y="0"/>
            <a:chExt cx="822960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3086100" y="3771900"/>
            <a:ext cx="6035040" cy="685800"/>
            <a:chOff x="0" y="0"/>
            <a:chExt cx="8046720" cy="914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046720" cy="914400"/>
            </a:xfrm>
            <a:custGeom>
              <a:avLst/>
              <a:gdLst/>
              <a:ahLst/>
              <a:cxnLst/>
              <a:rect l="l" t="t" r="r" b="b"/>
              <a:pathLst>
                <a:path w="8046720" h="91440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468" b="-12146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80467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Gamification + Chứng chỉ + QR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22960" y="4663440"/>
            <a:ext cx="2057400" cy="685800"/>
            <a:chOff x="0" y="0"/>
            <a:chExt cx="27432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22960" y="4663440"/>
            <a:ext cx="2057400" cy="685800"/>
            <a:chOff x="0" y="0"/>
            <a:chExt cx="27432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Tuần 5–6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880360" y="4663440"/>
            <a:ext cx="6172200" cy="685800"/>
            <a:chOff x="0" y="0"/>
            <a:chExt cx="82296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3086100" y="4663440"/>
            <a:ext cx="6035040" cy="685800"/>
            <a:chOff x="0" y="0"/>
            <a:chExt cx="804672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046720" cy="914400"/>
            </a:xfrm>
            <a:custGeom>
              <a:avLst/>
              <a:gdLst/>
              <a:ahLst/>
              <a:cxnLst/>
              <a:rect l="l" t="t" r="r" b="b"/>
              <a:pathLst>
                <a:path w="8046720" h="91440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468" b="-12146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80467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Freemium + Credit + Stripe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2960" y="5554980"/>
            <a:ext cx="2057400" cy="685800"/>
            <a:chOff x="0" y="0"/>
            <a:chExt cx="2743200" cy="914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822960" y="5554980"/>
            <a:ext cx="2057400" cy="685800"/>
            <a:chOff x="0" y="0"/>
            <a:chExt cx="2743200" cy="91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Tuần 7–8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880360" y="5554980"/>
            <a:ext cx="6172200" cy="685800"/>
            <a:chOff x="0" y="0"/>
            <a:chExt cx="8229600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3086100" y="5554980"/>
            <a:ext cx="6035040" cy="685800"/>
            <a:chOff x="0" y="0"/>
            <a:chExt cx="804672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046720" cy="914400"/>
            </a:xfrm>
            <a:custGeom>
              <a:avLst/>
              <a:gdLst/>
              <a:ahLst/>
              <a:cxnLst/>
              <a:rect l="l" t="t" r="r" b="b"/>
              <a:pathLst>
                <a:path w="8046720" h="91440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468" b="-12146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80467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Insight + Diagnostic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22960" y="6446520"/>
            <a:ext cx="2057400" cy="685800"/>
            <a:chOff x="0" y="0"/>
            <a:chExt cx="2743200" cy="91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822960" y="6446520"/>
            <a:ext cx="2057400" cy="685800"/>
            <a:chOff x="0" y="0"/>
            <a:chExt cx="2743200" cy="914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Tuần 9–10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880360" y="6446520"/>
            <a:ext cx="6172200" cy="685800"/>
            <a:chOff x="0" y="0"/>
            <a:chExt cx="8229600" cy="914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3086100" y="6446520"/>
            <a:ext cx="6035040" cy="685800"/>
            <a:chOff x="0" y="0"/>
            <a:chExt cx="8046720" cy="9144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046720" cy="914400"/>
            </a:xfrm>
            <a:custGeom>
              <a:avLst/>
              <a:gdLst/>
              <a:ahLst/>
              <a:cxnLst/>
              <a:rect l="l" t="t" r="r" b="b"/>
              <a:pathLst>
                <a:path w="8046720" h="91440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468" b="-12146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80467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Beta 100 user + Tối ưu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22960" y="7338060"/>
            <a:ext cx="2057400" cy="685800"/>
            <a:chOff x="0" y="0"/>
            <a:chExt cx="2743200" cy="914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822960" y="7338060"/>
            <a:ext cx="2057400" cy="685800"/>
            <a:chOff x="0" y="0"/>
            <a:chExt cx="2743200" cy="9144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Tháng 4–12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880360" y="7338060"/>
            <a:ext cx="6172200" cy="685800"/>
            <a:chOff x="0" y="0"/>
            <a:chExt cx="8229600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3086100" y="7338060"/>
            <a:ext cx="6035040" cy="685800"/>
            <a:chOff x="0" y="0"/>
            <a:chExt cx="8046720" cy="9144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046720" cy="914400"/>
            </a:xfrm>
            <a:custGeom>
              <a:avLst/>
              <a:gdLst/>
              <a:ahLst/>
              <a:cxnLst/>
              <a:rect l="l" t="t" r="r" b="b"/>
              <a:pathLst>
                <a:path w="8046720" h="91440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468" b="-121468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80467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Scale Việt Nam → Đông Nam Á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9646920" y="2125218"/>
            <a:ext cx="772668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KPI 12 tháng đầu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9601200" y="2880360"/>
            <a:ext cx="3771900" cy="1714500"/>
            <a:chOff x="0" y="0"/>
            <a:chExt cx="5029200" cy="22860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0" y="0"/>
                  </a:moveTo>
                  <a:lnTo>
                    <a:pt x="5029200" y="0"/>
                  </a:lnTo>
                  <a:lnTo>
                    <a:pt x="5029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601200" y="2880360"/>
            <a:ext cx="164592" cy="1714500"/>
            <a:chOff x="0" y="0"/>
            <a:chExt cx="219456" cy="22860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19456" cy="2286000"/>
            </a:xfrm>
            <a:custGeom>
              <a:avLst/>
              <a:gdLst/>
              <a:ahLst/>
              <a:cxnLst/>
              <a:rect l="l" t="t" r="r" b="b"/>
              <a:pathLst>
                <a:path w="219456" h="2286000">
                  <a:moveTo>
                    <a:pt x="0" y="0"/>
                  </a:moveTo>
                  <a:lnTo>
                    <a:pt x="219456" y="0"/>
                  </a:lnTo>
                  <a:lnTo>
                    <a:pt x="21945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75" name="TextBox 75"/>
          <p:cNvSpPr txBox="1"/>
          <p:nvPr/>
        </p:nvSpPr>
        <p:spPr>
          <a:xfrm>
            <a:off x="9921240" y="3016758"/>
            <a:ext cx="3337560" cy="8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10.000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921240" y="3839718"/>
            <a:ext cx="33375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dùng cài đặt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3578840" y="2880360"/>
            <a:ext cx="3771900" cy="1714500"/>
            <a:chOff x="0" y="0"/>
            <a:chExt cx="5029200" cy="22860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0" y="0"/>
                  </a:moveTo>
                  <a:lnTo>
                    <a:pt x="5029200" y="0"/>
                  </a:lnTo>
                  <a:lnTo>
                    <a:pt x="5029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13578840" y="2880360"/>
            <a:ext cx="164592" cy="1714500"/>
            <a:chOff x="0" y="0"/>
            <a:chExt cx="219456" cy="22860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19456" cy="2286000"/>
            </a:xfrm>
            <a:custGeom>
              <a:avLst/>
              <a:gdLst/>
              <a:ahLst/>
              <a:cxnLst/>
              <a:rect l="l" t="t" r="r" b="b"/>
              <a:pathLst>
                <a:path w="219456" h="2286000">
                  <a:moveTo>
                    <a:pt x="0" y="0"/>
                  </a:moveTo>
                  <a:lnTo>
                    <a:pt x="219456" y="0"/>
                  </a:lnTo>
                  <a:lnTo>
                    <a:pt x="21945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81" name="TextBox 81"/>
          <p:cNvSpPr txBox="1"/>
          <p:nvPr/>
        </p:nvSpPr>
        <p:spPr>
          <a:xfrm>
            <a:off x="13898880" y="3016758"/>
            <a:ext cx="3337560" cy="8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1.500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3898880" y="3839718"/>
            <a:ext cx="33375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dùng trả phí (Pro+Team)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9601200" y="4800600"/>
            <a:ext cx="3771900" cy="1714500"/>
            <a:chOff x="0" y="0"/>
            <a:chExt cx="5029200" cy="22860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0" y="0"/>
                  </a:moveTo>
                  <a:lnTo>
                    <a:pt x="5029200" y="0"/>
                  </a:lnTo>
                  <a:lnTo>
                    <a:pt x="5029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9601200" y="4800600"/>
            <a:ext cx="164592" cy="1714500"/>
            <a:chOff x="0" y="0"/>
            <a:chExt cx="219456" cy="22860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19456" cy="2286000"/>
            </a:xfrm>
            <a:custGeom>
              <a:avLst/>
              <a:gdLst/>
              <a:ahLst/>
              <a:cxnLst/>
              <a:rect l="l" t="t" r="r" b="b"/>
              <a:pathLst>
                <a:path w="219456" h="2286000">
                  <a:moveTo>
                    <a:pt x="0" y="0"/>
                  </a:moveTo>
                  <a:lnTo>
                    <a:pt x="219456" y="0"/>
                  </a:lnTo>
                  <a:lnTo>
                    <a:pt x="21945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87" name="TextBox 87"/>
          <p:cNvSpPr txBox="1"/>
          <p:nvPr/>
        </p:nvSpPr>
        <p:spPr>
          <a:xfrm>
            <a:off x="9921240" y="4936998"/>
            <a:ext cx="3337560" cy="8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≥ 30%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921240" y="5759958"/>
            <a:ext cx="33375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Tỉ lệ giữ chân tháng 2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13578840" y="4800600"/>
            <a:ext cx="3771900" cy="1714500"/>
            <a:chOff x="0" y="0"/>
            <a:chExt cx="5029200" cy="22860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0" y="0"/>
                  </a:moveTo>
                  <a:lnTo>
                    <a:pt x="5029200" y="0"/>
                  </a:lnTo>
                  <a:lnTo>
                    <a:pt x="5029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13578840" y="4800600"/>
            <a:ext cx="164592" cy="1714500"/>
            <a:chOff x="0" y="0"/>
            <a:chExt cx="219456" cy="22860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19456" cy="2286000"/>
            </a:xfrm>
            <a:custGeom>
              <a:avLst/>
              <a:gdLst/>
              <a:ahLst/>
              <a:cxnLst/>
              <a:rect l="l" t="t" r="r" b="b"/>
              <a:pathLst>
                <a:path w="219456" h="2286000">
                  <a:moveTo>
                    <a:pt x="0" y="0"/>
                  </a:moveTo>
                  <a:lnTo>
                    <a:pt x="219456" y="0"/>
                  </a:lnTo>
                  <a:lnTo>
                    <a:pt x="21945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93" name="TextBox 93"/>
          <p:cNvSpPr txBox="1"/>
          <p:nvPr/>
        </p:nvSpPr>
        <p:spPr>
          <a:xfrm>
            <a:off x="13898880" y="4936998"/>
            <a:ext cx="3337560" cy="8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≈ 880 tr đ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3898880" y="5759958"/>
            <a:ext cx="33375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Doanh thu năm 1 (~36.000 USD)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9601200" y="6720840"/>
            <a:ext cx="3771900" cy="1714500"/>
            <a:chOff x="0" y="0"/>
            <a:chExt cx="5029200" cy="22860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0" y="0"/>
                  </a:moveTo>
                  <a:lnTo>
                    <a:pt x="5029200" y="0"/>
                  </a:lnTo>
                  <a:lnTo>
                    <a:pt x="5029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9601200" y="6720840"/>
            <a:ext cx="164592" cy="1714500"/>
            <a:chOff x="0" y="0"/>
            <a:chExt cx="219456" cy="22860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219456" cy="2286000"/>
            </a:xfrm>
            <a:custGeom>
              <a:avLst/>
              <a:gdLst/>
              <a:ahLst/>
              <a:cxnLst/>
              <a:rect l="l" t="t" r="r" b="b"/>
              <a:pathLst>
                <a:path w="219456" h="2286000">
                  <a:moveTo>
                    <a:pt x="0" y="0"/>
                  </a:moveTo>
                  <a:lnTo>
                    <a:pt x="219456" y="0"/>
                  </a:lnTo>
                  <a:lnTo>
                    <a:pt x="21945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99" name="TextBox 99"/>
          <p:cNvSpPr txBox="1"/>
          <p:nvPr/>
        </p:nvSpPr>
        <p:spPr>
          <a:xfrm>
            <a:off x="9921240" y="6857238"/>
            <a:ext cx="3337560" cy="8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LTV/CAC ≈ 19×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921240" y="7680198"/>
            <a:ext cx="33375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 vị kinh tế lành mạnh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3578840" y="6720840"/>
            <a:ext cx="3771900" cy="1714500"/>
            <a:chOff x="0" y="0"/>
            <a:chExt cx="5029200" cy="22860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029200" cy="2286000"/>
            </a:xfrm>
            <a:custGeom>
              <a:avLst/>
              <a:gdLst/>
              <a:ahLst/>
              <a:cxnLst/>
              <a:rect l="l" t="t" r="r" b="b"/>
              <a:pathLst>
                <a:path w="5029200" h="2286000">
                  <a:moveTo>
                    <a:pt x="0" y="0"/>
                  </a:moveTo>
                  <a:lnTo>
                    <a:pt x="5029200" y="0"/>
                  </a:lnTo>
                  <a:lnTo>
                    <a:pt x="5029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id="103" name="Group 103"/>
          <p:cNvGrpSpPr/>
          <p:nvPr/>
        </p:nvGrpSpPr>
        <p:grpSpPr>
          <a:xfrm>
            <a:off x="13578840" y="6720840"/>
            <a:ext cx="164592" cy="1714500"/>
            <a:chOff x="0" y="0"/>
            <a:chExt cx="219456" cy="22860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19456" cy="2286000"/>
            </a:xfrm>
            <a:custGeom>
              <a:avLst/>
              <a:gdLst/>
              <a:ahLst/>
              <a:cxnLst/>
              <a:rect l="l" t="t" r="r" b="b"/>
              <a:pathLst>
                <a:path w="219456" h="2286000">
                  <a:moveTo>
                    <a:pt x="0" y="0"/>
                  </a:moveTo>
                  <a:lnTo>
                    <a:pt x="219456" y="0"/>
                  </a:lnTo>
                  <a:lnTo>
                    <a:pt x="219456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105" name="TextBox 105"/>
          <p:cNvSpPr txBox="1"/>
          <p:nvPr/>
        </p:nvSpPr>
        <p:spPr>
          <a:xfrm>
            <a:off x="13898880" y="6857238"/>
            <a:ext cx="3337560" cy="8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B2E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Hoà vốn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3898880" y="7680198"/>
            <a:ext cx="333756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Tháng thứ 8–9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94360" y="9737598"/>
            <a:ext cx="108813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5819120" y="9737598"/>
            <a:ext cx="1965960" cy="39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55B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/ 12</a:t>
            </a:r>
          </a:p>
        </p:txBody>
      </p:sp>
      <p:sp>
        <p:nvSpPr>
          <p:cNvPr id="109" name="Freeform 109"/>
          <p:cNvSpPr/>
          <p:nvPr/>
        </p:nvSpPr>
        <p:spPr>
          <a:xfrm>
            <a:off x="14564348" y="363448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2"/>
                </a:lnTo>
                <a:lnTo>
                  <a:pt x="0" y="1234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0" name="Freeform 110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E4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8229600"/>
            <a:ext cx="18287543" cy="2057400"/>
            <a:chOff x="0" y="0"/>
            <a:chExt cx="24383390" cy="274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2743200"/>
            </a:xfrm>
            <a:custGeom>
              <a:avLst/>
              <a:gdLst/>
              <a:ahLst/>
              <a:cxnLst/>
              <a:rect l="l" t="t" r="r" b="b"/>
              <a:pathLst>
                <a:path w="24383364" h="2743200">
                  <a:moveTo>
                    <a:pt x="0" y="0"/>
                  </a:moveTo>
                  <a:lnTo>
                    <a:pt x="24383364" y="0"/>
                  </a:lnTo>
                  <a:lnTo>
                    <a:pt x="24383364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1F6F8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8229600"/>
            <a:ext cx="18287543" cy="30004"/>
            <a:chOff x="0" y="0"/>
            <a:chExt cx="24383390" cy="400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40005"/>
            </a:xfrm>
            <a:custGeom>
              <a:avLst/>
              <a:gdLst/>
              <a:ahLst/>
              <a:cxnLst/>
              <a:rect l="l" t="t" r="r" b="b"/>
              <a:pathLst>
                <a:path w="24383364" h="40005">
                  <a:moveTo>
                    <a:pt x="0" y="0"/>
                  </a:moveTo>
                  <a:lnTo>
                    <a:pt x="24383364" y="0"/>
                  </a:lnTo>
                  <a:lnTo>
                    <a:pt x="24383364" y="40005"/>
                  </a:lnTo>
                  <a:lnTo>
                    <a:pt x="0" y="40005"/>
                  </a:lnTo>
                  <a:close/>
                </a:path>
              </a:pathLst>
            </a:custGeom>
            <a:solidFill>
              <a:srgbClr val="E87A2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43000" y="2037588"/>
            <a:ext cx="15956280" cy="137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FOCUSPROOF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3291078"/>
            <a:ext cx="15956280" cy="1079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E87A2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Tập trung không còn là cảm giác — mà là một bằng chứng có thể xác thực.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4936998"/>
            <a:ext cx="1595628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4F7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Lời kêu gọi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5612130"/>
            <a:ext cx="15956280" cy="2434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4F7FA"/>
                </a:solidFill>
                <a:latin typeface="Calibri (MS)"/>
                <a:ea typeface="Calibri (MS)"/>
                <a:cs typeface="Calibri (MS)"/>
                <a:sym typeface="Calibri (MS)"/>
              </a:rPr>
              <a:t>►  Đồng hành cùng FocusProof để biến mỗi giờ học của 5 triệu sinh viên Việt Nam thành tài sản số.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4F7FA"/>
                </a:solidFill>
                <a:latin typeface="Calibri (MS)"/>
                <a:ea typeface="Calibri (MS)"/>
                <a:cs typeface="Calibri (MS)"/>
                <a:sym typeface="Calibri (MS)"/>
              </a:rPr>
              <a:t>►  Tìm Mentor &amp; Đối tác trường — thử nghiệm Team plan miễn phí cho 3 lớp đầu tiên.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4F7FA"/>
                </a:solidFill>
                <a:latin typeface="Calibri (MS)"/>
                <a:ea typeface="Calibri (MS)"/>
                <a:cs typeface="Calibri (MS)"/>
                <a:sym typeface="Calibri (MS)"/>
              </a:rPr>
              <a:t>►  Gọi vốn hạt giống 500 triệu đồng để mở rộng đội ngũ và go-to-market Đông Nam Á.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8503158"/>
            <a:ext cx="1595628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Liên hệ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9051798"/>
            <a:ext cx="15956280" cy="66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Ngô Bình Minh — MSSV 524H0169 — Khoa CNTT — ĐH Tôn Đức Thắng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9531858"/>
            <a:ext cx="1595628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4F7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ngobinhminh2322006@gmail.com  //524H0169@student.tdtu.edu.vn · SĐT: 0905484286 · Website: https://focusproof.hcm.it.com/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319465" y="-371365"/>
            <a:ext cx="2703085" cy="2703085"/>
          </a:xfrm>
          <a:custGeom>
            <a:avLst/>
            <a:gdLst/>
            <a:ahLst/>
            <a:cxnLst/>
            <a:rect l="l" t="t" r="r" b="b"/>
            <a:pathLst>
              <a:path w="2703085" h="2703085">
                <a:moveTo>
                  <a:pt x="0" y="0"/>
                </a:moveTo>
                <a:lnTo>
                  <a:pt x="2703085" y="0"/>
                </a:lnTo>
                <a:lnTo>
                  <a:pt x="2703085" y="2703085"/>
                </a:lnTo>
                <a:lnTo>
                  <a:pt x="0" y="2703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0" y="48599"/>
            <a:ext cx="2237752" cy="1234493"/>
          </a:xfrm>
          <a:custGeom>
            <a:avLst/>
            <a:gdLst/>
            <a:ahLst/>
            <a:cxnLst/>
            <a:rect l="l" t="t" r="r" b="b"/>
            <a:pathLst>
              <a:path w="2237752" h="1234493">
                <a:moveTo>
                  <a:pt x="0" y="0"/>
                </a:moveTo>
                <a:lnTo>
                  <a:pt x="2237752" y="0"/>
                </a:lnTo>
                <a:lnTo>
                  <a:pt x="2237752" y="1234493"/>
                </a:lnTo>
                <a:lnTo>
                  <a:pt x="0" y="1234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1843</Words>
  <Application>Microsoft Office PowerPoint</Application>
  <PresentationFormat>Custom</PresentationFormat>
  <Paragraphs>189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 (MS) Bold</vt:lpstr>
      <vt:lpstr>Calibri</vt:lpstr>
      <vt:lpstr>Times New Roman</vt:lpstr>
      <vt:lpstr>Arial</vt:lpstr>
      <vt:lpstr>Calibri (MS)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FocusProof_Pitch_Deck.pptx</dc:title>
  <cp:lastModifiedBy>ngobinhminh2322006@gmail.com</cp:lastModifiedBy>
  <cp:revision>3</cp:revision>
  <dcterms:created xsi:type="dcterms:W3CDTF">2006-08-16T00:00:00Z</dcterms:created>
  <dcterms:modified xsi:type="dcterms:W3CDTF">2026-04-18T09:05:42Z</dcterms:modified>
  <dc:identifier>DAHHMP9nAEM</dc:identifier>
</cp:coreProperties>
</file>