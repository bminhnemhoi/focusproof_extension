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0276800" cx="21374100"/>
  <p:notesSz cx="6858000" cy="9144000"/>
  <p:embeddedFontLst>
    <p:embeddedFont>
      <p:font typeface="Barlow"/>
      <p:bold r:id="rId7"/>
      <p:boldItalic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gImn10CgRMzTmBw1vI3dBZzPG+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arlow-bold.fntdata"/><Relationship Id="rId8" Type="http://schemas.openxmlformats.org/officeDocument/2006/relationships/font" Target="fonts/Barlow-boldItalic.fntdata"/><Relationship Id="rId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3.png"/><Relationship Id="rId9" Type="http://schemas.openxmlformats.org/officeDocument/2006/relationships/image" Target="../media/image1.png"/><Relationship Id="rId10" Type="http://schemas.openxmlformats.org/officeDocument/2006/relationships/image" Target="../media/image5.png"/><Relationship Id="rId11" Type="http://schemas.openxmlformats.org/officeDocument/2006/relationships/image" Target="../media/image9.png"/><Relationship Id="rId12" Type="http://schemas.openxmlformats.org/officeDocument/2006/relationships/image" Target="../media/image8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987A1"/>
            </a:gs>
            <a:gs pos="25000">
              <a:srgbClr val="0E1C33"/>
            </a:gs>
            <a:gs pos="50000">
              <a:srgbClr val="08111F"/>
            </a:gs>
            <a:gs pos="75000">
              <a:srgbClr val="007C76"/>
            </a:gs>
            <a:gs pos="100000">
              <a:srgbClr val="08101E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396312" y="18816018"/>
            <a:ext cx="17107200" cy="13429152"/>
          </a:xfrm>
          <a:custGeom>
            <a:rect b="b" l="l" r="r" t="t"/>
            <a:pathLst>
              <a:path extrusionOk="0" h="13429152" w="17107200">
                <a:moveTo>
                  <a:pt x="0" y="0"/>
                </a:moveTo>
                <a:lnTo>
                  <a:pt x="17107200" y="0"/>
                </a:lnTo>
                <a:lnTo>
                  <a:pt x="17107200" y="13429152"/>
                </a:lnTo>
                <a:lnTo>
                  <a:pt x="0" y="13429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1432296"/>
            <a:ext cx="17107200" cy="7091712"/>
          </a:xfrm>
          <a:custGeom>
            <a:rect b="b" l="l" r="r" t="t"/>
            <a:pathLst>
              <a:path extrusionOk="0" h="7091712" w="17107200">
                <a:moveTo>
                  <a:pt x="0" y="0"/>
                </a:moveTo>
                <a:lnTo>
                  <a:pt x="17107200" y="0"/>
                </a:lnTo>
                <a:lnTo>
                  <a:pt x="17107200" y="7091712"/>
                </a:lnTo>
                <a:lnTo>
                  <a:pt x="0" y="7091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 rot="-6509841">
            <a:off x="7319163" y="15138000"/>
            <a:ext cx="17107200" cy="18893494"/>
          </a:xfrm>
          <a:custGeom>
            <a:rect b="b" l="l" r="r" t="t"/>
            <a:pathLst>
              <a:path extrusionOk="0" h="18893494" w="17107200">
                <a:moveTo>
                  <a:pt x="0" y="0"/>
                </a:moveTo>
                <a:lnTo>
                  <a:pt x="17107200" y="0"/>
                </a:lnTo>
                <a:lnTo>
                  <a:pt x="17107200" y="18893494"/>
                </a:lnTo>
                <a:lnTo>
                  <a:pt x="0" y="18893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8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 rot="5929534">
            <a:off x="-4353272" y="-298531"/>
            <a:ext cx="17107200" cy="11975040"/>
          </a:xfrm>
          <a:custGeom>
            <a:rect b="b" l="l" r="r" t="t"/>
            <a:pathLst>
              <a:path extrusionOk="0" h="11975040" w="17107200">
                <a:moveTo>
                  <a:pt x="0" y="0"/>
                </a:moveTo>
                <a:lnTo>
                  <a:pt x="17107200" y="0"/>
                </a:lnTo>
                <a:lnTo>
                  <a:pt x="17107200" y="11975040"/>
                </a:lnTo>
                <a:lnTo>
                  <a:pt x="0" y="119750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-432312" y="-55624"/>
            <a:ext cx="10692000" cy="8299665"/>
          </a:xfrm>
          <a:custGeom>
            <a:rect b="b" l="l" r="r" t="t"/>
            <a:pathLst>
              <a:path extrusionOk="0" h="8299665" w="10692000">
                <a:moveTo>
                  <a:pt x="0" y="0"/>
                </a:moveTo>
                <a:lnTo>
                  <a:pt x="10692000" y="0"/>
                </a:lnTo>
                <a:lnTo>
                  <a:pt x="10692000" y="8299665"/>
                </a:lnTo>
                <a:lnTo>
                  <a:pt x="0" y="829966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>
            <a:off x="267300" y="-1407937"/>
            <a:ext cx="20849400" cy="6147478"/>
            <a:chOff x="0" y="0"/>
            <a:chExt cx="2641600" cy="77888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2641600" cy="778880"/>
            </a:xfrm>
            <a:custGeom>
              <a:rect b="b" l="l" r="r" t="t"/>
              <a:pathLst>
                <a:path extrusionOk="0" h="778880" w="2641600">
                  <a:moveTo>
                    <a:pt x="38989" y="0"/>
                  </a:moveTo>
                  <a:lnTo>
                    <a:pt x="2602611" y="0"/>
                  </a:lnTo>
                  <a:cubicBezTo>
                    <a:pt x="2612951" y="0"/>
                    <a:pt x="2622868" y="4108"/>
                    <a:pt x="2630180" y="11420"/>
                  </a:cubicBezTo>
                  <a:cubicBezTo>
                    <a:pt x="2637492" y="18732"/>
                    <a:pt x="2641600" y="28649"/>
                    <a:pt x="2641600" y="38989"/>
                  </a:cubicBezTo>
                  <a:lnTo>
                    <a:pt x="2641600" y="739891"/>
                  </a:lnTo>
                  <a:cubicBezTo>
                    <a:pt x="2641600" y="750231"/>
                    <a:pt x="2637492" y="760148"/>
                    <a:pt x="2630180" y="767460"/>
                  </a:cubicBezTo>
                  <a:cubicBezTo>
                    <a:pt x="2622868" y="774772"/>
                    <a:pt x="2612951" y="778880"/>
                    <a:pt x="2602611" y="778880"/>
                  </a:cubicBezTo>
                  <a:lnTo>
                    <a:pt x="38989" y="778880"/>
                  </a:lnTo>
                  <a:cubicBezTo>
                    <a:pt x="28649" y="778880"/>
                    <a:pt x="18732" y="774772"/>
                    <a:pt x="11420" y="767460"/>
                  </a:cubicBezTo>
                  <a:cubicBezTo>
                    <a:pt x="4108" y="760148"/>
                    <a:pt x="0" y="750231"/>
                    <a:pt x="0" y="739891"/>
                  </a:cubicBezTo>
                  <a:lnTo>
                    <a:pt x="0" y="38989"/>
                  </a:lnTo>
                  <a:cubicBezTo>
                    <a:pt x="0" y="28649"/>
                    <a:pt x="4108" y="18732"/>
                    <a:pt x="11420" y="11420"/>
                  </a:cubicBezTo>
                  <a:cubicBezTo>
                    <a:pt x="18732" y="4108"/>
                    <a:pt x="28649" y="0"/>
                    <a:pt x="38989" y="0"/>
                  </a:cubicBezTo>
                  <a:close/>
                </a:path>
              </a:pathLst>
            </a:custGeom>
            <a:gradFill>
              <a:gsLst>
                <a:gs pos="0">
                  <a:srgbClr val="0E1C33">
                    <a:alpha val="72156"/>
                  </a:srgbClr>
                </a:gs>
                <a:gs pos="33333">
                  <a:srgbClr val="08111F">
                    <a:alpha val="72156"/>
                  </a:srgbClr>
                </a:gs>
                <a:gs pos="66667">
                  <a:srgbClr val="007C76">
                    <a:alpha val="72156"/>
                  </a:srgbClr>
                </a:gs>
                <a:gs pos="100000">
                  <a:srgbClr val="2987A1">
                    <a:alpha val="72156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rnd" cmpd="sng" w="38100">
              <a:solidFill>
                <a:srgbClr val="FFFFFF">
                  <a:alpha val="71764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9525"/>
              <a:ext cx="2641600" cy="769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 flipH="1">
            <a:off x="13252210" y="0"/>
            <a:ext cx="8131790" cy="8605068"/>
          </a:xfrm>
          <a:custGeom>
            <a:rect b="b" l="l" r="r" t="t"/>
            <a:pathLst>
              <a:path extrusionOk="0" h="8605068" w="8131790">
                <a:moveTo>
                  <a:pt x="8131790" y="0"/>
                </a:moveTo>
                <a:lnTo>
                  <a:pt x="0" y="0"/>
                </a:lnTo>
                <a:lnTo>
                  <a:pt x="0" y="8605068"/>
                </a:lnTo>
                <a:lnTo>
                  <a:pt x="8131790" y="8605068"/>
                </a:lnTo>
                <a:lnTo>
                  <a:pt x="813179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634695" y="3546982"/>
            <a:ext cx="20114611" cy="26318176"/>
            <a:chOff x="0" y="0"/>
            <a:chExt cx="2548503" cy="3334489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2548503" cy="3334489"/>
            </a:xfrm>
            <a:custGeom>
              <a:rect b="b" l="l" r="r" t="t"/>
              <a:pathLst>
                <a:path extrusionOk="0" h="3334489" w="2548503">
                  <a:moveTo>
                    <a:pt x="40413" y="0"/>
                  </a:moveTo>
                  <a:lnTo>
                    <a:pt x="2508089" y="0"/>
                  </a:lnTo>
                  <a:cubicBezTo>
                    <a:pt x="2518808" y="0"/>
                    <a:pt x="2529087" y="4258"/>
                    <a:pt x="2536666" y="11837"/>
                  </a:cubicBezTo>
                  <a:cubicBezTo>
                    <a:pt x="2544245" y="19416"/>
                    <a:pt x="2548503" y="29695"/>
                    <a:pt x="2548503" y="40413"/>
                  </a:cubicBezTo>
                  <a:lnTo>
                    <a:pt x="2548503" y="3294076"/>
                  </a:lnTo>
                  <a:cubicBezTo>
                    <a:pt x="2548503" y="3316395"/>
                    <a:pt x="2530409" y="3334489"/>
                    <a:pt x="2508089" y="3334489"/>
                  </a:cubicBezTo>
                  <a:lnTo>
                    <a:pt x="40413" y="3334489"/>
                  </a:lnTo>
                  <a:cubicBezTo>
                    <a:pt x="29695" y="3334489"/>
                    <a:pt x="19416" y="3330231"/>
                    <a:pt x="11837" y="3322652"/>
                  </a:cubicBezTo>
                  <a:cubicBezTo>
                    <a:pt x="4258" y="3315073"/>
                    <a:pt x="0" y="3304794"/>
                    <a:pt x="0" y="3294076"/>
                  </a:cubicBezTo>
                  <a:lnTo>
                    <a:pt x="0" y="40413"/>
                  </a:lnTo>
                  <a:cubicBezTo>
                    <a:pt x="0" y="29695"/>
                    <a:pt x="4258" y="19416"/>
                    <a:pt x="11837" y="11837"/>
                  </a:cubicBezTo>
                  <a:cubicBezTo>
                    <a:pt x="19416" y="4258"/>
                    <a:pt x="29695" y="0"/>
                    <a:pt x="40413" y="0"/>
                  </a:cubicBezTo>
                  <a:close/>
                </a:path>
              </a:pathLst>
            </a:custGeom>
            <a:gradFill>
              <a:gsLst>
                <a:gs pos="0">
                  <a:srgbClr val="2987A1">
                    <a:alpha val="14901"/>
                  </a:srgbClr>
                </a:gs>
                <a:gs pos="33333">
                  <a:srgbClr val="0E1C33">
                    <a:alpha val="50196"/>
                  </a:srgbClr>
                </a:gs>
                <a:gs pos="66667">
                  <a:srgbClr val="08111F">
                    <a:alpha val="50196"/>
                  </a:srgbClr>
                </a:gs>
                <a:gs pos="100000">
                  <a:srgbClr val="007C76">
                    <a:alpha val="50196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rnd" cmpd="sng" w="38100">
              <a:solidFill>
                <a:srgbClr val="FFFFFF">
                  <a:alpha val="4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9525"/>
              <a:ext cx="2548503" cy="33249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/>
          <p:nvPr/>
        </p:nvSpPr>
        <p:spPr>
          <a:xfrm>
            <a:off x="-7918905" y="11419608"/>
            <a:ext cx="17107200" cy="20037716"/>
          </a:xfrm>
          <a:custGeom>
            <a:rect b="b" l="l" r="r" t="t"/>
            <a:pathLst>
              <a:path extrusionOk="0" h="20037716" w="17107200">
                <a:moveTo>
                  <a:pt x="0" y="0"/>
                </a:moveTo>
                <a:lnTo>
                  <a:pt x="17107200" y="0"/>
                </a:lnTo>
                <a:lnTo>
                  <a:pt x="17107200" y="20037716"/>
                </a:lnTo>
                <a:lnTo>
                  <a:pt x="0" y="200377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1069200" y="6823440"/>
            <a:ext cx="19245600" cy="22508934"/>
            <a:chOff x="0" y="0"/>
            <a:chExt cx="2438400" cy="2851861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2438400" cy="2851861"/>
            </a:xfrm>
            <a:custGeom>
              <a:rect b="b" l="l" r="r" t="t"/>
              <a:pathLst>
                <a:path extrusionOk="0" h="2851861" w="2438400">
                  <a:moveTo>
                    <a:pt x="42238" y="0"/>
                  </a:moveTo>
                  <a:lnTo>
                    <a:pt x="2396162" y="0"/>
                  </a:lnTo>
                  <a:cubicBezTo>
                    <a:pt x="2407364" y="0"/>
                    <a:pt x="2418107" y="4450"/>
                    <a:pt x="2426029" y="12371"/>
                  </a:cubicBezTo>
                  <a:cubicBezTo>
                    <a:pt x="2433950" y="20293"/>
                    <a:pt x="2438400" y="31036"/>
                    <a:pt x="2438400" y="42238"/>
                  </a:cubicBezTo>
                  <a:lnTo>
                    <a:pt x="2438400" y="2809623"/>
                  </a:lnTo>
                  <a:cubicBezTo>
                    <a:pt x="2438400" y="2832951"/>
                    <a:pt x="2419489" y="2851861"/>
                    <a:pt x="2396162" y="2851861"/>
                  </a:cubicBezTo>
                  <a:lnTo>
                    <a:pt x="42238" y="2851861"/>
                  </a:lnTo>
                  <a:cubicBezTo>
                    <a:pt x="31036" y="2851861"/>
                    <a:pt x="20293" y="2847411"/>
                    <a:pt x="12371" y="2839490"/>
                  </a:cubicBezTo>
                  <a:cubicBezTo>
                    <a:pt x="4450" y="2831569"/>
                    <a:pt x="0" y="2820825"/>
                    <a:pt x="0" y="2809623"/>
                  </a:cubicBezTo>
                  <a:lnTo>
                    <a:pt x="0" y="42238"/>
                  </a:lnTo>
                  <a:cubicBezTo>
                    <a:pt x="0" y="31036"/>
                    <a:pt x="4450" y="20293"/>
                    <a:pt x="12371" y="12371"/>
                  </a:cubicBezTo>
                  <a:cubicBezTo>
                    <a:pt x="20293" y="4450"/>
                    <a:pt x="31036" y="0"/>
                    <a:pt x="42238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9525"/>
              <a:ext cx="2438400" cy="284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/>
          <p:nvPr/>
        </p:nvSpPr>
        <p:spPr>
          <a:xfrm>
            <a:off x="11761200" y="51468"/>
            <a:ext cx="17107200" cy="17107200"/>
          </a:xfrm>
          <a:custGeom>
            <a:rect b="b" l="l" r="r" t="t"/>
            <a:pathLst>
              <a:path extrusionOk="0" h="17107200" w="17107200">
                <a:moveTo>
                  <a:pt x="0" y="0"/>
                </a:moveTo>
                <a:lnTo>
                  <a:pt x="17107200" y="0"/>
                </a:lnTo>
                <a:lnTo>
                  <a:pt x="17107200" y="17107200"/>
                </a:lnTo>
                <a:lnTo>
                  <a:pt x="0" y="1710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2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1"/>
          <p:cNvGrpSpPr/>
          <p:nvPr/>
        </p:nvGrpSpPr>
        <p:grpSpPr>
          <a:xfrm>
            <a:off x="13540218" y="328679"/>
            <a:ext cx="7133966" cy="2561312"/>
            <a:chOff x="0" y="0"/>
            <a:chExt cx="9511954" cy="3415083"/>
          </a:xfrm>
        </p:grpSpPr>
        <p:sp>
          <p:nvSpPr>
            <p:cNvPr id="102" name="Google Shape;102;p1"/>
            <p:cNvSpPr/>
            <p:nvPr/>
          </p:nvSpPr>
          <p:spPr>
            <a:xfrm>
              <a:off x="0" y="0"/>
              <a:ext cx="4108629" cy="3415083"/>
            </a:xfrm>
            <a:custGeom>
              <a:rect b="b" l="l" r="r" t="t"/>
              <a:pathLst>
                <a:path extrusionOk="0" h="3415083" w="4108629">
                  <a:moveTo>
                    <a:pt x="0" y="0"/>
                  </a:moveTo>
                  <a:lnTo>
                    <a:pt x="4108629" y="0"/>
                  </a:lnTo>
                  <a:lnTo>
                    <a:pt x="4108629" y="3415083"/>
                  </a:lnTo>
                  <a:lnTo>
                    <a:pt x="0" y="34150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-682" r="-68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3" name="Google Shape;103;p1"/>
            <p:cNvCxnSpPr/>
            <p:nvPr/>
          </p:nvCxnSpPr>
          <p:spPr>
            <a:xfrm>
              <a:off x="3921187" y="774253"/>
              <a:ext cx="0" cy="1866576"/>
            </a:xfrm>
            <a:prstGeom prst="straightConnector1">
              <a:avLst/>
            </a:prstGeom>
            <a:noFill/>
            <a:ln cap="flat" cmpd="sng" w="17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" name="Google Shape;104;p1"/>
            <p:cNvSpPr txBox="1"/>
            <p:nvPr/>
          </p:nvSpPr>
          <p:spPr>
            <a:xfrm>
              <a:off x="4248486" y="955043"/>
              <a:ext cx="5263468" cy="1409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75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KHOA</a:t>
              </a:r>
              <a:endParaRPr/>
            </a:p>
            <a:p>
              <a:pPr indent="0" lvl="0" marL="0" marR="0" rtl="0" algn="l">
                <a:lnSpc>
                  <a:spcPct val="14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75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CÔNG NGHỆ THÔNG TIN</a:t>
              </a:r>
              <a:endParaRPr/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0" y="16884270"/>
            <a:ext cx="21384000" cy="13391730"/>
          </a:xfrm>
          <a:custGeom>
            <a:rect b="b" l="l" r="r" t="t"/>
            <a:pathLst>
              <a:path extrusionOk="0" h="13391730" w="21384000">
                <a:moveTo>
                  <a:pt x="0" y="0"/>
                </a:moveTo>
                <a:lnTo>
                  <a:pt x="21384000" y="0"/>
                </a:lnTo>
                <a:lnTo>
                  <a:pt x="21384000" y="13391730"/>
                </a:lnTo>
                <a:lnTo>
                  <a:pt x="0" y="1339173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 flipH="1" rot="10800000">
            <a:off x="-1328142" y="1036735"/>
            <a:ext cx="10734713" cy="2155888"/>
          </a:xfrm>
          <a:custGeom>
            <a:rect b="b" l="l" r="r" t="t"/>
            <a:pathLst>
              <a:path extrusionOk="0" h="2155888" w="10734713">
                <a:moveTo>
                  <a:pt x="0" y="2155889"/>
                </a:moveTo>
                <a:lnTo>
                  <a:pt x="10734713" y="2155889"/>
                </a:lnTo>
                <a:lnTo>
                  <a:pt x="10734713" y="0"/>
                </a:lnTo>
                <a:lnTo>
                  <a:pt x="0" y="0"/>
                </a:lnTo>
                <a:lnTo>
                  <a:pt x="0" y="2155889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291128" y="438638"/>
            <a:ext cx="7722212" cy="1222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CUỘC THI Ý TƯỞNG KHỞI NGHIỆP </a:t>
            </a:r>
            <a:endParaRPr/>
          </a:p>
          <a:p>
            <a:pPr indent="0" lvl="0" marL="0" marR="0" rtl="0" algn="l">
              <a:lnSpc>
                <a:spcPct val="15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TRONG LĨNH VỰC CÔNG NGHỆ THÔNG TIN </a:t>
            </a:r>
            <a:endParaRPr/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10">
            <a:alphaModFix/>
          </a:blip>
          <a:srcRect b="87767" l="0" r="0" t="5418"/>
          <a:stretch/>
        </p:blipFill>
        <p:spPr>
          <a:xfrm>
            <a:off x="345542" y="1873410"/>
            <a:ext cx="15438750" cy="1490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/>
        </p:nvSpPr>
        <p:spPr>
          <a:xfrm>
            <a:off x="1758447" y="5607292"/>
            <a:ext cx="2885852" cy="723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0F172A"/>
                </a:solidFill>
                <a:latin typeface="Inter"/>
              </a:rPr>
              <a:t>Thành viên: </a:t>
            </a:r>
            <a:r>
              <a:rPr sz="2000" b="1" i="0">
                <a:solidFill>
                  <a:srgbClr val="0F2A47"/>
                </a:solidFill>
                <a:latin typeface="Inter"/>
              </a:rPr>
              <a:t>Ngô Bình Minh</a:t>
            </a:r>
            <a:r>
              <a:rPr sz="1600" b="0" i="0">
                <a:solidFill>
                  <a:srgbClr val="475569"/>
                </a:solidFill>
                <a:latin typeface="Inter"/>
              </a:rPr>
              <a:t> — 524H0169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758447" y="4891941"/>
            <a:ext cx="1069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0F172A"/>
                </a:solidFill>
                <a:latin typeface="Inter"/>
              </a:rPr>
              <a:t>Tên đội: </a:t>
            </a:r>
            <a:r>
              <a:rPr sz="3000" b="1" i="0">
                <a:solidFill>
                  <a:srgbClr val="0F2A47"/>
                </a:solidFill>
                <a:latin typeface="Inter"/>
              </a:rPr>
              <a:t>FocusProof</a:t>
            </a:r>
            <a:r>
              <a:rPr sz="1800" b="0" i="1">
                <a:solidFill>
                  <a:srgbClr val="64748B"/>
                </a:solidFill>
                <a:latin typeface="Inter"/>
              </a:rPr>
              <a:t>  ·  Tập trung Thông minh &amp; Chứng minh</a:t>
            </a:r>
            <a:endParaRPr/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11">
            <a:alphaModFix/>
          </a:blip>
          <a:srcRect b="79170" l="0" r="49663" t="11684"/>
          <a:stretch/>
        </p:blipFill>
        <p:spPr>
          <a:xfrm>
            <a:off x="451126" y="3614315"/>
            <a:ext cx="3667530" cy="89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1480333" y="1000090"/>
            <a:ext cx="11159008" cy="22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Rounded Rectangle 112"/>
          <p:cNvSpPr/>
          <p:nvPr/>
        </p:nvSpPr>
        <p:spPr>
          <a:xfrm>
            <a:off x="690080" y="6745120"/>
            <a:ext cx="20093940" cy="960120"/>
          </a:xfrm>
          <a:prstGeom prst="roundRect">
            <a:avLst>
              <a:gd name="adj" fmla="val 3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40080" y="6675120"/>
            <a:ext cx="20093940" cy="960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Picture 114" descr="icon12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680" y="6821424"/>
            <a:ext cx="667512" cy="667512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764792" y="6675120"/>
            <a:ext cx="15677388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1" i="0">
                <a:solidFill>
                  <a:srgbClr val="0F2A47"/>
                </a:solidFill>
                <a:latin typeface="Inter"/>
              </a:rPr>
              <a:t>FocusProof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A5E9"/>
                </a:solidFill>
                <a:latin typeface="Inter"/>
              </a:rPr>
              <a:t>TẬP TRUNG  ·  CHỨNG MINH  ·  CẢI THIỆN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7716500" y="68808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MVP v1.0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9133820" y="68808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FREEMIUM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7625060" y="72283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1">
                <a:solidFill>
                  <a:srgbClr val="64748B"/>
                </a:solidFill>
                <a:latin typeface="Inter"/>
              </a:rPr>
              <a:t>Chrome Extension + Web  ·  Privacy-first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40080" y="7562088"/>
            <a:ext cx="2009394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640080" y="7818120"/>
            <a:ext cx="20093940" cy="594360"/>
          </a:xfrm>
          <a:prstGeom prst="roundRect">
            <a:avLst>
              <a:gd name="adj" fmla="val 4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804672" y="78867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04672" y="78867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44752" y="7818120"/>
            <a:ext cx="19106388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GIỚI THIỆU MÔ HÌNH — FOCUS ENGINE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90080" y="8573920"/>
            <a:ext cx="20093940" cy="4663440"/>
          </a:xfrm>
          <a:prstGeom prst="roundRect">
            <a:avLst>
              <a:gd name="adj" fmla="val 2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640080" y="8503920"/>
            <a:ext cx="20093940" cy="46634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14400" y="8732520"/>
            <a:ext cx="195453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475569"/>
                </a:solidFill>
                <a:latin typeface="Inter"/>
              </a:rPr>
              <a:t>3 tín hiệu thời gian thực  →  Focus Engine  →  Focus Score 0–100  →  Chứng chỉ PDF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766310" y="9144000"/>
            <a:ext cx="16916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5292090" y="928116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292090" y="9281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Inter"/>
              </a:rPr>
              <a:t>📷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857750" y="100126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FACE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BlazeFace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457950" y="9144000"/>
            <a:ext cx="2286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94A3B8"/>
                </a:solidFill>
                <a:latin typeface="Inter"/>
              </a:rPr>
              <a:t>+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686550" y="9144000"/>
            <a:ext cx="16916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7212330" y="928116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212330" y="9281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Inter"/>
              </a:rPr>
              <a:t>🖱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777990" y="100126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ACTIVITY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10 events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78190" y="9144000"/>
            <a:ext cx="2286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94A3B8"/>
                </a:solidFill>
                <a:latin typeface="Inter"/>
              </a:rPr>
              <a:t>+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606790" y="9144000"/>
            <a:ext cx="16916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9132570" y="928116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132570" y="9281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Inter"/>
              </a:rPr>
              <a:t>🌐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698230" y="100126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TAB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Domain · Goal</a:t>
            </a:r>
          </a:p>
        </p:txBody>
      </p:sp>
      <p:sp>
        <p:nvSpPr>
          <p:cNvPr id="142" name="Right Arrow 141"/>
          <p:cNvSpPr/>
          <p:nvPr/>
        </p:nvSpPr>
        <p:spPr>
          <a:xfrm>
            <a:off x="10344150" y="9624060"/>
            <a:ext cx="320040" cy="457200"/>
          </a:xfrm>
          <a:prstGeom prst="rightArrow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0709910" y="9144000"/>
            <a:ext cx="1691640" cy="1417320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11235690" y="928116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1235690" y="9281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Inter"/>
              </a:rPr>
              <a:t>🧠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801350" y="100126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FOCUS ENGINE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0EA5E9"/>
                </a:solidFill>
                <a:latin typeface="Inter"/>
              </a:rPr>
              <a:t>Real-time scoring</a:t>
            </a:r>
          </a:p>
        </p:txBody>
      </p:sp>
      <p:sp>
        <p:nvSpPr>
          <p:cNvPr id="147" name="Right Arrow 146"/>
          <p:cNvSpPr/>
          <p:nvPr/>
        </p:nvSpPr>
        <p:spPr>
          <a:xfrm>
            <a:off x="12447270" y="9624060"/>
            <a:ext cx="320040" cy="457200"/>
          </a:xfrm>
          <a:prstGeom prst="rightArrow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12813030" y="9144000"/>
            <a:ext cx="16916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13338810" y="928116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338810" y="9281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Inter"/>
              </a:rPr>
              <a:t>⭐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2904470" y="100126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FOCUS SCORE</a:t>
            </a:r>
          </a:p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97316"/>
                </a:solidFill>
                <a:latin typeface="Inter"/>
              </a:rPr>
              <a:t>0 → 100</a:t>
            </a:r>
          </a:p>
        </p:txBody>
      </p:sp>
      <p:sp>
        <p:nvSpPr>
          <p:cNvPr id="152" name="Right Arrow 151"/>
          <p:cNvSpPr/>
          <p:nvPr/>
        </p:nvSpPr>
        <p:spPr>
          <a:xfrm>
            <a:off x="14550390" y="9624060"/>
            <a:ext cx="320040" cy="457200"/>
          </a:xfrm>
          <a:prstGeom prst="rightArrow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4916150" y="9144000"/>
            <a:ext cx="16916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15441930" y="928116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5441930" y="9281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Inter"/>
              </a:rPr>
              <a:t>📜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5007590" y="100126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CERTIFICATE</a:t>
            </a:r>
          </a:p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0B981"/>
                </a:solidFill>
                <a:latin typeface="Inter"/>
              </a:rPr>
              <a:t>QR · SHA-256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14400" y="10835640"/>
            <a:ext cx="36164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1143000" y="110185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43000" y="11018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👀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43000" y="11548872"/>
            <a:ext cx="3159252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Face Detection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MediaPipe BlazeFace WASM, GPU→CPU fallback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896612" y="10835640"/>
            <a:ext cx="36164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5125212" y="110185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125212" y="11018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⌨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125212" y="11548872"/>
            <a:ext cx="3159252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Activity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10 sự kiện: keydown/IME, click, scroll, paste…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878824" y="10835640"/>
            <a:ext cx="36164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9107424" y="110185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107424" y="11018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🌐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107424" y="11548872"/>
            <a:ext cx="3159252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Tab Tracking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Realtime URL/domain, phát hiện rời Chrome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2861036" y="10835640"/>
            <a:ext cx="36164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13089636" y="110185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3089636" y="11018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🤖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3089636" y="11548872"/>
            <a:ext cx="3159252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AI Insight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GPT-4o-mini song ngữ Việt-Anh (opt-in)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6843248" y="10835640"/>
            <a:ext cx="36164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17071848" y="110185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7071848" y="11018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📜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7071848" y="11548872"/>
            <a:ext cx="3159252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Certificate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PDF 2 trang + QR + chữ ký SHA-256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14400" y="12390120"/>
            <a:ext cx="6332220" cy="457200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🔒  100% LOCAL — Không upload ảnh/video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520940" y="12390120"/>
            <a:ext cx="6332220" cy="457200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🤖  AI CÓ KIỂM SOÁT — Người dùng chủ động opt-in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4127480" y="12390120"/>
            <a:ext cx="6332220" cy="457200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✅  CHỨNG CHỈ XÁC THỰC — QR + Hash SHA-256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640080" y="13350240"/>
            <a:ext cx="9864090" cy="594360"/>
          </a:xfrm>
          <a:prstGeom prst="roundRect">
            <a:avLst>
              <a:gd name="adj" fmla="val 4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804672" y="134188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04672" y="134188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44752" y="13350240"/>
            <a:ext cx="8876538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DỮ LIỆU &amp; QUY TRÌNH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690080" y="14106040"/>
            <a:ext cx="9864090" cy="4663440"/>
          </a:xfrm>
          <a:prstGeom prst="roundRect">
            <a:avLst>
              <a:gd name="adj" fmla="val 2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640080" y="14036040"/>
            <a:ext cx="9864090" cy="46634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845945" y="14633260"/>
            <a:ext cx="7452360" cy="40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457325" y="14264640"/>
            <a:ext cx="777240" cy="77724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457325" y="142646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Inter"/>
              </a:rPr>
              <a:t>🎯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14400" y="15087600"/>
            <a:ext cx="186309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Goal</a:t>
            </a:r>
          </a:p>
        </p:txBody>
      </p:sp>
      <p:sp>
        <p:nvSpPr>
          <p:cNvPr id="190" name="Oval 189"/>
          <p:cNvSpPr/>
          <p:nvPr/>
        </p:nvSpPr>
        <p:spPr>
          <a:xfrm>
            <a:off x="3320415" y="14264640"/>
            <a:ext cx="777240" cy="77724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320415" y="142646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Inter"/>
              </a:rPr>
              <a:t>📡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777490" y="15087600"/>
            <a:ext cx="186309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Track</a:t>
            </a:r>
          </a:p>
        </p:txBody>
      </p:sp>
      <p:sp>
        <p:nvSpPr>
          <p:cNvPr id="193" name="Oval 192"/>
          <p:cNvSpPr/>
          <p:nvPr/>
        </p:nvSpPr>
        <p:spPr>
          <a:xfrm>
            <a:off x="5183505" y="14264640"/>
            <a:ext cx="777240" cy="77724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183505" y="142646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Inter"/>
              </a:rPr>
              <a:t>⭐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640580" y="15087600"/>
            <a:ext cx="186309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Score</a:t>
            </a:r>
          </a:p>
        </p:txBody>
      </p:sp>
      <p:sp>
        <p:nvSpPr>
          <p:cNvPr id="196" name="Oval 195"/>
          <p:cNvSpPr/>
          <p:nvPr/>
        </p:nvSpPr>
        <p:spPr>
          <a:xfrm>
            <a:off x="7046595" y="14264640"/>
            <a:ext cx="777240" cy="7772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046595" y="142646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Inter"/>
              </a:rPr>
              <a:t>🤖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503670" y="15087600"/>
            <a:ext cx="186309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AI</a:t>
            </a:r>
          </a:p>
        </p:txBody>
      </p:sp>
      <p:sp>
        <p:nvSpPr>
          <p:cNvPr id="199" name="Oval 198"/>
          <p:cNvSpPr/>
          <p:nvPr/>
        </p:nvSpPr>
        <p:spPr>
          <a:xfrm>
            <a:off x="8909685" y="14264640"/>
            <a:ext cx="777240" cy="777240"/>
          </a:xfrm>
          <a:prstGeom prst="ellipse">
            <a:avLst/>
          </a:prstGeom>
          <a:solidFill>
            <a:srgbClr val="0F2A4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909685" y="142646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Inter"/>
              </a:rPr>
              <a:t>📜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366760" y="15087600"/>
            <a:ext cx="186309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Cert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14400" y="15499080"/>
            <a:ext cx="931545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  <a:latin typeface="Inter"/>
              </a:rPr>
              <a:t>Khép kín 5 bước: chọn mục tiêu → theo dõi 3 tín hiệu → tính Score → AI phân tích → cấp Chứng chỉ.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914400" y="15910560"/>
            <a:ext cx="931545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097280" y="1609344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97280" y="16093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🎯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783080" y="16029432"/>
            <a:ext cx="849249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2A47"/>
                </a:solidFill>
                <a:latin typeface="Inter"/>
              </a:rPr>
              <a:t>4 chế độ mục tiêu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Study · Work · Programming · Video Lecture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914400" y="16916400"/>
            <a:ext cx="931545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1097280" y="170992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097280" y="17099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🌐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783080" y="17035272"/>
            <a:ext cx="849249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2A47"/>
                </a:solidFill>
                <a:latin typeface="Inter"/>
              </a:rPr>
              <a:t>Custom Domain Whitelist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Người dùng tự cấu hình domain hợp lệ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914400" y="17922240"/>
            <a:ext cx="931545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097280" y="181051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097280" y="18105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⚖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783080" y="18041112"/>
            <a:ext cx="849249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2A47"/>
                </a:solidFill>
                <a:latin typeface="Inter"/>
              </a:rPr>
              <a:t>Goal-based Evaluation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Strict Mode · Multi-Tab Guard · External app rule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10869930" y="13350240"/>
            <a:ext cx="9864090" cy="594360"/>
          </a:xfrm>
          <a:prstGeom prst="roundRect">
            <a:avLst>
              <a:gd name="adj" fmla="val 4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1034522" y="134188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1034522" y="134188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1674602" y="13350240"/>
            <a:ext cx="8876538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ĐÁNH GIÁ KẾT QUẢ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919930" y="14106040"/>
            <a:ext cx="9864090" cy="4663440"/>
          </a:xfrm>
          <a:prstGeom prst="roundRect">
            <a:avLst>
              <a:gd name="adj" fmla="val 2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10869930" y="14036040"/>
            <a:ext cx="9864090" cy="46634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1144250" y="14884720"/>
            <a:ext cx="931545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1144250" y="14264640"/>
            <a:ext cx="6520815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Unit Tests Coverage</a:t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4748B"/>
                </a:solidFill>
                <a:latin typeface="Inter"/>
              </a:rPr>
              <a:t>184 / 184 tests passed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7665065" y="14264640"/>
            <a:ext cx="2794635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2600" b="1" i="0">
                <a:solidFill>
                  <a:srgbClr val="10B981"/>
                </a:solidFill>
                <a:latin typeface="Inter"/>
              </a:rPr>
              <a:t>100%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1144250" y="15616240"/>
            <a:ext cx="931545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1144250" y="14996160"/>
            <a:ext cx="6520815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Privacy Data Leak</a:t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4748B"/>
                </a:solidFill>
                <a:latin typeface="Inter"/>
              </a:rPr>
              <a:t>0 byte uploaded — 100% local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7665065" y="14996160"/>
            <a:ext cx="2794635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2600" b="1" i="0">
                <a:solidFill>
                  <a:srgbClr val="10B981"/>
                </a:solidFill>
                <a:latin typeface="Inter"/>
              </a:rPr>
              <a:t>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1144250" y="16347760"/>
            <a:ext cx="931545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1144250" y="15727680"/>
            <a:ext cx="6520815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Focus Score Accuracy</a:t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4748B"/>
                </a:solidFill>
                <a:latin typeface="Inter"/>
              </a:rPr>
              <a:t>trên dataset thử nghiệm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7665065" y="15727680"/>
            <a:ext cx="2794635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2600" b="1" i="0">
                <a:solidFill>
                  <a:srgbClr val="F97316"/>
                </a:solidFill>
                <a:latin typeface="Inter"/>
              </a:rPr>
              <a:t>92%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1144250" y="17079280"/>
            <a:ext cx="931545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1144250" y="16459200"/>
            <a:ext cx="6520815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2A47"/>
                </a:solidFill>
                <a:latin typeface="Inter"/>
              </a:rPr>
              <a:t>Cert Verification</a:t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4748B"/>
                </a:solidFill>
                <a:latin typeface="Inter"/>
              </a:rPr>
              <a:t>Hash + QR — kiểm chứng public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65065" y="16459200"/>
            <a:ext cx="2794635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0F2A47"/>
                </a:solidFill>
                <a:latin typeface="Inter"/>
              </a:rPr>
              <a:t>SHA-256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11144250" y="17282160"/>
            <a:ext cx="292227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12353925" y="1739188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2353925" y="173918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📈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1144250" y="17922240"/>
            <a:ext cx="292227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F2A47"/>
                </a:solidFill>
                <a:latin typeface="Inter"/>
              </a:rPr>
              <a:t>Tăng tập trung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Đo &amp; nhắc kịp thời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14340840" y="17282160"/>
            <a:ext cx="292227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ounded Rectangle 237"/>
          <p:cNvSpPr/>
          <p:nvPr/>
        </p:nvSpPr>
        <p:spPr>
          <a:xfrm>
            <a:off x="15550515" y="1739188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5550515" y="173918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⚡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4340840" y="17922240"/>
            <a:ext cx="292227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F2A47"/>
                </a:solidFill>
                <a:latin typeface="Inter"/>
              </a:rPr>
              <a:t>Giảm xao nhãng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Alert realtime 4 loại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17537430" y="17282160"/>
            <a:ext cx="292227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18747105" y="1739188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8747105" y="173918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7537430" y="17922240"/>
            <a:ext cx="292227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F2A47"/>
                </a:solidFill>
                <a:latin typeface="Inter"/>
              </a:rPr>
              <a:t>Bằng chứng khách quan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Cert PDF có thể verify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640080" y="18882360"/>
            <a:ext cx="20093940" cy="594360"/>
          </a:xfrm>
          <a:prstGeom prst="roundRect">
            <a:avLst>
              <a:gd name="adj" fmla="val 4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804672" y="189509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04672" y="189509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444752" y="18882360"/>
            <a:ext cx="19106388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SẢN PHẨM ỨNG DỤNG — QUY TRÌNH 4 BƯỚC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690080" y="19638160"/>
            <a:ext cx="20093940" cy="4251960"/>
          </a:xfrm>
          <a:prstGeom prst="roundRect">
            <a:avLst>
              <a:gd name="adj" fmla="val 2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ounded Rectangle 249"/>
          <p:cNvSpPr/>
          <p:nvPr/>
        </p:nvSpPr>
        <p:spPr>
          <a:xfrm>
            <a:off x="640080" y="19568160"/>
            <a:ext cx="20093940" cy="42519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3357562" y="20188240"/>
            <a:ext cx="14658975" cy="40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2946082" y="19796760"/>
            <a:ext cx="822960" cy="82296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2946082" y="197967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914400" y="20711160"/>
            <a:ext cx="4886325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0F2A47"/>
                </a:solidFill>
                <a:latin typeface="Inter"/>
              </a:rPr>
              <a:t>Setup Goal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Chọn task · mode · thời gian · domain whitelist</a:t>
            </a:r>
          </a:p>
        </p:txBody>
      </p:sp>
      <p:sp>
        <p:nvSpPr>
          <p:cNvPr id="255" name="Oval 254"/>
          <p:cNvSpPr/>
          <p:nvPr/>
        </p:nvSpPr>
        <p:spPr>
          <a:xfrm>
            <a:off x="7832407" y="19796760"/>
            <a:ext cx="822960" cy="82296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832407" y="197967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5800725" y="20711160"/>
            <a:ext cx="4886325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0F2A47"/>
                </a:solidFill>
                <a:latin typeface="Inter"/>
              </a:rPr>
              <a:t>Focus Session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Engine chạy local · Widget realtime · 4 loại alert</a:t>
            </a:r>
          </a:p>
        </p:txBody>
      </p:sp>
      <p:sp>
        <p:nvSpPr>
          <p:cNvPr id="258" name="Oval 257"/>
          <p:cNvSpPr/>
          <p:nvPr/>
        </p:nvSpPr>
        <p:spPr>
          <a:xfrm>
            <a:off x="12718732" y="19796760"/>
            <a:ext cx="822960" cy="82296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2718732" y="197967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687050" y="20711160"/>
            <a:ext cx="4886325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0F2A47"/>
                </a:solidFill>
                <a:latin typeface="Inter"/>
              </a:rPr>
              <a:t>Get Certificate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PDF 2 trang · Score · QR + SHA-256 · AI Insight</a:t>
            </a:r>
          </a:p>
        </p:txBody>
      </p:sp>
      <p:sp>
        <p:nvSpPr>
          <p:cNvPr id="261" name="Oval 260"/>
          <p:cNvSpPr/>
          <p:nvPr/>
        </p:nvSpPr>
        <p:spPr>
          <a:xfrm>
            <a:off x="17605057" y="19796760"/>
            <a:ext cx="822960" cy="82296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7605057" y="197967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5573375" y="20711160"/>
            <a:ext cx="4886325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0F2A47"/>
                </a:solidFill>
                <a:latin typeface="Inter"/>
              </a:rPr>
              <a:t>Share &amp; Verify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Inter"/>
              </a:rPr>
              <a:t>Share Facebook/TikTok · Verify QR · Lưu lịch sử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914400" y="21717000"/>
            <a:ext cx="195453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Inter"/>
              </a:rPr>
              <a:t>Khép kín trong một extension duy nhất  ·  Không cần tài khoản để bắt đầu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914400" y="22082760"/>
            <a:ext cx="633222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14400" y="22082760"/>
            <a:ext cx="6332220" cy="15544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0" i="0">
                <a:solidFill>
                  <a:srgbClr val="94A3B8"/>
                </a:solidFill>
                <a:latin typeface="Inter"/>
              </a:rPr>
              <a:t>📷</a:t>
            </a:r>
          </a:p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64748B"/>
                </a:solidFill>
                <a:latin typeface="Inter"/>
              </a:rPr>
              <a:t>Popup · Start Screen</a:t>
            </a:r>
          </a:p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94A3B8"/>
                </a:solidFill>
                <a:latin typeface="Inter"/>
              </a:rPr>
              <a:t>Dán ảnh thật vào đây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7520940" y="22082760"/>
            <a:ext cx="633222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7520940" y="22082760"/>
            <a:ext cx="6332220" cy="15544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0" i="0">
                <a:solidFill>
                  <a:srgbClr val="94A3B8"/>
                </a:solidFill>
                <a:latin typeface="Inter"/>
              </a:rPr>
              <a:t>📷</a:t>
            </a:r>
          </a:p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64748B"/>
                </a:solidFill>
                <a:latin typeface="Inter"/>
              </a:rPr>
              <a:t>Certificate PDF</a:t>
            </a:r>
          </a:p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94A3B8"/>
                </a:solidFill>
                <a:latin typeface="Inter"/>
              </a:rPr>
              <a:t>Dán ảnh thật vào đây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14127480" y="22082760"/>
            <a:ext cx="633222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4127480" y="22082760"/>
            <a:ext cx="6332220" cy="15544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0" i="0">
                <a:solidFill>
                  <a:srgbClr val="94A3B8"/>
                </a:solidFill>
                <a:latin typeface="Inter"/>
              </a:rPr>
              <a:t>📷</a:t>
            </a:r>
          </a:p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64748B"/>
                </a:solidFill>
                <a:latin typeface="Inter"/>
              </a:rPr>
              <a:t>History · Heatmap</a:t>
            </a:r>
          </a:p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94A3B8"/>
                </a:solidFill>
                <a:latin typeface="Inter"/>
              </a:rPr>
              <a:t>Dán ảnh thật vào đây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640080" y="24003000"/>
            <a:ext cx="9864090" cy="594360"/>
          </a:xfrm>
          <a:prstGeom prst="roundRect">
            <a:avLst>
              <a:gd name="adj" fmla="val 4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ounded Rectangle 271"/>
          <p:cNvSpPr/>
          <p:nvPr/>
        </p:nvSpPr>
        <p:spPr>
          <a:xfrm>
            <a:off x="804672" y="240715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804672" y="240715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444752" y="24003000"/>
            <a:ext cx="8876538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KIẾN TRÚC HỆ THỐNG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690080" y="24758800"/>
            <a:ext cx="9864090" cy="2514600"/>
          </a:xfrm>
          <a:prstGeom prst="roundRect">
            <a:avLst>
              <a:gd name="adj" fmla="val 2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ounded Rectangle 275"/>
          <p:cNvSpPr/>
          <p:nvPr/>
        </p:nvSpPr>
        <p:spPr>
          <a:xfrm>
            <a:off x="640080" y="24688800"/>
            <a:ext cx="9864090" cy="2514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7" name="Picture 276" descr="architectu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19831" y="24780240"/>
            <a:ext cx="4704588" cy="1964786"/>
          </a:xfrm>
          <a:prstGeom prst="rect">
            <a:avLst/>
          </a:prstGeom>
        </p:spPr>
      </p:pic>
      <p:sp>
        <p:nvSpPr>
          <p:cNvPr id="278" name="Rounded Rectangle 277"/>
          <p:cNvSpPr/>
          <p:nvPr/>
        </p:nvSpPr>
        <p:spPr>
          <a:xfrm>
            <a:off x="10869930" y="24003000"/>
            <a:ext cx="9864090" cy="594360"/>
          </a:xfrm>
          <a:prstGeom prst="roundRect">
            <a:avLst>
              <a:gd name="adj" fmla="val 4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ounded Rectangle 278"/>
          <p:cNvSpPr/>
          <p:nvPr/>
        </p:nvSpPr>
        <p:spPr>
          <a:xfrm>
            <a:off x="11034522" y="240715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11034522" y="240715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1674602" y="24003000"/>
            <a:ext cx="8876538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MÔ HÌNH KINH DOANH — FREEMIUM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10919930" y="24758800"/>
            <a:ext cx="9864090" cy="2514600"/>
          </a:xfrm>
          <a:prstGeom prst="roundRect">
            <a:avLst>
              <a:gd name="adj" fmla="val 2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ounded Rectangle 282"/>
          <p:cNvSpPr/>
          <p:nvPr/>
        </p:nvSpPr>
        <p:spPr>
          <a:xfrm>
            <a:off x="10869930" y="24688800"/>
            <a:ext cx="9864090" cy="2514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ounded Rectangle 283"/>
          <p:cNvSpPr/>
          <p:nvPr/>
        </p:nvSpPr>
        <p:spPr>
          <a:xfrm>
            <a:off x="11144250" y="24825960"/>
            <a:ext cx="298323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ounded Rectangle 284"/>
          <p:cNvSpPr/>
          <p:nvPr/>
        </p:nvSpPr>
        <p:spPr>
          <a:xfrm>
            <a:off x="11144250" y="24825960"/>
            <a:ext cx="2983230" cy="54864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1144250" y="24825960"/>
            <a:ext cx="298323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FREE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1144250" y="25466040"/>
            <a:ext cx="298323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F2A47"/>
                </a:solidFill>
                <a:latin typeface="Inter"/>
              </a:rPr>
              <a:t>0 ₫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1281410" y="25968960"/>
            <a:ext cx="270891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✓  Session · Face · Activity · Tab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✓  Cert PDF cơ bản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✓  Trial 7 ngày + 100 Credit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14310360" y="24825960"/>
            <a:ext cx="298323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0F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ounded Rectangle 289"/>
          <p:cNvSpPr/>
          <p:nvPr/>
        </p:nvSpPr>
        <p:spPr>
          <a:xfrm>
            <a:off x="14310360" y="24825960"/>
            <a:ext cx="2983230" cy="548640"/>
          </a:xfrm>
          <a:prstGeom prst="roundRect">
            <a:avLst>
              <a:gd name="adj" fmla="val 12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4310360" y="24825960"/>
            <a:ext cx="298323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PRO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15253335" y="2467965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★ POPULAR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4310360" y="25466040"/>
            <a:ext cx="298323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F2A47"/>
                </a:solidFill>
                <a:latin typeface="Inter"/>
              </a:rPr>
              <a:t>$4.99 / tháng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4447520" y="25968960"/>
            <a:ext cx="270891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✓  AI Unlimited · PDF nâng cao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✓  Export CSV · Priority Email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✓  +50 Credit / referral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17476470" y="24825960"/>
            <a:ext cx="298323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ounded Rectangle 295"/>
          <p:cNvSpPr/>
          <p:nvPr/>
        </p:nvSpPr>
        <p:spPr>
          <a:xfrm>
            <a:off x="17476470" y="24825960"/>
            <a:ext cx="2983230" cy="54864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7476470" y="24825960"/>
            <a:ext cx="298323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TEAM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7476470" y="25466040"/>
            <a:ext cx="298323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F2A47"/>
                </a:solidFill>
                <a:latin typeface="Inter"/>
              </a:rPr>
              <a:t>$3.99 / người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7613630" y="25968960"/>
            <a:ext cx="270891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✓  Mọi tính năng Pro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✓  Team Dashboard · Báo cáo nhóm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✓  Custom Branding · Chat support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1144250" y="26791920"/>
            <a:ext cx="931545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1">
                <a:solidFill>
                  <a:srgbClr val="64748B"/>
                </a:solidFill>
                <a:latin typeface="Inter"/>
              </a:rPr>
              <a:t>Hòa vốn tháng 4–5  ·  Gross margin 85%  ·  LTV/CAC ≈ 40×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640080" y="27386280"/>
            <a:ext cx="20093940" cy="594360"/>
          </a:xfrm>
          <a:prstGeom prst="roundRect">
            <a:avLst>
              <a:gd name="adj" fmla="val 4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ounded Rectangle 301"/>
          <p:cNvSpPr/>
          <p:nvPr/>
        </p:nvSpPr>
        <p:spPr>
          <a:xfrm>
            <a:off x="804672" y="274548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804672" y="274548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444752" y="27386280"/>
            <a:ext cx="19106388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KẾT LUẬN &amp; HƯỚNG PHÁT TRIỂN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690080" y="28142080"/>
            <a:ext cx="20093940" cy="2148840"/>
          </a:xfrm>
          <a:prstGeom prst="roundRect">
            <a:avLst>
              <a:gd name="adj" fmla="val 2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640080" y="28072080"/>
            <a:ext cx="20093940" cy="21488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914400" y="28254960"/>
            <a:ext cx="63322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2A47"/>
                </a:solidFill>
                <a:latin typeface="Inter"/>
              </a:rPr>
              <a:t>KẾT LUẬN</a:t>
            </a:r>
          </a:p>
        </p:txBody>
      </p:sp>
      <p:sp>
        <p:nvSpPr>
          <p:cNvPr id="308" name="Oval 307"/>
          <p:cNvSpPr/>
          <p:nvPr/>
        </p:nvSpPr>
        <p:spPr>
          <a:xfrm>
            <a:off x="914400" y="2868472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914400" y="2868472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243584" y="28639008"/>
            <a:ext cx="6003036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A47"/>
                </a:solidFill>
                <a:latin typeface="Inter"/>
              </a:rPr>
              <a:t>Sản phẩm v1.0 hoàn thiện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75569"/>
                </a:solidFill>
                <a:latin typeface="Inter"/>
              </a:rPr>
              <a:t>Extension MV3 + 184/184 tests passed</a:t>
            </a:r>
          </a:p>
        </p:txBody>
      </p:sp>
      <p:sp>
        <p:nvSpPr>
          <p:cNvPr id="311" name="Oval 310"/>
          <p:cNvSpPr/>
          <p:nvPr/>
        </p:nvSpPr>
        <p:spPr>
          <a:xfrm>
            <a:off x="914400" y="2918764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914400" y="291876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243584" y="29141928"/>
            <a:ext cx="6003036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A47"/>
                </a:solidFill>
                <a:latin typeface="Inter"/>
              </a:rPr>
              <a:t>Privacy-first thực sự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75569"/>
                </a:solidFill>
                <a:latin typeface="Inter"/>
              </a:rPr>
              <a:t>Không upload data — đối lập spyware</a:t>
            </a:r>
          </a:p>
        </p:txBody>
      </p:sp>
      <p:sp>
        <p:nvSpPr>
          <p:cNvPr id="314" name="Oval 313"/>
          <p:cNvSpPr/>
          <p:nvPr/>
        </p:nvSpPr>
        <p:spPr>
          <a:xfrm>
            <a:off x="914400" y="296905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914400" y="2969056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243584" y="29644848"/>
            <a:ext cx="6003036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A47"/>
                </a:solidFill>
                <a:latin typeface="Inter"/>
              </a:rPr>
              <a:t>Sẵn sàng thương mại hóa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75569"/>
                </a:solidFill>
                <a:latin typeface="Inter"/>
              </a:rPr>
              <a:t>Roadmap v1.1 với Stripe + Supabase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520940" y="28254960"/>
            <a:ext cx="63322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2A47"/>
                </a:solidFill>
                <a:latin typeface="Inter"/>
              </a:rPr>
              <a:t>HƯỚNG PHÁT TRIỂN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7520940" y="2867558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v1.1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8161020" y="28639008"/>
            <a:ext cx="56921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A47"/>
                </a:solidFill>
                <a:latin typeface="Inter"/>
              </a:rPr>
              <a:t>Monetization Edition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75569"/>
                </a:solidFill>
                <a:latin typeface="Inter"/>
              </a:rPr>
              <a:t>Stripe + Supabase + Pricing Page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7520940" y="2917850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v1.2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161020" y="29141928"/>
            <a:ext cx="56921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A47"/>
                </a:solidFill>
                <a:latin typeface="Inter"/>
              </a:rPr>
              <a:t>Team Dashboard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75569"/>
                </a:solidFill>
                <a:latin typeface="Inter"/>
              </a:rPr>
              <a:t>Quản lý nhóm + Báo cáo + Custom branding</a:t>
            </a:r>
          </a:p>
        </p:txBody>
      </p:sp>
      <p:sp>
        <p:nvSpPr>
          <p:cNvPr id="322" name="Rounded Rectangle 321"/>
          <p:cNvSpPr/>
          <p:nvPr/>
        </p:nvSpPr>
        <p:spPr>
          <a:xfrm>
            <a:off x="7520940" y="2968142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v2.0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8161020" y="29644848"/>
            <a:ext cx="56921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A47"/>
                </a:solidFill>
                <a:latin typeface="Inter"/>
              </a:rPr>
              <a:t>Mobile Companion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75569"/>
                </a:solidFill>
                <a:latin typeface="Inter"/>
              </a:rPr>
              <a:t>App iOS/Android + Edge/Firefox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4127480" y="28254960"/>
            <a:ext cx="63322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2A47"/>
                </a:solidFill>
                <a:latin typeface="Inter"/>
              </a:rPr>
              <a:t>TRẢI NGHIỆM NGAY</a:t>
            </a:r>
          </a:p>
        </p:txBody>
      </p:sp>
      <p:pic>
        <p:nvPicPr>
          <p:cNvPr id="325" name="Picture 324" descr="qr_focusproo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127480" y="28639008"/>
            <a:ext cx="1280160" cy="1280160"/>
          </a:xfrm>
          <a:prstGeom prst="rect">
            <a:avLst/>
          </a:prstGeom>
        </p:spPr>
      </p:pic>
      <p:sp>
        <p:nvSpPr>
          <p:cNvPr id="326" name="TextBox 325"/>
          <p:cNvSpPr txBox="1"/>
          <p:nvPr/>
        </p:nvSpPr>
        <p:spPr>
          <a:xfrm>
            <a:off x="15544800" y="28639008"/>
            <a:ext cx="4914900" cy="1280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A47"/>
                </a:solidFill>
                <a:latin typeface="Inter"/>
              </a:rPr>
              <a:t>🌐 focusproof.com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📧 ngobinhminh2322006@gmail.com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🎓 Khoa CNTT — TDTU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👤 Ngô Bình Minh · 524H0169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