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1128034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658368"/>
            <a:ext cx="4572000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FocusProof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47088"/>
            <a:ext cx="5394960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47088"/>
            <a:ext cx="5394960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7DD3FC"/>
                </a:solidFill>
                <a:latin typeface="Segoe UI"/>
              </a:rPr>
              <a:t>VIBE CODING 2026 — VÒNG CHUNG KẾT · BẢNG A · ĐỘI HT13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395728"/>
            <a:ext cx="10881360" cy="1234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Segoe UI"/>
              </a:rPr>
              <a:t>FOCUSPROOF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93008"/>
            <a:ext cx="10881360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500" b="1" i="0">
                <a:solidFill>
                  <a:srgbClr val="FBBF24"/>
                </a:solidFill>
                <a:latin typeface="Segoe UI"/>
              </a:rPr>
              <a:t>Biến mỗi giờ tập trung thành bằng chứng số có thể xác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41648"/>
            <a:ext cx="1088136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0" i="0">
                <a:solidFill>
                  <a:srgbClr val="C7D2FE"/>
                </a:solidFill>
                <a:latin typeface="Segoe UI"/>
              </a:rPr>
              <a:t>Smart &amp; Verifiable Focus Certificate — Chrome Extension (Manifest V3)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846320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111C34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846320"/>
            <a:ext cx="210312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Chrome Extension MV3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2656" y="4846320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111C34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2656" y="4846320"/>
            <a:ext cx="210312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279 test PASS — 0 lỗi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66944" y="484632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111C34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6944" y="4846320"/>
            <a:ext cx="237744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AI on-device · privacy-first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5552" y="484632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111C34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4846320"/>
            <a:ext cx="233172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Chứng chỉ ký HMAC + QR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806440"/>
            <a:ext cx="12191695" cy="1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016752"/>
            <a:ext cx="1088136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  <a:latin typeface="Segoe UI"/>
              </a:rPr>
              <a:t>Ngô Bình Minh — Đội HT13   ·   ngobinhminh2322006@gmail.com   ·   TP. Hồ Chí Minh, 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5417" y="0"/>
            <a:ext cx="435418" cy="91440"/>
          </a:xfrm>
          <a:prstGeom prst="rect">
            <a:avLst/>
          </a:prstGeom>
          <a:solidFill>
            <a:srgbClr val="4C4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834" y="0"/>
            <a:ext cx="435418" cy="91440"/>
          </a:xfrm>
          <a:prstGeom prst="rect">
            <a:avLst/>
          </a:prstGeom>
          <a:solidFill>
            <a:srgbClr val="49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6251" y="0"/>
            <a:ext cx="435418" cy="91440"/>
          </a:xfrm>
          <a:prstGeom prst="rect">
            <a:avLst/>
          </a:prstGeom>
          <a:solidFill>
            <a:srgbClr val="465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1668" y="0"/>
            <a:ext cx="435418" cy="91440"/>
          </a:xfrm>
          <a:prstGeom prst="rect">
            <a:avLst/>
          </a:prstGeom>
          <a:solidFill>
            <a:srgbClr val="445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7085" y="0"/>
            <a:ext cx="435418" cy="91440"/>
          </a:xfrm>
          <a:prstGeom prst="rect">
            <a:avLst/>
          </a:prstGeom>
          <a:solidFill>
            <a:srgbClr val="415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502" y="0"/>
            <a:ext cx="435418" cy="91440"/>
          </a:xfrm>
          <a:prstGeom prst="rect">
            <a:avLst/>
          </a:prstGeom>
          <a:solidFill>
            <a:srgbClr val="3E5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19" y="0"/>
            <a:ext cx="435418" cy="91440"/>
          </a:xfrm>
          <a:prstGeom prst="rect">
            <a:avLst/>
          </a:prstGeom>
          <a:solidFill>
            <a:srgbClr val="3C6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336" y="0"/>
            <a:ext cx="435418" cy="91440"/>
          </a:xfrm>
          <a:prstGeom prst="rect">
            <a:avLst/>
          </a:prstGeom>
          <a:solidFill>
            <a:srgbClr val="396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8753" y="0"/>
            <a:ext cx="435418" cy="91440"/>
          </a:xfrm>
          <a:prstGeom prst="rect">
            <a:avLst/>
          </a:prstGeom>
          <a:solidFill>
            <a:srgbClr val="366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4170" y="0"/>
            <a:ext cx="435418" cy="91440"/>
          </a:xfrm>
          <a:prstGeom prst="rect">
            <a:avLst/>
          </a:prstGeom>
          <a:solidFill>
            <a:srgbClr val="33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89587" y="0"/>
            <a:ext cx="435418" cy="91440"/>
          </a:xfrm>
          <a:prstGeom prst="rect">
            <a:avLst/>
          </a:prstGeom>
          <a:solidFill>
            <a:srgbClr val="317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004" y="0"/>
            <a:ext cx="435418" cy="91440"/>
          </a:xfrm>
          <a:prstGeom prst="rect">
            <a:avLst/>
          </a:prstGeom>
          <a:solidFill>
            <a:srgbClr val="2E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421" y="0"/>
            <a:ext cx="435418" cy="91440"/>
          </a:xfrm>
          <a:prstGeom prst="rect">
            <a:avLst/>
          </a:prstGeom>
          <a:solidFill>
            <a:srgbClr val="2B7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38" y="0"/>
            <a:ext cx="435418" cy="91440"/>
          </a:xfrm>
          <a:prstGeom prst="rect">
            <a:avLst/>
          </a:prstGeom>
          <a:solidFill>
            <a:srgbClr val="298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1255" y="0"/>
            <a:ext cx="435418" cy="91440"/>
          </a:xfrm>
          <a:prstGeom prst="rect">
            <a:avLst/>
          </a:prstGeom>
          <a:solidFill>
            <a:srgbClr val="268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672" y="0"/>
            <a:ext cx="435418" cy="91440"/>
          </a:xfrm>
          <a:prstGeom prst="rect">
            <a:avLst/>
          </a:prstGeom>
          <a:solidFill>
            <a:srgbClr val="238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2089" y="0"/>
            <a:ext cx="435418" cy="91440"/>
          </a:xfrm>
          <a:prstGeom prst="rect">
            <a:avLst/>
          </a:prstGeom>
          <a:solidFill>
            <a:srgbClr val="218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7506" y="0"/>
            <a:ext cx="435418" cy="91440"/>
          </a:xfrm>
          <a:prstGeom prst="rect">
            <a:avLst/>
          </a:prstGeom>
          <a:solidFill>
            <a:srgbClr val="1E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2923" y="0"/>
            <a:ext cx="435418" cy="91440"/>
          </a:xfrm>
          <a:prstGeom prst="rect">
            <a:avLst/>
          </a:prstGeom>
          <a:solidFill>
            <a:srgbClr val="1B9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40" y="0"/>
            <a:ext cx="435418" cy="91440"/>
          </a:xfrm>
          <a:prstGeom prst="rect">
            <a:avLst/>
          </a:prstGeom>
          <a:solidFill>
            <a:srgbClr val="18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57" y="0"/>
            <a:ext cx="435418" cy="91440"/>
          </a:xfrm>
          <a:prstGeom prst="rect">
            <a:avLst/>
          </a:prstGeom>
          <a:solidFill>
            <a:srgbClr val="169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9174" y="0"/>
            <a:ext cx="435418" cy="91440"/>
          </a:xfrm>
          <a:prstGeom prst="rect">
            <a:avLst/>
          </a:prstGeom>
          <a:solidFill>
            <a:srgbClr val="13A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4591" y="0"/>
            <a:ext cx="435418" cy="91440"/>
          </a:xfrm>
          <a:prstGeom prst="rect">
            <a:avLst/>
          </a:prstGeom>
          <a:solidFill>
            <a:srgbClr val="10A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0008" y="0"/>
            <a:ext cx="435418" cy="91440"/>
          </a:xfrm>
          <a:prstGeom prst="rect">
            <a:avLst/>
          </a:prstGeom>
          <a:solidFill>
            <a:srgbClr val="0EA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5425" y="0"/>
            <a:ext cx="435418" cy="91440"/>
          </a:xfrm>
          <a:prstGeom prst="rect">
            <a:avLst/>
          </a:prstGeom>
          <a:solidFill>
            <a:srgbClr val="0BA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842" y="0"/>
            <a:ext cx="435418" cy="91440"/>
          </a:xfrm>
          <a:prstGeom prst="rect">
            <a:avLst/>
          </a:prstGeom>
          <a:solidFill>
            <a:srgbClr val="08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56259" y="0"/>
            <a:ext cx="43541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74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9184"/>
            <a:ext cx="100584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Segoe UI"/>
              </a:rPr>
              <a:t>VẤN ĐỀ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"/>
            <a:ext cx="1033272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"/>
              </a:rPr>
              <a:t>Học thật — nhưng không ai tin, và không có cách chứng minh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1417320"/>
            <a:ext cx="3977639" cy="397763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1783080"/>
            <a:ext cx="3474720" cy="10058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400" b="1" i="0">
                <a:solidFill>
                  <a:srgbClr val="FBBF24"/>
                </a:solidFill>
                <a:latin typeface="Segoe UI"/>
              </a:rPr>
              <a:t>85%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2880360"/>
            <a:ext cx="3474720" cy="8229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sinh viên thừa nhận thường xuyên mất tập trung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vì điện thoại &amp; mạng xã hội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3822191"/>
            <a:ext cx="3429000" cy="12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005072"/>
            <a:ext cx="3474720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4000" b="1" i="0">
                <a:solidFill>
                  <a:srgbClr val="7DD3FC"/>
                </a:solidFill>
                <a:latin typeface="Segoe UI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45152"/>
            <a:ext cx="3474720" cy="6858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công cụ phổ biến nào xác thực được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giờ học/làm thật cho bên thứ ba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00600" y="1417320"/>
            <a:ext cx="6839712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00600" y="1417320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47488" y="1527048"/>
            <a:ext cx="640080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Niềm tin không thể kiểm chứng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47488" y="1901952"/>
            <a:ext cx="6446520" cy="6858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Cha mẹ, giảng viên, nhà tuyển dụng, quỹ học bổng — không ai có bằng chứng khách quan về nỗ lực học/làm việc thật.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00600" y="2788920"/>
            <a:ext cx="6839712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00600" y="2788920"/>
            <a:ext cx="91440" cy="12344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7488" y="2898648"/>
            <a:ext cx="640080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Công cụ hiện tại chỉ đếm giờ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7488" y="3273552"/>
            <a:ext cx="6446520" cy="6858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Pomodoro, Forest, YPT… bấm giờ rồi tự khai. Treo máy đi chơi vẫn được tính là "tập trung" — dễ gian lận, không có dữ liệu hành vi.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00600" y="4160520"/>
            <a:ext cx="6839712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4160520"/>
            <a:ext cx="91440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47488" y="4270248"/>
            <a:ext cx="640080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egoe UI"/>
              </a:rPr>
              <a:t>Sự tập trung chưa phải tài sản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47488" y="4645152"/>
            <a:ext cx="6446520" cy="6858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Hàng nghìn giờ kỷ luật không đổi được thành cơ hội: học bổng, thực tập, việc làm — vì không tồn tại "hồ sơ kỷ luật" đáng tin.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596128"/>
            <a:ext cx="11091672" cy="658368"/>
          </a:xfrm>
          <a:prstGeom prst="roundRect">
            <a:avLst>
              <a:gd name="adj" fmla="val 1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596128"/>
            <a:ext cx="10607040" cy="6583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350" b="1" i="1">
                <a:solidFill>
                  <a:srgbClr val="4F46E5"/>
                </a:solidFill>
                <a:latin typeface="Segoe UI"/>
              </a:rPr>
              <a:t>“Tôi học 8 tiếng mỗi ngày, nhưng cha mẹ vẫn hỏi: con có thật sự học không?” — trải nghiệm khởi nguồn của FocusProof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FocusProof — Chứng chỉ Tập trung Thông minh &amp; Xác thực   ·   Đội HT13 — VIBE CODING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6510528"/>
            <a:ext cx="130759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5417" y="0"/>
            <a:ext cx="435418" cy="91440"/>
          </a:xfrm>
          <a:prstGeom prst="rect">
            <a:avLst/>
          </a:prstGeom>
          <a:solidFill>
            <a:srgbClr val="4C4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834" y="0"/>
            <a:ext cx="435418" cy="91440"/>
          </a:xfrm>
          <a:prstGeom prst="rect">
            <a:avLst/>
          </a:prstGeom>
          <a:solidFill>
            <a:srgbClr val="49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6251" y="0"/>
            <a:ext cx="435418" cy="91440"/>
          </a:xfrm>
          <a:prstGeom prst="rect">
            <a:avLst/>
          </a:prstGeom>
          <a:solidFill>
            <a:srgbClr val="465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1668" y="0"/>
            <a:ext cx="435418" cy="91440"/>
          </a:xfrm>
          <a:prstGeom prst="rect">
            <a:avLst/>
          </a:prstGeom>
          <a:solidFill>
            <a:srgbClr val="445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7085" y="0"/>
            <a:ext cx="435418" cy="91440"/>
          </a:xfrm>
          <a:prstGeom prst="rect">
            <a:avLst/>
          </a:prstGeom>
          <a:solidFill>
            <a:srgbClr val="415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502" y="0"/>
            <a:ext cx="435418" cy="91440"/>
          </a:xfrm>
          <a:prstGeom prst="rect">
            <a:avLst/>
          </a:prstGeom>
          <a:solidFill>
            <a:srgbClr val="3E5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19" y="0"/>
            <a:ext cx="435418" cy="91440"/>
          </a:xfrm>
          <a:prstGeom prst="rect">
            <a:avLst/>
          </a:prstGeom>
          <a:solidFill>
            <a:srgbClr val="3C6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336" y="0"/>
            <a:ext cx="435418" cy="91440"/>
          </a:xfrm>
          <a:prstGeom prst="rect">
            <a:avLst/>
          </a:prstGeom>
          <a:solidFill>
            <a:srgbClr val="396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8753" y="0"/>
            <a:ext cx="435418" cy="91440"/>
          </a:xfrm>
          <a:prstGeom prst="rect">
            <a:avLst/>
          </a:prstGeom>
          <a:solidFill>
            <a:srgbClr val="366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4170" y="0"/>
            <a:ext cx="435418" cy="91440"/>
          </a:xfrm>
          <a:prstGeom prst="rect">
            <a:avLst/>
          </a:prstGeom>
          <a:solidFill>
            <a:srgbClr val="33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89587" y="0"/>
            <a:ext cx="435418" cy="91440"/>
          </a:xfrm>
          <a:prstGeom prst="rect">
            <a:avLst/>
          </a:prstGeom>
          <a:solidFill>
            <a:srgbClr val="317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004" y="0"/>
            <a:ext cx="435418" cy="91440"/>
          </a:xfrm>
          <a:prstGeom prst="rect">
            <a:avLst/>
          </a:prstGeom>
          <a:solidFill>
            <a:srgbClr val="2E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421" y="0"/>
            <a:ext cx="435418" cy="91440"/>
          </a:xfrm>
          <a:prstGeom prst="rect">
            <a:avLst/>
          </a:prstGeom>
          <a:solidFill>
            <a:srgbClr val="2B7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38" y="0"/>
            <a:ext cx="435418" cy="91440"/>
          </a:xfrm>
          <a:prstGeom prst="rect">
            <a:avLst/>
          </a:prstGeom>
          <a:solidFill>
            <a:srgbClr val="298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1255" y="0"/>
            <a:ext cx="435418" cy="91440"/>
          </a:xfrm>
          <a:prstGeom prst="rect">
            <a:avLst/>
          </a:prstGeom>
          <a:solidFill>
            <a:srgbClr val="268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672" y="0"/>
            <a:ext cx="435418" cy="91440"/>
          </a:xfrm>
          <a:prstGeom prst="rect">
            <a:avLst/>
          </a:prstGeom>
          <a:solidFill>
            <a:srgbClr val="238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2089" y="0"/>
            <a:ext cx="435418" cy="91440"/>
          </a:xfrm>
          <a:prstGeom prst="rect">
            <a:avLst/>
          </a:prstGeom>
          <a:solidFill>
            <a:srgbClr val="218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7506" y="0"/>
            <a:ext cx="435418" cy="91440"/>
          </a:xfrm>
          <a:prstGeom prst="rect">
            <a:avLst/>
          </a:prstGeom>
          <a:solidFill>
            <a:srgbClr val="1E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2923" y="0"/>
            <a:ext cx="435418" cy="91440"/>
          </a:xfrm>
          <a:prstGeom prst="rect">
            <a:avLst/>
          </a:prstGeom>
          <a:solidFill>
            <a:srgbClr val="1B9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40" y="0"/>
            <a:ext cx="435418" cy="91440"/>
          </a:xfrm>
          <a:prstGeom prst="rect">
            <a:avLst/>
          </a:prstGeom>
          <a:solidFill>
            <a:srgbClr val="18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57" y="0"/>
            <a:ext cx="435418" cy="91440"/>
          </a:xfrm>
          <a:prstGeom prst="rect">
            <a:avLst/>
          </a:prstGeom>
          <a:solidFill>
            <a:srgbClr val="169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9174" y="0"/>
            <a:ext cx="435418" cy="91440"/>
          </a:xfrm>
          <a:prstGeom prst="rect">
            <a:avLst/>
          </a:prstGeom>
          <a:solidFill>
            <a:srgbClr val="13A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4591" y="0"/>
            <a:ext cx="435418" cy="91440"/>
          </a:xfrm>
          <a:prstGeom prst="rect">
            <a:avLst/>
          </a:prstGeom>
          <a:solidFill>
            <a:srgbClr val="10A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0008" y="0"/>
            <a:ext cx="435418" cy="91440"/>
          </a:xfrm>
          <a:prstGeom prst="rect">
            <a:avLst/>
          </a:prstGeom>
          <a:solidFill>
            <a:srgbClr val="0EA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5425" y="0"/>
            <a:ext cx="435418" cy="91440"/>
          </a:xfrm>
          <a:prstGeom prst="rect">
            <a:avLst/>
          </a:prstGeom>
          <a:solidFill>
            <a:srgbClr val="0BA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842" y="0"/>
            <a:ext cx="435418" cy="91440"/>
          </a:xfrm>
          <a:prstGeom prst="rect">
            <a:avLst/>
          </a:prstGeom>
          <a:solidFill>
            <a:srgbClr val="08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56259" y="0"/>
            <a:ext cx="43541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74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9184"/>
            <a:ext cx="100584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Segoe UI"/>
              </a:rPr>
              <a:t>GIẢI PHÁP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"/>
            <a:ext cx="1033272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"/>
              </a:rPr>
              <a:t>FocusProof — chứng chỉ tập trung thông minh &amp; xác thực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1152144"/>
            <a:ext cx="1106424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Segoe UI"/>
              </a:rPr>
              <a:t>Chrome Extension đo tập trung bằng dữ liệu hành vi thật, rồi biến nó thành bằng chứng ai cũng kiểm chứng được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1627632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627632"/>
            <a:ext cx="19659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ĐO THẬT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1600200"/>
            <a:ext cx="3520440" cy="10515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3 tín hiệu độc lập: khuôn mặt (AI on-device) + hoạt động chuột/bàn phím + tab đang mở.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276148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2761488"/>
            <a:ext cx="19659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CHẤM THẬT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7480" y="2734056"/>
            <a:ext cx="3520440" cy="10515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Focus Score 0–100 chấm mỗi ~6 giây theo mục tiêu phiên; cảnh báo ngay khi xao nhãng.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3895344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895344"/>
            <a:ext cx="19659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CHỨNG MINH ĐƯỢC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7480" y="3867912"/>
            <a:ext cx="3520440" cy="10515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Chứng chỉ PDF + mã QR — máy chủ ký HMAC, ai quét cũng đối chiếu được bản gốc.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0292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029200"/>
            <a:ext cx="19659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THẤU HIỂU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7480" y="5001768"/>
            <a:ext cx="3520440" cy="10515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AI nhận xét buổi học bằng tiếng Việt; vẫn hoạt động khi mất mạng (engine offline).</a:t>
            </a:r>
          </a:p>
        </p:txBody>
      </p:sp>
      <p:pic>
        <p:nvPicPr>
          <p:cNvPr id="47" name="Picture 46" descr="widget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72768"/>
            <a:ext cx="5212080" cy="150178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446520" y="3127248"/>
            <a:ext cx="52120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Widget realtime trong lúc học — điểm tập trung cập nhật liên tục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46520" y="3584448"/>
            <a:ext cx="5212080" cy="2514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3767328"/>
            <a:ext cx="475488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Một phiên học điển hình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187952"/>
            <a:ext cx="4800600" cy="1828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4F46E5"/>
                </a:solidFill>
                <a:latin typeface="Segoe UI"/>
              </a:rPr>
              <a:t>●  </a:t>
            </a:r>
            <a:r>
              <a:rPr sz="1150" b="1">
                <a:solidFill>
                  <a:srgbClr val="0F172A"/>
                </a:solidFill>
                <a:latin typeface="Segoe UI"/>
              </a:rPr>
              <a:t>Đặt mục tiêu:  </a:t>
            </a:r>
            <a:r>
              <a:rPr sz="1150">
                <a:solidFill>
                  <a:srgbClr val="475569"/>
                </a:solidFill>
                <a:latin typeface="Segoe UI"/>
              </a:rPr>
              <a:t>“Ôn thi Giải tích 90 phút — chỉ Notion, Coursera”</a:t>
            </a:r>
          </a:p>
          <a:p>
            <a:pPr>
              <a:spcAft>
                <a:spcPts val="700"/>
              </a:spcAft>
            </a:pPr>
            <a:r>
              <a:rPr sz="800" b="1">
                <a:solidFill>
                  <a:srgbClr val="4F46E5"/>
                </a:solidFill>
                <a:latin typeface="Segoe UI"/>
              </a:rPr>
              <a:t>●  </a:t>
            </a:r>
            <a:r>
              <a:rPr sz="1150" b="1">
                <a:solidFill>
                  <a:srgbClr val="0F172A"/>
                </a:solidFill>
                <a:latin typeface="Segoe UI"/>
              </a:rPr>
              <a:t>Trong phiên:  </a:t>
            </a:r>
            <a:r>
              <a:rPr sz="1150">
                <a:solidFill>
                  <a:srgbClr val="475569"/>
                </a:solidFill>
                <a:latin typeface="Segoe UI"/>
              </a:rPr>
              <a:t>widget hiển thị điểm; cảnh báo khi rời tab/mất mặt/idle</a:t>
            </a:r>
          </a:p>
          <a:p>
            <a:pPr>
              <a:spcAft>
                <a:spcPts val="700"/>
              </a:spcAft>
            </a:pPr>
            <a:r>
              <a:rPr sz="800" b="1">
                <a:solidFill>
                  <a:srgbClr val="4F46E5"/>
                </a:solidFill>
                <a:latin typeface="Segoe UI"/>
              </a:rPr>
              <a:t>●  </a:t>
            </a:r>
            <a:r>
              <a:rPr sz="1150" b="1">
                <a:solidFill>
                  <a:srgbClr val="0F172A"/>
                </a:solidFill>
                <a:latin typeface="Segoe UI"/>
              </a:rPr>
              <a:t>Kết thúc:  </a:t>
            </a:r>
            <a:r>
              <a:rPr sz="1150">
                <a:solidFill>
                  <a:srgbClr val="475569"/>
                </a:solidFill>
                <a:latin typeface="Segoe UI"/>
              </a:rPr>
              <a:t>điểm + biểu đồ + AI insight + chứng chỉ PDF-QR</a:t>
            </a:r>
          </a:p>
          <a:p>
            <a:pPr>
              <a:spcAft>
                <a:spcPts val="700"/>
              </a:spcAft>
            </a:pPr>
            <a:r>
              <a:rPr sz="800" b="1">
                <a:solidFill>
                  <a:srgbClr val="4F46E5"/>
                </a:solidFill>
                <a:latin typeface="Segoe UI"/>
              </a:rPr>
              <a:t>●  </a:t>
            </a:r>
            <a:r>
              <a:rPr sz="1150" b="1">
                <a:solidFill>
                  <a:srgbClr val="0F172A"/>
                </a:solidFill>
                <a:latin typeface="Segoe UI"/>
              </a:rPr>
              <a:t>Chia sẻ:  </a:t>
            </a:r>
            <a:r>
              <a:rPr sz="1150">
                <a:solidFill>
                  <a:srgbClr val="475569"/>
                </a:solidFill>
                <a:latin typeface="Segoe UI"/>
              </a:rPr>
              <a:t>gửi cha mẹ / giảng viên / đính kèm hồ sơ học bổng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FocusProof — Chứng chỉ Tập trung Thông minh &amp; Xác thực   ·   Đội HT13 — VIBE CODING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6510528"/>
            <a:ext cx="130759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5417" y="0"/>
            <a:ext cx="435418" cy="91440"/>
          </a:xfrm>
          <a:prstGeom prst="rect">
            <a:avLst/>
          </a:prstGeom>
          <a:solidFill>
            <a:srgbClr val="4C4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834" y="0"/>
            <a:ext cx="435418" cy="91440"/>
          </a:xfrm>
          <a:prstGeom prst="rect">
            <a:avLst/>
          </a:prstGeom>
          <a:solidFill>
            <a:srgbClr val="49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6251" y="0"/>
            <a:ext cx="435418" cy="91440"/>
          </a:xfrm>
          <a:prstGeom prst="rect">
            <a:avLst/>
          </a:prstGeom>
          <a:solidFill>
            <a:srgbClr val="465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1668" y="0"/>
            <a:ext cx="435418" cy="91440"/>
          </a:xfrm>
          <a:prstGeom prst="rect">
            <a:avLst/>
          </a:prstGeom>
          <a:solidFill>
            <a:srgbClr val="445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7085" y="0"/>
            <a:ext cx="435418" cy="91440"/>
          </a:xfrm>
          <a:prstGeom prst="rect">
            <a:avLst/>
          </a:prstGeom>
          <a:solidFill>
            <a:srgbClr val="415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502" y="0"/>
            <a:ext cx="435418" cy="91440"/>
          </a:xfrm>
          <a:prstGeom prst="rect">
            <a:avLst/>
          </a:prstGeom>
          <a:solidFill>
            <a:srgbClr val="3E5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19" y="0"/>
            <a:ext cx="435418" cy="91440"/>
          </a:xfrm>
          <a:prstGeom prst="rect">
            <a:avLst/>
          </a:prstGeom>
          <a:solidFill>
            <a:srgbClr val="3C6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336" y="0"/>
            <a:ext cx="435418" cy="91440"/>
          </a:xfrm>
          <a:prstGeom prst="rect">
            <a:avLst/>
          </a:prstGeom>
          <a:solidFill>
            <a:srgbClr val="396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8753" y="0"/>
            <a:ext cx="435418" cy="91440"/>
          </a:xfrm>
          <a:prstGeom prst="rect">
            <a:avLst/>
          </a:prstGeom>
          <a:solidFill>
            <a:srgbClr val="366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4170" y="0"/>
            <a:ext cx="435418" cy="91440"/>
          </a:xfrm>
          <a:prstGeom prst="rect">
            <a:avLst/>
          </a:prstGeom>
          <a:solidFill>
            <a:srgbClr val="33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89587" y="0"/>
            <a:ext cx="435418" cy="91440"/>
          </a:xfrm>
          <a:prstGeom prst="rect">
            <a:avLst/>
          </a:prstGeom>
          <a:solidFill>
            <a:srgbClr val="317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004" y="0"/>
            <a:ext cx="435418" cy="91440"/>
          </a:xfrm>
          <a:prstGeom prst="rect">
            <a:avLst/>
          </a:prstGeom>
          <a:solidFill>
            <a:srgbClr val="2E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421" y="0"/>
            <a:ext cx="435418" cy="91440"/>
          </a:xfrm>
          <a:prstGeom prst="rect">
            <a:avLst/>
          </a:prstGeom>
          <a:solidFill>
            <a:srgbClr val="2B7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38" y="0"/>
            <a:ext cx="435418" cy="91440"/>
          </a:xfrm>
          <a:prstGeom prst="rect">
            <a:avLst/>
          </a:prstGeom>
          <a:solidFill>
            <a:srgbClr val="298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1255" y="0"/>
            <a:ext cx="435418" cy="91440"/>
          </a:xfrm>
          <a:prstGeom prst="rect">
            <a:avLst/>
          </a:prstGeom>
          <a:solidFill>
            <a:srgbClr val="268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672" y="0"/>
            <a:ext cx="435418" cy="91440"/>
          </a:xfrm>
          <a:prstGeom prst="rect">
            <a:avLst/>
          </a:prstGeom>
          <a:solidFill>
            <a:srgbClr val="238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2089" y="0"/>
            <a:ext cx="435418" cy="91440"/>
          </a:xfrm>
          <a:prstGeom prst="rect">
            <a:avLst/>
          </a:prstGeom>
          <a:solidFill>
            <a:srgbClr val="218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7506" y="0"/>
            <a:ext cx="435418" cy="91440"/>
          </a:xfrm>
          <a:prstGeom prst="rect">
            <a:avLst/>
          </a:prstGeom>
          <a:solidFill>
            <a:srgbClr val="1E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2923" y="0"/>
            <a:ext cx="435418" cy="91440"/>
          </a:xfrm>
          <a:prstGeom prst="rect">
            <a:avLst/>
          </a:prstGeom>
          <a:solidFill>
            <a:srgbClr val="1B9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40" y="0"/>
            <a:ext cx="435418" cy="91440"/>
          </a:xfrm>
          <a:prstGeom prst="rect">
            <a:avLst/>
          </a:prstGeom>
          <a:solidFill>
            <a:srgbClr val="18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57" y="0"/>
            <a:ext cx="435418" cy="91440"/>
          </a:xfrm>
          <a:prstGeom prst="rect">
            <a:avLst/>
          </a:prstGeom>
          <a:solidFill>
            <a:srgbClr val="169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9174" y="0"/>
            <a:ext cx="435418" cy="91440"/>
          </a:xfrm>
          <a:prstGeom prst="rect">
            <a:avLst/>
          </a:prstGeom>
          <a:solidFill>
            <a:srgbClr val="13A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4591" y="0"/>
            <a:ext cx="435418" cy="91440"/>
          </a:xfrm>
          <a:prstGeom prst="rect">
            <a:avLst/>
          </a:prstGeom>
          <a:solidFill>
            <a:srgbClr val="10A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0008" y="0"/>
            <a:ext cx="435418" cy="91440"/>
          </a:xfrm>
          <a:prstGeom prst="rect">
            <a:avLst/>
          </a:prstGeom>
          <a:solidFill>
            <a:srgbClr val="0EA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5425" y="0"/>
            <a:ext cx="435418" cy="91440"/>
          </a:xfrm>
          <a:prstGeom prst="rect">
            <a:avLst/>
          </a:prstGeom>
          <a:solidFill>
            <a:srgbClr val="0BA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842" y="0"/>
            <a:ext cx="435418" cy="91440"/>
          </a:xfrm>
          <a:prstGeom prst="rect">
            <a:avLst/>
          </a:prstGeom>
          <a:solidFill>
            <a:srgbClr val="08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56259" y="0"/>
            <a:ext cx="43541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74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9184"/>
            <a:ext cx="100584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Segoe UI"/>
              </a:rPr>
              <a:t>SẢN PHẨM HOẠT ĐỘNG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"/>
            <a:ext cx="1033272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"/>
              </a:rPr>
              <a:t>5 bước — từ mục tiêu đến bằng chứng</a:t>
            </a:r>
          </a:p>
        </p:txBody>
      </p:sp>
      <p:sp>
        <p:nvSpPr>
          <p:cNvPr id="34" name="Oval 33"/>
          <p:cNvSpPr/>
          <p:nvPr/>
        </p:nvSpPr>
        <p:spPr>
          <a:xfrm>
            <a:off x="1325880" y="1572768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1572768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2331720"/>
            <a:ext cx="2103120" cy="233172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2331720"/>
            <a:ext cx="210312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2560320"/>
            <a:ext cx="1956816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350" b="1" i="0">
                <a:solidFill>
                  <a:srgbClr val="0F172A"/>
                </a:solidFill>
                <a:latin typeface="Segoe UI"/>
              </a:rPr>
              <a:t>Đặt mục tiêu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3090672"/>
            <a:ext cx="1847088" cy="1463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Mở popup, chọn nhiệm vụ, thời lượng, domain cho phép, chế độ Strict.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2660904" y="1737360"/>
            <a:ext cx="1554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593592" y="1572768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93592" y="1572768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16352" y="2331720"/>
            <a:ext cx="2103120" cy="233172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16352" y="2331720"/>
            <a:ext cx="2103120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89504" y="2560320"/>
            <a:ext cx="1956816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350" b="1" i="0">
                <a:solidFill>
                  <a:srgbClr val="0F172A"/>
                </a:solidFill>
                <a:latin typeface="Segoe UI"/>
              </a:rPr>
              <a:t>Đồng ý &amp; bắt đầu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44368" y="3090672"/>
            <a:ext cx="1847088" cy="1463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Màn hình consent minh bạch (2 opt-in). Camera là tuỳ chọn — xử lý 100% tại máy.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928616" y="1737360"/>
            <a:ext cx="1554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861304" y="1572768"/>
            <a:ext cx="566928" cy="56692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61304" y="1572768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84064" y="2331720"/>
            <a:ext cx="2103120" cy="233172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84064" y="2331720"/>
            <a:ext cx="2103120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57216" y="2560320"/>
            <a:ext cx="1956816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350" b="1" i="0">
                <a:solidFill>
                  <a:srgbClr val="0F172A"/>
                </a:solidFill>
                <a:latin typeface="Segoe UI"/>
              </a:rPr>
              <a:t>Engine chấm điểm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3090672"/>
            <a:ext cx="1847088" cy="1463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3 tín hiệu hợp nhất mỗi ~6 giây. Widget nổi hiển thị điểm — cảnh báo tức thời.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7196328" y="1737360"/>
            <a:ext cx="1554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129016" y="1572768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29016" y="1572768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51776" y="2331720"/>
            <a:ext cx="2103120" cy="233172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351776" y="2331720"/>
            <a:ext cx="210312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24928" y="2560320"/>
            <a:ext cx="1956816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350" b="1" i="0">
                <a:solidFill>
                  <a:srgbClr val="0F172A"/>
                </a:solidFill>
                <a:latin typeface="Segoe UI"/>
              </a:rPr>
              <a:t>Báo cáo cuối phiên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79792" y="3090672"/>
            <a:ext cx="1847088" cy="1463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Focus Score, biểu đồ diễn biến, số cảnh báo thật, AI insight tiếng Việt.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464040" y="1737360"/>
            <a:ext cx="1554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396728" y="157276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96728" y="1572768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19488" y="2331720"/>
            <a:ext cx="2103120" cy="233172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619488" y="2331720"/>
            <a:ext cx="21031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92640" y="2560320"/>
            <a:ext cx="1956816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350" b="1" i="0">
                <a:solidFill>
                  <a:srgbClr val="0F172A"/>
                </a:solidFill>
                <a:latin typeface="Segoe UI"/>
              </a:rPr>
              <a:t>Chứng chỉ &amp; chia sẻ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47504" y="3090672"/>
            <a:ext cx="1847088" cy="1463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PDF + QR ký HMAC phía máy chủ. Quét là ra trang xác thực công khai.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" y="4983480"/>
            <a:ext cx="11091672" cy="1234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" y="5138928"/>
            <a:ext cx="1051560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Segoe UI"/>
              </a:rPr>
              <a:t>★  DEMO TRỰC TIẾP TRÊN SÂN KHẤU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5559552"/>
            <a:ext cx="1051560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Chạy phiên thật — cố tình chuyển sang Facebook để kích cảnh báo — kết thúc phiên — quét QR xác thực ngay tại chỗ.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Segoe UI"/>
              </a:rPr>
              <a:t>AI insight hoạt động cả khi đứt mạng (engine offline) · luôn có video backup phòng sự cố camera/mạng.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FocusProof — Chứng chỉ Tập trung Thông minh &amp; Xác thực   ·   Đội HT13 — VIBE CODING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32720" y="6510528"/>
            <a:ext cx="130759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5417" y="0"/>
            <a:ext cx="435418" cy="91440"/>
          </a:xfrm>
          <a:prstGeom prst="rect">
            <a:avLst/>
          </a:prstGeom>
          <a:solidFill>
            <a:srgbClr val="4C4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834" y="0"/>
            <a:ext cx="435418" cy="91440"/>
          </a:xfrm>
          <a:prstGeom prst="rect">
            <a:avLst/>
          </a:prstGeom>
          <a:solidFill>
            <a:srgbClr val="49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6251" y="0"/>
            <a:ext cx="435418" cy="91440"/>
          </a:xfrm>
          <a:prstGeom prst="rect">
            <a:avLst/>
          </a:prstGeom>
          <a:solidFill>
            <a:srgbClr val="465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1668" y="0"/>
            <a:ext cx="435418" cy="91440"/>
          </a:xfrm>
          <a:prstGeom prst="rect">
            <a:avLst/>
          </a:prstGeom>
          <a:solidFill>
            <a:srgbClr val="445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7085" y="0"/>
            <a:ext cx="435418" cy="91440"/>
          </a:xfrm>
          <a:prstGeom prst="rect">
            <a:avLst/>
          </a:prstGeom>
          <a:solidFill>
            <a:srgbClr val="415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502" y="0"/>
            <a:ext cx="435418" cy="91440"/>
          </a:xfrm>
          <a:prstGeom prst="rect">
            <a:avLst/>
          </a:prstGeom>
          <a:solidFill>
            <a:srgbClr val="3E5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19" y="0"/>
            <a:ext cx="435418" cy="91440"/>
          </a:xfrm>
          <a:prstGeom prst="rect">
            <a:avLst/>
          </a:prstGeom>
          <a:solidFill>
            <a:srgbClr val="3C6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336" y="0"/>
            <a:ext cx="435418" cy="91440"/>
          </a:xfrm>
          <a:prstGeom prst="rect">
            <a:avLst/>
          </a:prstGeom>
          <a:solidFill>
            <a:srgbClr val="396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8753" y="0"/>
            <a:ext cx="435418" cy="91440"/>
          </a:xfrm>
          <a:prstGeom prst="rect">
            <a:avLst/>
          </a:prstGeom>
          <a:solidFill>
            <a:srgbClr val="366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4170" y="0"/>
            <a:ext cx="435418" cy="91440"/>
          </a:xfrm>
          <a:prstGeom prst="rect">
            <a:avLst/>
          </a:prstGeom>
          <a:solidFill>
            <a:srgbClr val="33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89587" y="0"/>
            <a:ext cx="435418" cy="91440"/>
          </a:xfrm>
          <a:prstGeom prst="rect">
            <a:avLst/>
          </a:prstGeom>
          <a:solidFill>
            <a:srgbClr val="317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004" y="0"/>
            <a:ext cx="435418" cy="91440"/>
          </a:xfrm>
          <a:prstGeom prst="rect">
            <a:avLst/>
          </a:prstGeom>
          <a:solidFill>
            <a:srgbClr val="2E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421" y="0"/>
            <a:ext cx="435418" cy="91440"/>
          </a:xfrm>
          <a:prstGeom prst="rect">
            <a:avLst/>
          </a:prstGeom>
          <a:solidFill>
            <a:srgbClr val="2B7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38" y="0"/>
            <a:ext cx="435418" cy="91440"/>
          </a:xfrm>
          <a:prstGeom prst="rect">
            <a:avLst/>
          </a:prstGeom>
          <a:solidFill>
            <a:srgbClr val="298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1255" y="0"/>
            <a:ext cx="435418" cy="91440"/>
          </a:xfrm>
          <a:prstGeom prst="rect">
            <a:avLst/>
          </a:prstGeom>
          <a:solidFill>
            <a:srgbClr val="268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672" y="0"/>
            <a:ext cx="435418" cy="91440"/>
          </a:xfrm>
          <a:prstGeom prst="rect">
            <a:avLst/>
          </a:prstGeom>
          <a:solidFill>
            <a:srgbClr val="238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2089" y="0"/>
            <a:ext cx="435418" cy="91440"/>
          </a:xfrm>
          <a:prstGeom prst="rect">
            <a:avLst/>
          </a:prstGeom>
          <a:solidFill>
            <a:srgbClr val="218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7506" y="0"/>
            <a:ext cx="435418" cy="91440"/>
          </a:xfrm>
          <a:prstGeom prst="rect">
            <a:avLst/>
          </a:prstGeom>
          <a:solidFill>
            <a:srgbClr val="1E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2923" y="0"/>
            <a:ext cx="435418" cy="91440"/>
          </a:xfrm>
          <a:prstGeom prst="rect">
            <a:avLst/>
          </a:prstGeom>
          <a:solidFill>
            <a:srgbClr val="1B9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40" y="0"/>
            <a:ext cx="435418" cy="91440"/>
          </a:xfrm>
          <a:prstGeom prst="rect">
            <a:avLst/>
          </a:prstGeom>
          <a:solidFill>
            <a:srgbClr val="18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57" y="0"/>
            <a:ext cx="435418" cy="91440"/>
          </a:xfrm>
          <a:prstGeom prst="rect">
            <a:avLst/>
          </a:prstGeom>
          <a:solidFill>
            <a:srgbClr val="169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9174" y="0"/>
            <a:ext cx="435418" cy="91440"/>
          </a:xfrm>
          <a:prstGeom prst="rect">
            <a:avLst/>
          </a:prstGeom>
          <a:solidFill>
            <a:srgbClr val="13A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4591" y="0"/>
            <a:ext cx="435418" cy="91440"/>
          </a:xfrm>
          <a:prstGeom prst="rect">
            <a:avLst/>
          </a:prstGeom>
          <a:solidFill>
            <a:srgbClr val="10A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0008" y="0"/>
            <a:ext cx="435418" cy="91440"/>
          </a:xfrm>
          <a:prstGeom prst="rect">
            <a:avLst/>
          </a:prstGeom>
          <a:solidFill>
            <a:srgbClr val="0EA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5425" y="0"/>
            <a:ext cx="435418" cy="91440"/>
          </a:xfrm>
          <a:prstGeom prst="rect">
            <a:avLst/>
          </a:prstGeom>
          <a:solidFill>
            <a:srgbClr val="0BA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842" y="0"/>
            <a:ext cx="435418" cy="91440"/>
          </a:xfrm>
          <a:prstGeom prst="rect">
            <a:avLst/>
          </a:prstGeom>
          <a:solidFill>
            <a:srgbClr val="08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56259" y="0"/>
            <a:ext cx="43541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74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9184"/>
            <a:ext cx="100584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Segoe UI"/>
              </a:rPr>
              <a:t>LÕI CÔNG NGHỆ — USP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"/>
            <a:ext cx="1033272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"/>
              </a:rPr>
              <a:t>3-Signal Focus Engine — không đối thủ nào có cùng kiến trúc</a:t>
            </a:r>
          </a:p>
        </p:txBody>
      </p:sp>
      <p:pic>
        <p:nvPicPr>
          <p:cNvPr id="34" name="Picture 33" descr="three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1298448"/>
            <a:ext cx="9326880" cy="524637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FocusProof — Chứng chỉ Tập trung Thông minh &amp; Xác thực   ·   Đội HT13 — VIBE CODING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510528"/>
            <a:ext cx="130759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5417" y="0"/>
            <a:ext cx="435418" cy="91440"/>
          </a:xfrm>
          <a:prstGeom prst="rect">
            <a:avLst/>
          </a:prstGeom>
          <a:solidFill>
            <a:srgbClr val="4C4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834" y="0"/>
            <a:ext cx="435418" cy="91440"/>
          </a:xfrm>
          <a:prstGeom prst="rect">
            <a:avLst/>
          </a:prstGeom>
          <a:solidFill>
            <a:srgbClr val="49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6251" y="0"/>
            <a:ext cx="435418" cy="91440"/>
          </a:xfrm>
          <a:prstGeom prst="rect">
            <a:avLst/>
          </a:prstGeom>
          <a:solidFill>
            <a:srgbClr val="465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1668" y="0"/>
            <a:ext cx="435418" cy="91440"/>
          </a:xfrm>
          <a:prstGeom prst="rect">
            <a:avLst/>
          </a:prstGeom>
          <a:solidFill>
            <a:srgbClr val="445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7085" y="0"/>
            <a:ext cx="435418" cy="91440"/>
          </a:xfrm>
          <a:prstGeom prst="rect">
            <a:avLst/>
          </a:prstGeom>
          <a:solidFill>
            <a:srgbClr val="415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502" y="0"/>
            <a:ext cx="435418" cy="91440"/>
          </a:xfrm>
          <a:prstGeom prst="rect">
            <a:avLst/>
          </a:prstGeom>
          <a:solidFill>
            <a:srgbClr val="3E5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19" y="0"/>
            <a:ext cx="435418" cy="91440"/>
          </a:xfrm>
          <a:prstGeom prst="rect">
            <a:avLst/>
          </a:prstGeom>
          <a:solidFill>
            <a:srgbClr val="3C6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336" y="0"/>
            <a:ext cx="435418" cy="91440"/>
          </a:xfrm>
          <a:prstGeom prst="rect">
            <a:avLst/>
          </a:prstGeom>
          <a:solidFill>
            <a:srgbClr val="396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8753" y="0"/>
            <a:ext cx="435418" cy="91440"/>
          </a:xfrm>
          <a:prstGeom prst="rect">
            <a:avLst/>
          </a:prstGeom>
          <a:solidFill>
            <a:srgbClr val="366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4170" y="0"/>
            <a:ext cx="435418" cy="91440"/>
          </a:xfrm>
          <a:prstGeom prst="rect">
            <a:avLst/>
          </a:prstGeom>
          <a:solidFill>
            <a:srgbClr val="33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89587" y="0"/>
            <a:ext cx="435418" cy="91440"/>
          </a:xfrm>
          <a:prstGeom prst="rect">
            <a:avLst/>
          </a:prstGeom>
          <a:solidFill>
            <a:srgbClr val="317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004" y="0"/>
            <a:ext cx="435418" cy="91440"/>
          </a:xfrm>
          <a:prstGeom prst="rect">
            <a:avLst/>
          </a:prstGeom>
          <a:solidFill>
            <a:srgbClr val="2E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421" y="0"/>
            <a:ext cx="435418" cy="91440"/>
          </a:xfrm>
          <a:prstGeom prst="rect">
            <a:avLst/>
          </a:prstGeom>
          <a:solidFill>
            <a:srgbClr val="2B7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38" y="0"/>
            <a:ext cx="435418" cy="91440"/>
          </a:xfrm>
          <a:prstGeom prst="rect">
            <a:avLst/>
          </a:prstGeom>
          <a:solidFill>
            <a:srgbClr val="298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1255" y="0"/>
            <a:ext cx="435418" cy="91440"/>
          </a:xfrm>
          <a:prstGeom prst="rect">
            <a:avLst/>
          </a:prstGeom>
          <a:solidFill>
            <a:srgbClr val="268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672" y="0"/>
            <a:ext cx="435418" cy="91440"/>
          </a:xfrm>
          <a:prstGeom prst="rect">
            <a:avLst/>
          </a:prstGeom>
          <a:solidFill>
            <a:srgbClr val="238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2089" y="0"/>
            <a:ext cx="435418" cy="91440"/>
          </a:xfrm>
          <a:prstGeom prst="rect">
            <a:avLst/>
          </a:prstGeom>
          <a:solidFill>
            <a:srgbClr val="218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7506" y="0"/>
            <a:ext cx="435418" cy="91440"/>
          </a:xfrm>
          <a:prstGeom prst="rect">
            <a:avLst/>
          </a:prstGeom>
          <a:solidFill>
            <a:srgbClr val="1E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2923" y="0"/>
            <a:ext cx="435418" cy="91440"/>
          </a:xfrm>
          <a:prstGeom prst="rect">
            <a:avLst/>
          </a:prstGeom>
          <a:solidFill>
            <a:srgbClr val="1B9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40" y="0"/>
            <a:ext cx="435418" cy="91440"/>
          </a:xfrm>
          <a:prstGeom prst="rect">
            <a:avLst/>
          </a:prstGeom>
          <a:solidFill>
            <a:srgbClr val="18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57" y="0"/>
            <a:ext cx="435418" cy="91440"/>
          </a:xfrm>
          <a:prstGeom prst="rect">
            <a:avLst/>
          </a:prstGeom>
          <a:solidFill>
            <a:srgbClr val="169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9174" y="0"/>
            <a:ext cx="435418" cy="91440"/>
          </a:xfrm>
          <a:prstGeom prst="rect">
            <a:avLst/>
          </a:prstGeom>
          <a:solidFill>
            <a:srgbClr val="13A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4591" y="0"/>
            <a:ext cx="435418" cy="91440"/>
          </a:xfrm>
          <a:prstGeom prst="rect">
            <a:avLst/>
          </a:prstGeom>
          <a:solidFill>
            <a:srgbClr val="10A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0008" y="0"/>
            <a:ext cx="435418" cy="91440"/>
          </a:xfrm>
          <a:prstGeom prst="rect">
            <a:avLst/>
          </a:prstGeom>
          <a:solidFill>
            <a:srgbClr val="0EA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5425" y="0"/>
            <a:ext cx="435418" cy="91440"/>
          </a:xfrm>
          <a:prstGeom prst="rect">
            <a:avLst/>
          </a:prstGeom>
          <a:solidFill>
            <a:srgbClr val="0BA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842" y="0"/>
            <a:ext cx="435418" cy="91440"/>
          </a:xfrm>
          <a:prstGeom prst="rect">
            <a:avLst/>
          </a:prstGeom>
          <a:solidFill>
            <a:srgbClr val="08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56259" y="0"/>
            <a:ext cx="43541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74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9184"/>
            <a:ext cx="100584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Segoe UI"/>
              </a:rPr>
              <a:t>KIẾN TRÚC HỆ THỐNG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"/>
            <a:ext cx="1033272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"/>
              </a:rPr>
              <a:t>Xử lý tại thiết bị — xác thực tại máy chủ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1152144"/>
            <a:ext cx="1106424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Segoe UI"/>
              </a:rPr>
              <a:t>React 18 · TypeScript · Vite · MediaPipe BlazeFace (WASM) · Node/Express · SQLite · GitHub Actions CI</a:t>
            </a:r>
          </a:p>
        </p:txBody>
      </p:sp>
      <p:pic>
        <p:nvPicPr>
          <p:cNvPr id="35" name="Picture 3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1463040"/>
            <a:ext cx="9052560" cy="5092065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FocusProof — Chứng chỉ Tập trung Thông minh &amp; Xác thực   ·   Đội HT13 — VIBE CODING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510528"/>
            <a:ext cx="130759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5417" y="0"/>
            <a:ext cx="435418" cy="91440"/>
          </a:xfrm>
          <a:prstGeom prst="rect">
            <a:avLst/>
          </a:prstGeom>
          <a:solidFill>
            <a:srgbClr val="4C4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834" y="0"/>
            <a:ext cx="435418" cy="91440"/>
          </a:xfrm>
          <a:prstGeom prst="rect">
            <a:avLst/>
          </a:prstGeom>
          <a:solidFill>
            <a:srgbClr val="49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6251" y="0"/>
            <a:ext cx="435418" cy="91440"/>
          </a:xfrm>
          <a:prstGeom prst="rect">
            <a:avLst/>
          </a:prstGeom>
          <a:solidFill>
            <a:srgbClr val="465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1668" y="0"/>
            <a:ext cx="435418" cy="91440"/>
          </a:xfrm>
          <a:prstGeom prst="rect">
            <a:avLst/>
          </a:prstGeom>
          <a:solidFill>
            <a:srgbClr val="445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7085" y="0"/>
            <a:ext cx="435418" cy="91440"/>
          </a:xfrm>
          <a:prstGeom prst="rect">
            <a:avLst/>
          </a:prstGeom>
          <a:solidFill>
            <a:srgbClr val="415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502" y="0"/>
            <a:ext cx="435418" cy="91440"/>
          </a:xfrm>
          <a:prstGeom prst="rect">
            <a:avLst/>
          </a:prstGeom>
          <a:solidFill>
            <a:srgbClr val="3E5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19" y="0"/>
            <a:ext cx="435418" cy="91440"/>
          </a:xfrm>
          <a:prstGeom prst="rect">
            <a:avLst/>
          </a:prstGeom>
          <a:solidFill>
            <a:srgbClr val="3C6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336" y="0"/>
            <a:ext cx="435418" cy="91440"/>
          </a:xfrm>
          <a:prstGeom prst="rect">
            <a:avLst/>
          </a:prstGeom>
          <a:solidFill>
            <a:srgbClr val="396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8753" y="0"/>
            <a:ext cx="435418" cy="91440"/>
          </a:xfrm>
          <a:prstGeom prst="rect">
            <a:avLst/>
          </a:prstGeom>
          <a:solidFill>
            <a:srgbClr val="366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4170" y="0"/>
            <a:ext cx="435418" cy="91440"/>
          </a:xfrm>
          <a:prstGeom prst="rect">
            <a:avLst/>
          </a:prstGeom>
          <a:solidFill>
            <a:srgbClr val="33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89587" y="0"/>
            <a:ext cx="435418" cy="91440"/>
          </a:xfrm>
          <a:prstGeom prst="rect">
            <a:avLst/>
          </a:prstGeom>
          <a:solidFill>
            <a:srgbClr val="317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004" y="0"/>
            <a:ext cx="435418" cy="91440"/>
          </a:xfrm>
          <a:prstGeom prst="rect">
            <a:avLst/>
          </a:prstGeom>
          <a:solidFill>
            <a:srgbClr val="2E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421" y="0"/>
            <a:ext cx="435418" cy="91440"/>
          </a:xfrm>
          <a:prstGeom prst="rect">
            <a:avLst/>
          </a:prstGeom>
          <a:solidFill>
            <a:srgbClr val="2B7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38" y="0"/>
            <a:ext cx="435418" cy="91440"/>
          </a:xfrm>
          <a:prstGeom prst="rect">
            <a:avLst/>
          </a:prstGeom>
          <a:solidFill>
            <a:srgbClr val="298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1255" y="0"/>
            <a:ext cx="435418" cy="91440"/>
          </a:xfrm>
          <a:prstGeom prst="rect">
            <a:avLst/>
          </a:prstGeom>
          <a:solidFill>
            <a:srgbClr val="268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672" y="0"/>
            <a:ext cx="435418" cy="91440"/>
          </a:xfrm>
          <a:prstGeom prst="rect">
            <a:avLst/>
          </a:prstGeom>
          <a:solidFill>
            <a:srgbClr val="238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2089" y="0"/>
            <a:ext cx="435418" cy="91440"/>
          </a:xfrm>
          <a:prstGeom prst="rect">
            <a:avLst/>
          </a:prstGeom>
          <a:solidFill>
            <a:srgbClr val="218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7506" y="0"/>
            <a:ext cx="435418" cy="91440"/>
          </a:xfrm>
          <a:prstGeom prst="rect">
            <a:avLst/>
          </a:prstGeom>
          <a:solidFill>
            <a:srgbClr val="1E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2923" y="0"/>
            <a:ext cx="435418" cy="91440"/>
          </a:xfrm>
          <a:prstGeom prst="rect">
            <a:avLst/>
          </a:prstGeom>
          <a:solidFill>
            <a:srgbClr val="1B9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40" y="0"/>
            <a:ext cx="435418" cy="91440"/>
          </a:xfrm>
          <a:prstGeom prst="rect">
            <a:avLst/>
          </a:prstGeom>
          <a:solidFill>
            <a:srgbClr val="18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57" y="0"/>
            <a:ext cx="435418" cy="91440"/>
          </a:xfrm>
          <a:prstGeom prst="rect">
            <a:avLst/>
          </a:prstGeom>
          <a:solidFill>
            <a:srgbClr val="169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9174" y="0"/>
            <a:ext cx="435418" cy="91440"/>
          </a:xfrm>
          <a:prstGeom prst="rect">
            <a:avLst/>
          </a:prstGeom>
          <a:solidFill>
            <a:srgbClr val="13A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4591" y="0"/>
            <a:ext cx="435418" cy="91440"/>
          </a:xfrm>
          <a:prstGeom prst="rect">
            <a:avLst/>
          </a:prstGeom>
          <a:solidFill>
            <a:srgbClr val="10A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0008" y="0"/>
            <a:ext cx="435418" cy="91440"/>
          </a:xfrm>
          <a:prstGeom prst="rect">
            <a:avLst/>
          </a:prstGeom>
          <a:solidFill>
            <a:srgbClr val="0EA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5425" y="0"/>
            <a:ext cx="435418" cy="91440"/>
          </a:xfrm>
          <a:prstGeom prst="rect">
            <a:avLst/>
          </a:prstGeom>
          <a:solidFill>
            <a:srgbClr val="0BA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842" y="0"/>
            <a:ext cx="435418" cy="91440"/>
          </a:xfrm>
          <a:prstGeom prst="rect">
            <a:avLst/>
          </a:prstGeom>
          <a:solidFill>
            <a:srgbClr val="08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56259" y="0"/>
            <a:ext cx="43541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74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9184"/>
            <a:ext cx="100584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Segoe UI"/>
              </a:rPr>
              <a:t>ĐIỂM KHÁC BIỆT CỐT LÕI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"/>
            <a:ext cx="1033272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"/>
              </a:rPr>
              <a:t>Chứng chỉ không thể giả mạo — vì máy chủ ký từng bản ghi</a:t>
            </a:r>
          </a:p>
        </p:txBody>
      </p:sp>
      <p:sp>
        <p:nvSpPr>
          <p:cNvPr id="34" name="Oval 33"/>
          <p:cNvSpPr/>
          <p:nvPr/>
        </p:nvSpPr>
        <p:spPr>
          <a:xfrm>
            <a:off x="621792" y="1572768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1572768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1481328"/>
            <a:ext cx="448056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Hash tại máy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1819656"/>
            <a:ext cx="4480560" cy="7772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Kết thúc phiên, dữ liệu điểm được băm SHA-256 — "dấu vân tay" toàn vẹn.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" y="2048256"/>
            <a:ext cx="28000" cy="5486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1792" y="2743200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2743200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2651760"/>
            <a:ext cx="448056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Máy chủ ký HMAC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2990088"/>
            <a:ext cx="4480560" cy="7772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Bản ghi (điểm, hạng, hash) được ký HMAC-SHA-256 v2 bằng khoá bí mật server — chống ghi đè (409).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" y="3218688"/>
            <a:ext cx="28000" cy="5486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1792" y="3913632"/>
            <a:ext cx="402336" cy="40233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3913632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3822192"/>
            <a:ext cx="448056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PDF + QR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160520"/>
            <a:ext cx="4480560" cy="7772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Chứng chỉ nhúng QR trỏ tới trang xác thực công khai /verify/:id.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" y="4389120"/>
            <a:ext cx="28000" cy="5486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21792" y="5084064"/>
            <a:ext cx="402336" cy="402336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5084064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20" y="4992624"/>
            <a:ext cx="448056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Ai cũng kiểm chứng được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8720" y="5330952"/>
            <a:ext cx="4480560" cy="7772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Cha mẹ / giảng viên / nhà tuyển dụng quét QR → đối chiếu bản gốc do server lưu. Sửa 1 ký tự là hash mất hiệu lực.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760720"/>
            <a:ext cx="5257800" cy="502920"/>
          </a:xfrm>
          <a:prstGeom prst="roundRect">
            <a:avLst>
              <a:gd name="adj" fmla="val 2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8" y="5760720"/>
            <a:ext cx="493776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  <a:latin typeface="Segoe UI"/>
              </a:rPr>
              <a:t>Trung thực kỹ thuật: SHA-256 = toàn vẹn dữ liệu · chữ ký thật = HMAC phía máy chủ</a:t>
            </a:r>
          </a:p>
        </p:txBody>
      </p:sp>
      <p:pic>
        <p:nvPicPr>
          <p:cNvPr id="55" name="Picture 54" descr="certificate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481328"/>
            <a:ext cx="5623560" cy="387569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053328" y="5440680"/>
            <a:ext cx="562356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Chứng chỉ minh hoạ — QR thật, quét được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FocusProof — Chứng chỉ Tập trung Thông minh &amp; Xác thực   ·   Đội HT13 — VIBE CODING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2720" y="6510528"/>
            <a:ext cx="130759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5417" y="0"/>
            <a:ext cx="435418" cy="91440"/>
          </a:xfrm>
          <a:prstGeom prst="rect">
            <a:avLst/>
          </a:prstGeom>
          <a:solidFill>
            <a:srgbClr val="4C4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834" y="0"/>
            <a:ext cx="435418" cy="91440"/>
          </a:xfrm>
          <a:prstGeom prst="rect">
            <a:avLst/>
          </a:prstGeom>
          <a:solidFill>
            <a:srgbClr val="49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6251" y="0"/>
            <a:ext cx="435418" cy="91440"/>
          </a:xfrm>
          <a:prstGeom prst="rect">
            <a:avLst/>
          </a:prstGeom>
          <a:solidFill>
            <a:srgbClr val="465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1668" y="0"/>
            <a:ext cx="435418" cy="91440"/>
          </a:xfrm>
          <a:prstGeom prst="rect">
            <a:avLst/>
          </a:prstGeom>
          <a:solidFill>
            <a:srgbClr val="445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7085" y="0"/>
            <a:ext cx="435418" cy="91440"/>
          </a:xfrm>
          <a:prstGeom prst="rect">
            <a:avLst/>
          </a:prstGeom>
          <a:solidFill>
            <a:srgbClr val="415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502" y="0"/>
            <a:ext cx="435418" cy="91440"/>
          </a:xfrm>
          <a:prstGeom prst="rect">
            <a:avLst/>
          </a:prstGeom>
          <a:solidFill>
            <a:srgbClr val="3E5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19" y="0"/>
            <a:ext cx="435418" cy="91440"/>
          </a:xfrm>
          <a:prstGeom prst="rect">
            <a:avLst/>
          </a:prstGeom>
          <a:solidFill>
            <a:srgbClr val="3C6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336" y="0"/>
            <a:ext cx="435418" cy="91440"/>
          </a:xfrm>
          <a:prstGeom prst="rect">
            <a:avLst/>
          </a:prstGeom>
          <a:solidFill>
            <a:srgbClr val="396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8753" y="0"/>
            <a:ext cx="435418" cy="91440"/>
          </a:xfrm>
          <a:prstGeom prst="rect">
            <a:avLst/>
          </a:prstGeom>
          <a:solidFill>
            <a:srgbClr val="366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4170" y="0"/>
            <a:ext cx="435418" cy="91440"/>
          </a:xfrm>
          <a:prstGeom prst="rect">
            <a:avLst/>
          </a:prstGeom>
          <a:solidFill>
            <a:srgbClr val="33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89587" y="0"/>
            <a:ext cx="435418" cy="91440"/>
          </a:xfrm>
          <a:prstGeom prst="rect">
            <a:avLst/>
          </a:prstGeom>
          <a:solidFill>
            <a:srgbClr val="317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004" y="0"/>
            <a:ext cx="435418" cy="91440"/>
          </a:xfrm>
          <a:prstGeom prst="rect">
            <a:avLst/>
          </a:prstGeom>
          <a:solidFill>
            <a:srgbClr val="2E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421" y="0"/>
            <a:ext cx="435418" cy="91440"/>
          </a:xfrm>
          <a:prstGeom prst="rect">
            <a:avLst/>
          </a:prstGeom>
          <a:solidFill>
            <a:srgbClr val="2B7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38" y="0"/>
            <a:ext cx="435418" cy="91440"/>
          </a:xfrm>
          <a:prstGeom prst="rect">
            <a:avLst/>
          </a:prstGeom>
          <a:solidFill>
            <a:srgbClr val="298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1255" y="0"/>
            <a:ext cx="435418" cy="91440"/>
          </a:xfrm>
          <a:prstGeom prst="rect">
            <a:avLst/>
          </a:prstGeom>
          <a:solidFill>
            <a:srgbClr val="268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672" y="0"/>
            <a:ext cx="435418" cy="91440"/>
          </a:xfrm>
          <a:prstGeom prst="rect">
            <a:avLst/>
          </a:prstGeom>
          <a:solidFill>
            <a:srgbClr val="238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2089" y="0"/>
            <a:ext cx="435418" cy="91440"/>
          </a:xfrm>
          <a:prstGeom prst="rect">
            <a:avLst/>
          </a:prstGeom>
          <a:solidFill>
            <a:srgbClr val="218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7506" y="0"/>
            <a:ext cx="435418" cy="91440"/>
          </a:xfrm>
          <a:prstGeom prst="rect">
            <a:avLst/>
          </a:prstGeom>
          <a:solidFill>
            <a:srgbClr val="1E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2923" y="0"/>
            <a:ext cx="435418" cy="91440"/>
          </a:xfrm>
          <a:prstGeom prst="rect">
            <a:avLst/>
          </a:prstGeom>
          <a:solidFill>
            <a:srgbClr val="1B9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40" y="0"/>
            <a:ext cx="435418" cy="91440"/>
          </a:xfrm>
          <a:prstGeom prst="rect">
            <a:avLst/>
          </a:prstGeom>
          <a:solidFill>
            <a:srgbClr val="18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57" y="0"/>
            <a:ext cx="435418" cy="91440"/>
          </a:xfrm>
          <a:prstGeom prst="rect">
            <a:avLst/>
          </a:prstGeom>
          <a:solidFill>
            <a:srgbClr val="169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9174" y="0"/>
            <a:ext cx="435418" cy="91440"/>
          </a:xfrm>
          <a:prstGeom prst="rect">
            <a:avLst/>
          </a:prstGeom>
          <a:solidFill>
            <a:srgbClr val="13A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4591" y="0"/>
            <a:ext cx="435418" cy="91440"/>
          </a:xfrm>
          <a:prstGeom prst="rect">
            <a:avLst/>
          </a:prstGeom>
          <a:solidFill>
            <a:srgbClr val="10A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0008" y="0"/>
            <a:ext cx="435418" cy="91440"/>
          </a:xfrm>
          <a:prstGeom prst="rect">
            <a:avLst/>
          </a:prstGeom>
          <a:solidFill>
            <a:srgbClr val="0EA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5425" y="0"/>
            <a:ext cx="435418" cy="91440"/>
          </a:xfrm>
          <a:prstGeom prst="rect">
            <a:avLst/>
          </a:prstGeom>
          <a:solidFill>
            <a:srgbClr val="0BA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842" y="0"/>
            <a:ext cx="435418" cy="91440"/>
          </a:xfrm>
          <a:prstGeom prst="rect">
            <a:avLst/>
          </a:prstGeom>
          <a:solidFill>
            <a:srgbClr val="08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56259" y="0"/>
            <a:ext cx="43541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74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9184"/>
            <a:ext cx="100584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Segoe UI"/>
              </a:rPr>
              <a:t>BẢO MẬT &amp; QUYỀN RIÊNG TƯ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"/>
            <a:ext cx="1033272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"/>
              </a:rPr>
              <a:t>Privacy-first không phải khẩu hiệu — là kiến trúc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1463040"/>
            <a:ext cx="5120640" cy="47548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1691640"/>
            <a:ext cx="45720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  <a:latin typeface="Segoe UI"/>
              </a:rPr>
              <a:t>5 ĐIỀU CHÚNG TÔI KHÔNG LÀM</a:t>
            </a:r>
          </a:p>
        </p:txBody>
      </p:sp>
      <p:sp>
        <p:nvSpPr>
          <p:cNvPr id="36" name="Oval 35"/>
          <p:cNvSpPr/>
          <p:nvPr/>
        </p:nvSpPr>
        <p:spPr>
          <a:xfrm>
            <a:off x="868680" y="224028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2199132"/>
            <a:ext cx="2743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2167128"/>
            <a:ext cx="4206240" cy="7772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KHÔNG ghi hình — không một frame ảnh nào rời thiết bị</a:t>
            </a:r>
          </a:p>
        </p:txBody>
      </p:sp>
      <p:sp>
        <p:nvSpPr>
          <p:cNvPr id="39" name="Oval 38"/>
          <p:cNvSpPr/>
          <p:nvPr/>
        </p:nvSpPr>
        <p:spPr>
          <a:xfrm>
            <a:off x="868680" y="3026664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2985516"/>
            <a:ext cx="2743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2953512"/>
            <a:ext cx="4206240" cy="7772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KHÔNG đọc cảm xúc / trạng thái tâm lý (tuân thủ tinh thần EU AI Act)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" y="381304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771900"/>
            <a:ext cx="2743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8448" y="3739896"/>
            <a:ext cx="4206240" cy="7772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KHÔNG thu nội dung gõ phím mặc định; không bao giờ đọc ô mật khẩu / OTP / thẻ</a:t>
            </a:r>
          </a:p>
        </p:txBody>
      </p:sp>
      <p:sp>
        <p:nvSpPr>
          <p:cNvPr id="45" name="Oval 44"/>
          <p:cNvSpPr/>
          <p:nvPr/>
        </p:nvSpPr>
        <p:spPr>
          <a:xfrm>
            <a:off x="868680" y="4599432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4558284"/>
            <a:ext cx="2743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8448" y="4526280"/>
            <a:ext cx="4206240" cy="7772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KHÔNG nhúng API key vào client — key chỉ nằm ở server (CI chặn secret lộ)</a:t>
            </a:r>
          </a:p>
        </p:txBody>
      </p:sp>
      <p:sp>
        <p:nvSpPr>
          <p:cNvPr id="48" name="Oval 47"/>
          <p:cNvSpPr/>
          <p:nvPr/>
        </p:nvSpPr>
        <p:spPr>
          <a:xfrm>
            <a:off x="868680" y="5385816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5344668"/>
            <a:ext cx="27432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98448" y="5312664"/>
            <a:ext cx="4206240" cy="7772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Segoe UI"/>
              </a:rPr>
              <a:t>KHÔNG theo dõi âm thầm — người học tự bấm bắt đầu, thấy rõ widget suốt phiên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97880" y="1463040"/>
            <a:ext cx="5742432" cy="14813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97880" y="1463040"/>
            <a:ext cx="5742432" cy="128016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0760" y="1719072"/>
            <a:ext cx="5376672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Consent &amp; minh bạch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60" y="2212848"/>
            <a:ext cx="5376672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Màn hình đồng ý trước phiên đầu (chuẩn Chrome Web Store): liệt kê đúng dữ liệu thu thập, camera &amp; nội dung gõ là 2 opt-in riêng.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97880" y="3099816"/>
            <a:ext cx="5742432" cy="14813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97880" y="3099816"/>
            <a:ext cx="5742432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3355848"/>
            <a:ext cx="5376672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AI chạy tại thiết bị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80760" y="3849624"/>
            <a:ext cx="5376672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BlazeFace WASM nhận diện có/không khuôn mặt ngay trên trình duyệt. Chỉ điểm tổng hợp được lưu — không hình ảnh.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897880" y="4736592"/>
            <a:ext cx="5742432" cy="1481328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97880" y="4736592"/>
            <a:ext cx="5742432" cy="12801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0760" y="4992624"/>
            <a:ext cx="5376672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Phòng thủ nhiều lớp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0760" y="5486400"/>
            <a:ext cx="5376672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CSP + DOMPurify · domain matching theo hostname (chống fake-notion.so.evil.com) · token API · giải trình 7 quyền trong tài liệu nộp kèm.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FocusProof — Chứng chỉ Tập trung Thông minh &amp; Xác thực   ·   Đội HT13 — VIBE CODING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32720" y="6510528"/>
            <a:ext cx="130759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5417" y="0"/>
            <a:ext cx="435418" cy="91440"/>
          </a:xfrm>
          <a:prstGeom prst="rect">
            <a:avLst/>
          </a:prstGeom>
          <a:solidFill>
            <a:srgbClr val="4C4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834" y="0"/>
            <a:ext cx="435418" cy="91440"/>
          </a:xfrm>
          <a:prstGeom prst="rect">
            <a:avLst/>
          </a:prstGeom>
          <a:solidFill>
            <a:srgbClr val="49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6251" y="0"/>
            <a:ext cx="435418" cy="91440"/>
          </a:xfrm>
          <a:prstGeom prst="rect">
            <a:avLst/>
          </a:prstGeom>
          <a:solidFill>
            <a:srgbClr val="465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1668" y="0"/>
            <a:ext cx="435418" cy="91440"/>
          </a:xfrm>
          <a:prstGeom prst="rect">
            <a:avLst/>
          </a:prstGeom>
          <a:solidFill>
            <a:srgbClr val="445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7085" y="0"/>
            <a:ext cx="435418" cy="91440"/>
          </a:xfrm>
          <a:prstGeom prst="rect">
            <a:avLst/>
          </a:prstGeom>
          <a:solidFill>
            <a:srgbClr val="415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502" y="0"/>
            <a:ext cx="435418" cy="91440"/>
          </a:xfrm>
          <a:prstGeom prst="rect">
            <a:avLst/>
          </a:prstGeom>
          <a:solidFill>
            <a:srgbClr val="3E5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19" y="0"/>
            <a:ext cx="435418" cy="91440"/>
          </a:xfrm>
          <a:prstGeom prst="rect">
            <a:avLst/>
          </a:prstGeom>
          <a:solidFill>
            <a:srgbClr val="3C6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336" y="0"/>
            <a:ext cx="435418" cy="91440"/>
          </a:xfrm>
          <a:prstGeom prst="rect">
            <a:avLst/>
          </a:prstGeom>
          <a:solidFill>
            <a:srgbClr val="396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8753" y="0"/>
            <a:ext cx="435418" cy="91440"/>
          </a:xfrm>
          <a:prstGeom prst="rect">
            <a:avLst/>
          </a:prstGeom>
          <a:solidFill>
            <a:srgbClr val="366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4170" y="0"/>
            <a:ext cx="435418" cy="91440"/>
          </a:xfrm>
          <a:prstGeom prst="rect">
            <a:avLst/>
          </a:prstGeom>
          <a:solidFill>
            <a:srgbClr val="33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89587" y="0"/>
            <a:ext cx="435418" cy="91440"/>
          </a:xfrm>
          <a:prstGeom prst="rect">
            <a:avLst/>
          </a:prstGeom>
          <a:solidFill>
            <a:srgbClr val="317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004" y="0"/>
            <a:ext cx="435418" cy="91440"/>
          </a:xfrm>
          <a:prstGeom prst="rect">
            <a:avLst/>
          </a:prstGeom>
          <a:solidFill>
            <a:srgbClr val="2E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421" y="0"/>
            <a:ext cx="435418" cy="91440"/>
          </a:xfrm>
          <a:prstGeom prst="rect">
            <a:avLst/>
          </a:prstGeom>
          <a:solidFill>
            <a:srgbClr val="2B7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38" y="0"/>
            <a:ext cx="435418" cy="91440"/>
          </a:xfrm>
          <a:prstGeom prst="rect">
            <a:avLst/>
          </a:prstGeom>
          <a:solidFill>
            <a:srgbClr val="298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1255" y="0"/>
            <a:ext cx="435418" cy="91440"/>
          </a:xfrm>
          <a:prstGeom prst="rect">
            <a:avLst/>
          </a:prstGeom>
          <a:solidFill>
            <a:srgbClr val="268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672" y="0"/>
            <a:ext cx="435418" cy="91440"/>
          </a:xfrm>
          <a:prstGeom prst="rect">
            <a:avLst/>
          </a:prstGeom>
          <a:solidFill>
            <a:srgbClr val="238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2089" y="0"/>
            <a:ext cx="435418" cy="91440"/>
          </a:xfrm>
          <a:prstGeom prst="rect">
            <a:avLst/>
          </a:prstGeom>
          <a:solidFill>
            <a:srgbClr val="218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7506" y="0"/>
            <a:ext cx="435418" cy="91440"/>
          </a:xfrm>
          <a:prstGeom prst="rect">
            <a:avLst/>
          </a:prstGeom>
          <a:solidFill>
            <a:srgbClr val="1E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2923" y="0"/>
            <a:ext cx="435418" cy="91440"/>
          </a:xfrm>
          <a:prstGeom prst="rect">
            <a:avLst/>
          </a:prstGeom>
          <a:solidFill>
            <a:srgbClr val="1B9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40" y="0"/>
            <a:ext cx="435418" cy="91440"/>
          </a:xfrm>
          <a:prstGeom prst="rect">
            <a:avLst/>
          </a:prstGeom>
          <a:solidFill>
            <a:srgbClr val="18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57" y="0"/>
            <a:ext cx="435418" cy="91440"/>
          </a:xfrm>
          <a:prstGeom prst="rect">
            <a:avLst/>
          </a:prstGeom>
          <a:solidFill>
            <a:srgbClr val="169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9174" y="0"/>
            <a:ext cx="435418" cy="91440"/>
          </a:xfrm>
          <a:prstGeom prst="rect">
            <a:avLst/>
          </a:prstGeom>
          <a:solidFill>
            <a:srgbClr val="13A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4591" y="0"/>
            <a:ext cx="435418" cy="91440"/>
          </a:xfrm>
          <a:prstGeom prst="rect">
            <a:avLst/>
          </a:prstGeom>
          <a:solidFill>
            <a:srgbClr val="10A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0008" y="0"/>
            <a:ext cx="435418" cy="91440"/>
          </a:xfrm>
          <a:prstGeom prst="rect">
            <a:avLst/>
          </a:prstGeom>
          <a:solidFill>
            <a:srgbClr val="0EA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5425" y="0"/>
            <a:ext cx="435418" cy="91440"/>
          </a:xfrm>
          <a:prstGeom prst="rect">
            <a:avLst/>
          </a:prstGeom>
          <a:solidFill>
            <a:srgbClr val="0BA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842" y="0"/>
            <a:ext cx="435418" cy="91440"/>
          </a:xfrm>
          <a:prstGeom prst="rect">
            <a:avLst/>
          </a:prstGeom>
          <a:solidFill>
            <a:srgbClr val="08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56259" y="0"/>
            <a:ext cx="43541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74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9184"/>
            <a:ext cx="100584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Segoe UI"/>
              </a:rPr>
              <a:t>CHẤT LƯỢNG KỸ THUẬT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"/>
            <a:ext cx="1033272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"/>
              </a:rPr>
              <a:t>Mọi con số đều kiểm chứng lại được từ gói nộp</a:t>
            </a:r>
          </a:p>
        </p:txBody>
      </p:sp>
      <p:pic>
        <p:nvPicPr>
          <p:cNvPr id="34" name="Picture 33" descr="qualit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11064240" cy="4425696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715000"/>
            <a:ext cx="10607040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Segoe UI"/>
              </a:rPr>
              <a:t>10/10 góp ý của giám khảo vòng loại đã xử lý — mỗi lỗi sửa xong đều kèm test hồi quy riêng (+95 test mới)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FocusProof — Chứng chỉ Tập trung Thông minh &amp; Xác thực   ·   Đội HT13 — VIBE CODING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6510528"/>
            <a:ext cx="130759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5417" y="0"/>
            <a:ext cx="435418" cy="91440"/>
          </a:xfrm>
          <a:prstGeom prst="rect">
            <a:avLst/>
          </a:prstGeom>
          <a:solidFill>
            <a:srgbClr val="4C4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834" y="0"/>
            <a:ext cx="435418" cy="91440"/>
          </a:xfrm>
          <a:prstGeom prst="rect">
            <a:avLst/>
          </a:prstGeom>
          <a:solidFill>
            <a:srgbClr val="49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6251" y="0"/>
            <a:ext cx="435418" cy="91440"/>
          </a:xfrm>
          <a:prstGeom prst="rect">
            <a:avLst/>
          </a:prstGeom>
          <a:solidFill>
            <a:srgbClr val="465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1668" y="0"/>
            <a:ext cx="435418" cy="91440"/>
          </a:xfrm>
          <a:prstGeom prst="rect">
            <a:avLst/>
          </a:prstGeom>
          <a:solidFill>
            <a:srgbClr val="445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7085" y="0"/>
            <a:ext cx="435418" cy="91440"/>
          </a:xfrm>
          <a:prstGeom prst="rect">
            <a:avLst/>
          </a:prstGeom>
          <a:solidFill>
            <a:srgbClr val="415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502" y="0"/>
            <a:ext cx="435418" cy="91440"/>
          </a:xfrm>
          <a:prstGeom prst="rect">
            <a:avLst/>
          </a:prstGeom>
          <a:solidFill>
            <a:srgbClr val="3E5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19" y="0"/>
            <a:ext cx="435418" cy="91440"/>
          </a:xfrm>
          <a:prstGeom prst="rect">
            <a:avLst/>
          </a:prstGeom>
          <a:solidFill>
            <a:srgbClr val="3C6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336" y="0"/>
            <a:ext cx="435418" cy="91440"/>
          </a:xfrm>
          <a:prstGeom prst="rect">
            <a:avLst/>
          </a:prstGeom>
          <a:solidFill>
            <a:srgbClr val="396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8753" y="0"/>
            <a:ext cx="435418" cy="91440"/>
          </a:xfrm>
          <a:prstGeom prst="rect">
            <a:avLst/>
          </a:prstGeom>
          <a:solidFill>
            <a:srgbClr val="366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4170" y="0"/>
            <a:ext cx="435418" cy="91440"/>
          </a:xfrm>
          <a:prstGeom prst="rect">
            <a:avLst/>
          </a:prstGeom>
          <a:solidFill>
            <a:srgbClr val="33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89587" y="0"/>
            <a:ext cx="435418" cy="91440"/>
          </a:xfrm>
          <a:prstGeom prst="rect">
            <a:avLst/>
          </a:prstGeom>
          <a:solidFill>
            <a:srgbClr val="317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004" y="0"/>
            <a:ext cx="435418" cy="91440"/>
          </a:xfrm>
          <a:prstGeom prst="rect">
            <a:avLst/>
          </a:prstGeom>
          <a:solidFill>
            <a:srgbClr val="2E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421" y="0"/>
            <a:ext cx="435418" cy="91440"/>
          </a:xfrm>
          <a:prstGeom prst="rect">
            <a:avLst/>
          </a:prstGeom>
          <a:solidFill>
            <a:srgbClr val="2B7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38" y="0"/>
            <a:ext cx="435418" cy="91440"/>
          </a:xfrm>
          <a:prstGeom prst="rect">
            <a:avLst/>
          </a:prstGeom>
          <a:solidFill>
            <a:srgbClr val="298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1255" y="0"/>
            <a:ext cx="435418" cy="91440"/>
          </a:xfrm>
          <a:prstGeom prst="rect">
            <a:avLst/>
          </a:prstGeom>
          <a:solidFill>
            <a:srgbClr val="268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672" y="0"/>
            <a:ext cx="435418" cy="91440"/>
          </a:xfrm>
          <a:prstGeom prst="rect">
            <a:avLst/>
          </a:prstGeom>
          <a:solidFill>
            <a:srgbClr val="238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2089" y="0"/>
            <a:ext cx="435418" cy="91440"/>
          </a:xfrm>
          <a:prstGeom prst="rect">
            <a:avLst/>
          </a:prstGeom>
          <a:solidFill>
            <a:srgbClr val="218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7506" y="0"/>
            <a:ext cx="435418" cy="91440"/>
          </a:xfrm>
          <a:prstGeom prst="rect">
            <a:avLst/>
          </a:prstGeom>
          <a:solidFill>
            <a:srgbClr val="1E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2923" y="0"/>
            <a:ext cx="435418" cy="91440"/>
          </a:xfrm>
          <a:prstGeom prst="rect">
            <a:avLst/>
          </a:prstGeom>
          <a:solidFill>
            <a:srgbClr val="1B9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40" y="0"/>
            <a:ext cx="435418" cy="91440"/>
          </a:xfrm>
          <a:prstGeom prst="rect">
            <a:avLst/>
          </a:prstGeom>
          <a:solidFill>
            <a:srgbClr val="18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57" y="0"/>
            <a:ext cx="435418" cy="91440"/>
          </a:xfrm>
          <a:prstGeom prst="rect">
            <a:avLst/>
          </a:prstGeom>
          <a:solidFill>
            <a:srgbClr val="169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9174" y="0"/>
            <a:ext cx="435418" cy="91440"/>
          </a:xfrm>
          <a:prstGeom prst="rect">
            <a:avLst/>
          </a:prstGeom>
          <a:solidFill>
            <a:srgbClr val="13A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4591" y="0"/>
            <a:ext cx="435418" cy="91440"/>
          </a:xfrm>
          <a:prstGeom prst="rect">
            <a:avLst/>
          </a:prstGeom>
          <a:solidFill>
            <a:srgbClr val="10A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0008" y="0"/>
            <a:ext cx="435418" cy="91440"/>
          </a:xfrm>
          <a:prstGeom prst="rect">
            <a:avLst/>
          </a:prstGeom>
          <a:solidFill>
            <a:srgbClr val="0EA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5425" y="0"/>
            <a:ext cx="435418" cy="91440"/>
          </a:xfrm>
          <a:prstGeom prst="rect">
            <a:avLst/>
          </a:prstGeom>
          <a:solidFill>
            <a:srgbClr val="0BA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842" y="0"/>
            <a:ext cx="435418" cy="91440"/>
          </a:xfrm>
          <a:prstGeom prst="rect">
            <a:avLst/>
          </a:prstGeom>
          <a:solidFill>
            <a:srgbClr val="08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56259" y="0"/>
            <a:ext cx="43541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74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9184"/>
            <a:ext cx="100584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Segoe UI"/>
              </a:rPr>
              <a:t>QUY TRÌNH PHÁT TRIỂN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"/>
            <a:ext cx="1033272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"/>
              </a:rPr>
              <a:t>Vibe coding có kỷ luật — AI viết, con người kiểm chứng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1481328"/>
            <a:ext cx="5852160" cy="85953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1481328"/>
            <a:ext cx="82296" cy="85953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9808" y="1709928"/>
            <a:ext cx="402336" cy="402336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1709928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1554480"/>
            <a:ext cx="4937760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Segoe UI"/>
              </a:rPr>
              <a:t>Spec &amp; kiến trúc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1883664"/>
            <a:ext cx="4983480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Con người quyết định bài toán, ràng buộc, luồng dữ liệu, tiêu chí nghiệm thu.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2450592"/>
            <a:ext cx="5852160" cy="85953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2450592"/>
            <a:ext cx="82296" cy="8595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9808" y="267919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2679192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2523744"/>
            <a:ext cx="4937760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Segoe UI"/>
              </a:rPr>
              <a:t>AI pair-coding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2852928"/>
            <a:ext cx="4983480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Claude Code sinh mã theo spec — tốc độ của cả một đội dev.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3419856"/>
            <a:ext cx="5852160" cy="85953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3419856"/>
            <a:ext cx="82296" cy="85953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49808" y="3648456"/>
            <a:ext cx="402336" cy="40233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3648456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5880" y="3493008"/>
            <a:ext cx="4937760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Segoe UI"/>
              </a:rPr>
              <a:t>Test hồi quy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25880" y="3822192"/>
            <a:ext cx="4983480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Vitest — 279 test; mỗi bug từng gặp có test riêng chống tái diễn.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389120"/>
            <a:ext cx="5852160" cy="85953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" y="4389120"/>
            <a:ext cx="82296" cy="8595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9808" y="4617720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" y="4617720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5880" y="4462272"/>
            <a:ext cx="4937760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Segoe UI"/>
              </a:rPr>
              <a:t>Audit đa tác tử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5880" y="4791456"/>
            <a:ext cx="4983480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30 AI agent độc lập đọc toàn bộ mã, chấm theo rubric, săn lỗi bảo mật/logic.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358384"/>
            <a:ext cx="5852160" cy="859536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" y="5358384"/>
            <a:ext cx="82296" cy="859536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49808" y="5586984"/>
            <a:ext cx="402336" cy="402336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9808" y="5586984"/>
            <a:ext cx="402336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25880" y="5431536"/>
            <a:ext cx="4937760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Segoe UI"/>
              </a:rPr>
              <a:t>Cổng CI/CD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25880" y="5760720"/>
            <a:ext cx="4983480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GitHub Actions + husky: lint, type-check, test, build, chặn secret — trước mỗi commit.</a:t>
            </a:r>
          </a:p>
        </p:txBody>
      </p:sp>
      <p:pic>
        <p:nvPicPr>
          <p:cNvPr id="64" name="Picture 63" descr="radar_rub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389888"/>
            <a:ext cx="5008517" cy="4892040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FocusProof — Chứng chỉ Tập trung Thông minh &amp; Xác thực   ·   Đội HT13 — VIBE CODING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32720" y="6510528"/>
            <a:ext cx="130759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5417" y="0"/>
            <a:ext cx="435418" cy="91440"/>
          </a:xfrm>
          <a:prstGeom prst="rect">
            <a:avLst/>
          </a:prstGeom>
          <a:solidFill>
            <a:srgbClr val="4C4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834" y="0"/>
            <a:ext cx="435418" cy="91440"/>
          </a:xfrm>
          <a:prstGeom prst="rect">
            <a:avLst/>
          </a:prstGeom>
          <a:solidFill>
            <a:srgbClr val="49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6251" y="0"/>
            <a:ext cx="435418" cy="91440"/>
          </a:xfrm>
          <a:prstGeom prst="rect">
            <a:avLst/>
          </a:prstGeom>
          <a:solidFill>
            <a:srgbClr val="465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1668" y="0"/>
            <a:ext cx="435418" cy="91440"/>
          </a:xfrm>
          <a:prstGeom prst="rect">
            <a:avLst/>
          </a:prstGeom>
          <a:solidFill>
            <a:srgbClr val="445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7085" y="0"/>
            <a:ext cx="435418" cy="91440"/>
          </a:xfrm>
          <a:prstGeom prst="rect">
            <a:avLst/>
          </a:prstGeom>
          <a:solidFill>
            <a:srgbClr val="415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502" y="0"/>
            <a:ext cx="435418" cy="91440"/>
          </a:xfrm>
          <a:prstGeom prst="rect">
            <a:avLst/>
          </a:prstGeom>
          <a:solidFill>
            <a:srgbClr val="3E5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19" y="0"/>
            <a:ext cx="435418" cy="91440"/>
          </a:xfrm>
          <a:prstGeom prst="rect">
            <a:avLst/>
          </a:prstGeom>
          <a:solidFill>
            <a:srgbClr val="3C6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336" y="0"/>
            <a:ext cx="435418" cy="91440"/>
          </a:xfrm>
          <a:prstGeom prst="rect">
            <a:avLst/>
          </a:prstGeom>
          <a:solidFill>
            <a:srgbClr val="396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8753" y="0"/>
            <a:ext cx="435418" cy="91440"/>
          </a:xfrm>
          <a:prstGeom prst="rect">
            <a:avLst/>
          </a:prstGeom>
          <a:solidFill>
            <a:srgbClr val="366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4170" y="0"/>
            <a:ext cx="435418" cy="91440"/>
          </a:xfrm>
          <a:prstGeom prst="rect">
            <a:avLst/>
          </a:prstGeom>
          <a:solidFill>
            <a:srgbClr val="33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89587" y="0"/>
            <a:ext cx="435418" cy="91440"/>
          </a:xfrm>
          <a:prstGeom prst="rect">
            <a:avLst/>
          </a:prstGeom>
          <a:solidFill>
            <a:srgbClr val="317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004" y="0"/>
            <a:ext cx="435418" cy="91440"/>
          </a:xfrm>
          <a:prstGeom prst="rect">
            <a:avLst/>
          </a:prstGeom>
          <a:solidFill>
            <a:srgbClr val="2E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421" y="0"/>
            <a:ext cx="435418" cy="91440"/>
          </a:xfrm>
          <a:prstGeom prst="rect">
            <a:avLst/>
          </a:prstGeom>
          <a:solidFill>
            <a:srgbClr val="2B7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38" y="0"/>
            <a:ext cx="435418" cy="91440"/>
          </a:xfrm>
          <a:prstGeom prst="rect">
            <a:avLst/>
          </a:prstGeom>
          <a:solidFill>
            <a:srgbClr val="298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1255" y="0"/>
            <a:ext cx="435418" cy="91440"/>
          </a:xfrm>
          <a:prstGeom prst="rect">
            <a:avLst/>
          </a:prstGeom>
          <a:solidFill>
            <a:srgbClr val="268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672" y="0"/>
            <a:ext cx="435418" cy="91440"/>
          </a:xfrm>
          <a:prstGeom prst="rect">
            <a:avLst/>
          </a:prstGeom>
          <a:solidFill>
            <a:srgbClr val="238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2089" y="0"/>
            <a:ext cx="435418" cy="91440"/>
          </a:xfrm>
          <a:prstGeom prst="rect">
            <a:avLst/>
          </a:prstGeom>
          <a:solidFill>
            <a:srgbClr val="218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7506" y="0"/>
            <a:ext cx="435418" cy="91440"/>
          </a:xfrm>
          <a:prstGeom prst="rect">
            <a:avLst/>
          </a:prstGeom>
          <a:solidFill>
            <a:srgbClr val="1E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2923" y="0"/>
            <a:ext cx="435418" cy="91440"/>
          </a:xfrm>
          <a:prstGeom prst="rect">
            <a:avLst/>
          </a:prstGeom>
          <a:solidFill>
            <a:srgbClr val="1B9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40" y="0"/>
            <a:ext cx="435418" cy="91440"/>
          </a:xfrm>
          <a:prstGeom prst="rect">
            <a:avLst/>
          </a:prstGeom>
          <a:solidFill>
            <a:srgbClr val="18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57" y="0"/>
            <a:ext cx="435418" cy="91440"/>
          </a:xfrm>
          <a:prstGeom prst="rect">
            <a:avLst/>
          </a:prstGeom>
          <a:solidFill>
            <a:srgbClr val="169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9174" y="0"/>
            <a:ext cx="435418" cy="91440"/>
          </a:xfrm>
          <a:prstGeom prst="rect">
            <a:avLst/>
          </a:prstGeom>
          <a:solidFill>
            <a:srgbClr val="13A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4591" y="0"/>
            <a:ext cx="435418" cy="91440"/>
          </a:xfrm>
          <a:prstGeom prst="rect">
            <a:avLst/>
          </a:prstGeom>
          <a:solidFill>
            <a:srgbClr val="10A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0008" y="0"/>
            <a:ext cx="435418" cy="91440"/>
          </a:xfrm>
          <a:prstGeom prst="rect">
            <a:avLst/>
          </a:prstGeom>
          <a:solidFill>
            <a:srgbClr val="0EA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5425" y="0"/>
            <a:ext cx="435418" cy="91440"/>
          </a:xfrm>
          <a:prstGeom prst="rect">
            <a:avLst/>
          </a:prstGeom>
          <a:solidFill>
            <a:srgbClr val="0BA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842" y="0"/>
            <a:ext cx="435418" cy="91440"/>
          </a:xfrm>
          <a:prstGeom prst="rect">
            <a:avLst/>
          </a:prstGeom>
          <a:solidFill>
            <a:srgbClr val="08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56259" y="0"/>
            <a:ext cx="43541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74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9184"/>
            <a:ext cx="100584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Segoe UI"/>
              </a:rPr>
              <a:t>VỊ THẾ CẠNH TRANH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"/>
            <a:ext cx="1033272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"/>
              </a:rPr>
              <a:t>Đứng ở giao điểm mà chưa sản phẩm nào chạm tới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1444752"/>
            <a:ext cx="3635600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1444752"/>
            <a:ext cx="363560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Tiêu chí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1444752"/>
            <a:ext cx="1761080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0" y="1444752"/>
            <a:ext cx="176108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Forest / Pomodoro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1444752"/>
            <a:ext cx="1761080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1444752"/>
            <a:ext cx="176108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YPT (5tr+ user)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444752"/>
            <a:ext cx="1761080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1444752"/>
            <a:ext cx="176108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Azota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55480" y="1444752"/>
            <a:ext cx="2062831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1444752"/>
            <a:ext cx="2062831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FOCUSPROOF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2011392"/>
            <a:ext cx="3635600" cy="7132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2011392"/>
            <a:ext cx="347472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Đo tập trung thật (hành vi)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2011392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2011392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9F1D1D"/>
                </a:solidFill>
                <a:latin typeface="Segoe UI"/>
              </a:rPr>
              <a:t>✕  chỉ đếm giờ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2011392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2011392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9F1D1D"/>
                </a:solidFill>
                <a:latin typeface="Segoe UI"/>
              </a:rPr>
              <a:t>✕  tự khai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0" y="2011392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2011392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9F1D1D"/>
                </a:solidFill>
                <a:latin typeface="Segoe UI"/>
              </a:rPr>
              <a:t>✕  chỉ lúc thi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55480" y="2011392"/>
            <a:ext cx="2062831" cy="713232"/>
          </a:xfrm>
          <a:prstGeom prst="rect">
            <a:avLst/>
          </a:prstGeom>
          <a:solidFill>
            <a:srgbClr val="E0E7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2011392"/>
            <a:ext cx="2062831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1" i="0">
                <a:solidFill>
                  <a:srgbClr val="047857"/>
                </a:solidFill>
                <a:latin typeface="Segoe UI"/>
              </a:rPr>
              <a:t>✓  3 tín hiệu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2742624"/>
            <a:ext cx="3635600" cy="7132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2742624"/>
            <a:ext cx="347472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Bằng chứng xác thực được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742624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0" y="2742624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9F1D1D"/>
                </a:solidFill>
                <a:latin typeface="Segoe UI"/>
              </a:rPr>
              <a:t>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9320" y="2742624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89320" y="2742624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9F1D1D"/>
                </a:solidFill>
                <a:latin typeface="Segoe UI"/>
              </a:rPr>
              <a:t>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2742624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2742624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△  biên bản thi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55480" y="2742624"/>
            <a:ext cx="2062831" cy="713232"/>
          </a:xfrm>
          <a:prstGeom prst="rect">
            <a:avLst/>
          </a:prstGeom>
          <a:solidFill>
            <a:srgbClr val="E0E7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55480" y="2742624"/>
            <a:ext cx="2062831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1" i="0">
                <a:solidFill>
                  <a:srgbClr val="047857"/>
                </a:solidFill>
                <a:latin typeface="Segoe UI"/>
              </a:rPr>
              <a:t>✓  QR + HMAC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3473856"/>
            <a:ext cx="3635600" cy="7132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473856"/>
            <a:ext cx="347472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AI insight tiếng Việt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06240" y="3473856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06240" y="3473856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9F1D1D"/>
                </a:solidFill>
                <a:latin typeface="Segoe UI"/>
              </a:rPr>
              <a:t>✕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89320" y="3473856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89320" y="3473856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9F1D1D"/>
                </a:solidFill>
                <a:latin typeface="Segoe UI"/>
              </a:rPr>
              <a:t>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72400" y="3473856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72400" y="3473856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9F1D1D"/>
                </a:solidFill>
                <a:latin typeface="Segoe UI"/>
              </a:rPr>
              <a:t>✕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55480" y="3473856"/>
            <a:ext cx="2062831" cy="713232"/>
          </a:xfrm>
          <a:prstGeom prst="rect">
            <a:avLst/>
          </a:prstGeom>
          <a:solidFill>
            <a:srgbClr val="E0E7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55480" y="3473856"/>
            <a:ext cx="2062831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1" i="0">
                <a:solidFill>
                  <a:srgbClr val="047857"/>
                </a:solidFill>
                <a:latin typeface="Segoe UI"/>
              </a:rPr>
              <a:t>✓  offline-safe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4205088"/>
            <a:ext cx="3635600" cy="7132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6656" y="4205088"/>
            <a:ext cx="347472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Riêng tư: AI on-device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06240" y="4205088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06240" y="4205088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—  không camera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89320" y="4205088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989320" y="4205088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—  không camera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72400" y="4205088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772400" y="4205088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9F1D1D"/>
                </a:solidFill>
                <a:latin typeface="Segoe UI"/>
              </a:rPr>
              <a:t>✕  giám sát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555480" y="4205088"/>
            <a:ext cx="2062831" cy="713232"/>
          </a:xfrm>
          <a:prstGeom prst="rect">
            <a:avLst/>
          </a:prstGeom>
          <a:solidFill>
            <a:srgbClr val="E0E7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55480" y="4205088"/>
            <a:ext cx="2062831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1" i="0">
                <a:solidFill>
                  <a:srgbClr val="047857"/>
                </a:solidFill>
                <a:latin typeface="Segoe UI"/>
              </a:rPr>
              <a:t>✓  0 ảnh rời máy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4936320"/>
            <a:ext cx="3635600" cy="7132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76656" y="4936320"/>
            <a:ext cx="347472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Người học sở hữu dữ liệu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06240" y="4936320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06240" y="4936320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9F1D1D"/>
                </a:solidFill>
                <a:latin typeface="Segoe UI"/>
              </a:rPr>
              <a:t>✕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89320" y="4936320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89320" y="4936320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1" i="0">
                <a:solidFill>
                  <a:srgbClr val="047857"/>
                </a:solidFill>
                <a:latin typeface="Segoe UI"/>
              </a:rPr>
              <a:t>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772400" y="4936320"/>
            <a:ext cx="17610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772400" y="4936320"/>
            <a:ext cx="1761080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0" i="0">
                <a:solidFill>
                  <a:srgbClr val="9F1D1D"/>
                </a:solidFill>
                <a:latin typeface="Segoe UI"/>
              </a:rPr>
              <a:t>✕  trường quản lý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55480" y="4936320"/>
            <a:ext cx="2062831" cy="713232"/>
          </a:xfrm>
          <a:prstGeom prst="rect">
            <a:avLst/>
          </a:prstGeom>
          <a:solidFill>
            <a:srgbClr val="E0E7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555480" y="4936320"/>
            <a:ext cx="2062831" cy="7132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050" b="1" i="0">
                <a:solidFill>
                  <a:srgbClr val="047857"/>
                </a:solidFill>
                <a:latin typeface="Segoe UI"/>
              </a:rPr>
              <a:t>✓  opt-in toàn phần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48640" y="5687568"/>
            <a:ext cx="11091672" cy="603504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8680" y="5687568"/>
            <a:ext cx="10607040" cy="6035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400" b="1" i="1">
                <a:solidFill>
                  <a:srgbClr val="7DD3FC"/>
                </a:solidFill>
                <a:latin typeface="Segoe UI"/>
              </a:rPr>
              <a:t>“Azota chứng minh bạn không gian lận lúc thi — FocusProof chứng minh bạn có nỗ lực lúc học.”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FocusProof — Chứng chỉ Tập trung Thông minh &amp; Xác thực   ·   Đội HT13 — VIBE CODING 2026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32720" y="6510528"/>
            <a:ext cx="130759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5417" y="0"/>
            <a:ext cx="435418" cy="91440"/>
          </a:xfrm>
          <a:prstGeom prst="rect">
            <a:avLst/>
          </a:prstGeom>
          <a:solidFill>
            <a:srgbClr val="4C4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834" y="0"/>
            <a:ext cx="435418" cy="91440"/>
          </a:xfrm>
          <a:prstGeom prst="rect">
            <a:avLst/>
          </a:prstGeom>
          <a:solidFill>
            <a:srgbClr val="49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6251" y="0"/>
            <a:ext cx="435418" cy="91440"/>
          </a:xfrm>
          <a:prstGeom prst="rect">
            <a:avLst/>
          </a:prstGeom>
          <a:solidFill>
            <a:srgbClr val="465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1668" y="0"/>
            <a:ext cx="435418" cy="91440"/>
          </a:xfrm>
          <a:prstGeom prst="rect">
            <a:avLst/>
          </a:prstGeom>
          <a:solidFill>
            <a:srgbClr val="445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7085" y="0"/>
            <a:ext cx="435418" cy="91440"/>
          </a:xfrm>
          <a:prstGeom prst="rect">
            <a:avLst/>
          </a:prstGeom>
          <a:solidFill>
            <a:srgbClr val="415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502" y="0"/>
            <a:ext cx="435418" cy="91440"/>
          </a:xfrm>
          <a:prstGeom prst="rect">
            <a:avLst/>
          </a:prstGeom>
          <a:solidFill>
            <a:srgbClr val="3E5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19" y="0"/>
            <a:ext cx="435418" cy="91440"/>
          </a:xfrm>
          <a:prstGeom prst="rect">
            <a:avLst/>
          </a:prstGeom>
          <a:solidFill>
            <a:srgbClr val="3C6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336" y="0"/>
            <a:ext cx="435418" cy="91440"/>
          </a:xfrm>
          <a:prstGeom prst="rect">
            <a:avLst/>
          </a:prstGeom>
          <a:solidFill>
            <a:srgbClr val="396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8753" y="0"/>
            <a:ext cx="435418" cy="91440"/>
          </a:xfrm>
          <a:prstGeom prst="rect">
            <a:avLst/>
          </a:prstGeom>
          <a:solidFill>
            <a:srgbClr val="366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4170" y="0"/>
            <a:ext cx="435418" cy="91440"/>
          </a:xfrm>
          <a:prstGeom prst="rect">
            <a:avLst/>
          </a:prstGeom>
          <a:solidFill>
            <a:srgbClr val="33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89587" y="0"/>
            <a:ext cx="435418" cy="91440"/>
          </a:xfrm>
          <a:prstGeom prst="rect">
            <a:avLst/>
          </a:prstGeom>
          <a:solidFill>
            <a:srgbClr val="317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004" y="0"/>
            <a:ext cx="435418" cy="91440"/>
          </a:xfrm>
          <a:prstGeom prst="rect">
            <a:avLst/>
          </a:prstGeom>
          <a:solidFill>
            <a:srgbClr val="2E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421" y="0"/>
            <a:ext cx="435418" cy="91440"/>
          </a:xfrm>
          <a:prstGeom prst="rect">
            <a:avLst/>
          </a:prstGeom>
          <a:solidFill>
            <a:srgbClr val="2B7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38" y="0"/>
            <a:ext cx="435418" cy="91440"/>
          </a:xfrm>
          <a:prstGeom prst="rect">
            <a:avLst/>
          </a:prstGeom>
          <a:solidFill>
            <a:srgbClr val="298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1255" y="0"/>
            <a:ext cx="435418" cy="91440"/>
          </a:xfrm>
          <a:prstGeom prst="rect">
            <a:avLst/>
          </a:prstGeom>
          <a:solidFill>
            <a:srgbClr val="268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672" y="0"/>
            <a:ext cx="435418" cy="91440"/>
          </a:xfrm>
          <a:prstGeom prst="rect">
            <a:avLst/>
          </a:prstGeom>
          <a:solidFill>
            <a:srgbClr val="238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2089" y="0"/>
            <a:ext cx="435418" cy="91440"/>
          </a:xfrm>
          <a:prstGeom prst="rect">
            <a:avLst/>
          </a:prstGeom>
          <a:solidFill>
            <a:srgbClr val="218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7506" y="0"/>
            <a:ext cx="435418" cy="91440"/>
          </a:xfrm>
          <a:prstGeom prst="rect">
            <a:avLst/>
          </a:prstGeom>
          <a:solidFill>
            <a:srgbClr val="1E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2923" y="0"/>
            <a:ext cx="435418" cy="91440"/>
          </a:xfrm>
          <a:prstGeom prst="rect">
            <a:avLst/>
          </a:prstGeom>
          <a:solidFill>
            <a:srgbClr val="1B9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40" y="0"/>
            <a:ext cx="435418" cy="91440"/>
          </a:xfrm>
          <a:prstGeom prst="rect">
            <a:avLst/>
          </a:prstGeom>
          <a:solidFill>
            <a:srgbClr val="18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57" y="0"/>
            <a:ext cx="435418" cy="91440"/>
          </a:xfrm>
          <a:prstGeom prst="rect">
            <a:avLst/>
          </a:prstGeom>
          <a:solidFill>
            <a:srgbClr val="169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9174" y="0"/>
            <a:ext cx="435418" cy="91440"/>
          </a:xfrm>
          <a:prstGeom prst="rect">
            <a:avLst/>
          </a:prstGeom>
          <a:solidFill>
            <a:srgbClr val="13A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4591" y="0"/>
            <a:ext cx="435418" cy="91440"/>
          </a:xfrm>
          <a:prstGeom prst="rect">
            <a:avLst/>
          </a:prstGeom>
          <a:solidFill>
            <a:srgbClr val="10A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0008" y="0"/>
            <a:ext cx="435418" cy="91440"/>
          </a:xfrm>
          <a:prstGeom prst="rect">
            <a:avLst/>
          </a:prstGeom>
          <a:solidFill>
            <a:srgbClr val="0EA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5425" y="0"/>
            <a:ext cx="435418" cy="91440"/>
          </a:xfrm>
          <a:prstGeom prst="rect">
            <a:avLst/>
          </a:prstGeom>
          <a:solidFill>
            <a:srgbClr val="0BA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842" y="0"/>
            <a:ext cx="435418" cy="91440"/>
          </a:xfrm>
          <a:prstGeom prst="rect">
            <a:avLst/>
          </a:prstGeom>
          <a:solidFill>
            <a:srgbClr val="08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56259" y="0"/>
            <a:ext cx="43541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74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9184"/>
            <a:ext cx="100584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Segoe UI"/>
              </a:rPr>
              <a:t>THỊ TRƯỜNG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"/>
            <a:ext cx="1033272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"/>
              </a:rPr>
              <a:t>Bắt đầu từ 2,3 triệu sinh viên Việt Nam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1152144"/>
            <a:ext cx="1106424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Segoe UI"/>
              </a:rPr>
              <a:t>Sản phẩm born-global: giao diện song ngữ, phân phối qua Chrome Web Store toàn cầu ngay từ MVP</a:t>
            </a:r>
          </a:p>
        </p:txBody>
      </p:sp>
      <p:pic>
        <p:nvPicPr>
          <p:cNvPr id="35" name="Picture 34" descr="marke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627632"/>
            <a:ext cx="10241280" cy="4608576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FocusProof — Chứng chỉ Tập trung Thông minh &amp; Xác thực   ·   Đội HT13 — VIBE CODING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510528"/>
            <a:ext cx="130759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5417" y="0"/>
            <a:ext cx="435418" cy="91440"/>
          </a:xfrm>
          <a:prstGeom prst="rect">
            <a:avLst/>
          </a:prstGeom>
          <a:solidFill>
            <a:srgbClr val="4C4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834" y="0"/>
            <a:ext cx="435418" cy="91440"/>
          </a:xfrm>
          <a:prstGeom prst="rect">
            <a:avLst/>
          </a:prstGeom>
          <a:solidFill>
            <a:srgbClr val="49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6251" y="0"/>
            <a:ext cx="435418" cy="91440"/>
          </a:xfrm>
          <a:prstGeom prst="rect">
            <a:avLst/>
          </a:prstGeom>
          <a:solidFill>
            <a:srgbClr val="465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1668" y="0"/>
            <a:ext cx="435418" cy="91440"/>
          </a:xfrm>
          <a:prstGeom prst="rect">
            <a:avLst/>
          </a:prstGeom>
          <a:solidFill>
            <a:srgbClr val="445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7085" y="0"/>
            <a:ext cx="435418" cy="91440"/>
          </a:xfrm>
          <a:prstGeom prst="rect">
            <a:avLst/>
          </a:prstGeom>
          <a:solidFill>
            <a:srgbClr val="415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502" y="0"/>
            <a:ext cx="435418" cy="91440"/>
          </a:xfrm>
          <a:prstGeom prst="rect">
            <a:avLst/>
          </a:prstGeom>
          <a:solidFill>
            <a:srgbClr val="3E5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19" y="0"/>
            <a:ext cx="435418" cy="91440"/>
          </a:xfrm>
          <a:prstGeom prst="rect">
            <a:avLst/>
          </a:prstGeom>
          <a:solidFill>
            <a:srgbClr val="3C6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336" y="0"/>
            <a:ext cx="435418" cy="91440"/>
          </a:xfrm>
          <a:prstGeom prst="rect">
            <a:avLst/>
          </a:prstGeom>
          <a:solidFill>
            <a:srgbClr val="396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8753" y="0"/>
            <a:ext cx="435418" cy="91440"/>
          </a:xfrm>
          <a:prstGeom prst="rect">
            <a:avLst/>
          </a:prstGeom>
          <a:solidFill>
            <a:srgbClr val="366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4170" y="0"/>
            <a:ext cx="435418" cy="91440"/>
          </a:xfrm>
          <a:prstGeom prst="rect">
            <a:avLst/>
          </a:prstGeom>
          <a:solidFill>
            <a:srgbClr val="33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89587" y="0"/>
            <a:ext cx="435418" cy="91440"/>
          </a:xfrm>
          <a:prstGeom prst="rect">
            <a:avLst/>
          </a:prstGeom>
          <a:solidFill>
            <a:srgbClr val="317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004" y="0"/>
            <a:ext cx="435418" cy="91440"/>
          </a:xfrm>
          <a:prstGeom prst="rect">
            <a:avLst/>
          </a:prstGeom>
          <a:solidFill>
            <a:srgbClr val="2E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421" y="0"/>
            <a:ext cx="435418" cy="91440"/>
          </a:xfrm>
          <a:prstGeom prst="rect">
            <a:avLst/>
          </a:prstGeom>
          <a:solidFill>
            <a:srgbClr val="2B7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38" y="0"/>
            <a:ext cx="435418" cy="91440"/>
          </a:xfrm>
          <a:prstGeom prst="rect">
            <a:avLst/>
          </a:prstGeom>
          <a:solidFill>
            <a:srgbClr val="298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1255" y="0"/>
            <a:ext cx="435418" cy="91440"/>
          </a:xfrm>
          <a:prstGeom prst="rect">
            <a:avLst/>
          </a:prstGeom>
          <a:solidFill>
            <a:srgbClr val="268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672" y="0"/>
            <a:ext cx="435418" cy="91440"/>
          </a:xfrm>
          <a:prstGeom prst="rect">
            <a:avLst/>
          </a:prstGeom>
          <a:solidFill>
            <a:srgbClr val="238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2089" y="0"/>
            <a:ext cx="435418" cy="91440"/>
          </a:xfrm>
          <a:prstGeom prst="rect">
            <a:avLst/>
          </a:prstGeom>
          <a:solidFill>
            <a:srgbClr val="218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7506" y="0"/>
            <a:ext cx="435418" cy="91440"/>
          </a:xfrm>
          <a:prstGeom prst="rect">
            <a:avLst/>
          </a:prstGeom>
          <a:solidFill>
            <a:srgbClr val="1E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2923" y="0"/>
            <a:ext cx="435418" cy="91440"/>
          </a:xfrm>
          <a:prstGeom prst="rect">
            <a:avLst/>
          </a:prstGeom>
          <a:solidFill>
            <a:srgbClr val="1B9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40" y="0"/>
            <a:ext cx="435418" cy="91440"/>
          </a:xfrm>
          <a:prstGeom prst="rect">
            <a:avLst/>
          </a:prstGeom>
          <a:solidFill>
            <a:srgbClr val="18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57" y="0"/>
            <a:ext cx="435418" cy="91440"/>
          </a:xfrm>
          <a:prstGeom prst="rect">
            <a:avLst/>
          </a:prstGeom>
          <a:solidFill>
            <a:srgbClr val="169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9174" y="0"/>
            <a:ext cx="435418" cy="91440"/>
          </a:xfrm>
          <a:prstGeom prst="rect">
            <a:avLst/>
          </a:prstGeom>
          <a:solidFill>
            <a:srgbClr val="13A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4591" y="0"/>
            <a:ext cx="435418" cy="91440"/>
          </a:xfrm>
          <a:prstGeom prst="rect">
            <a:avLst/>
          </a:prstGeom>
          <a:solidFill>
            <a:srgbClr val="10A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0008" y="0"/>
            <a:ext cx="435418" cy="91440"/>
          </a:xfrm>
          <a:prstGeom prst="rect">
            <a:avLst/>
          </a:prstGeom>
          <a:solidFill>
            <a:srgbClr val="0EA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5425" y="0"/>
            <a:ext cx="435418" cy="91440"/>
          </a:xfrm>
          <a:prstGeom prst="rect">
            <a:avLst/>
          </a:prstGeom>
          <a:solidFill>
            <a:srgbClr val="0BA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842" y="0"/>
            <a:ext cx="435418" cy="91440"/>
          </a:xfrm>
          <a:prstGeom prst="rect">
            <a:avLst/>
          </a:prstGeom>
          <a:solidFill>
            <a:srgbClr val="08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56259" y="0"/>
            <a:ext cx="43541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74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9184"/>
            <a:ext cx="100584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Segoe UI"/>
              </a:rPr>
              <a:t>MÔ HÌNH KINH DOANH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"/>
            <a:ext cx="1033272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"/>
              </a:rPr>
              <a:t>Freemium + Credit — không phụ thuộc quảng cáo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1481328"/>
            <a:ext cx="2651760" cy="221284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1481328"/>
            <a:ext cx="2651760" cy="4572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481328"/>
            <a:ext cx="26517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FREE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2066543"/>
            <a:ext cx="265176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2100" b="1" i="0">
                <a:solidFill>
                  <a:srgbClr val="0F172A"/>
                </a:solidFill>
                <a:latin typeface="Segoe UI"/>
              </a:rPr>
              <a:t>0 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651760"/>
            <a:ext cx="2377440" cy="9601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Đo tập trung + chứng chỉ cơ bản.</a:t>
            </a:r>
          </a:p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Cửa vào không rào cản — nguồn viral.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1481328"/>
            <a:ext cx="2651760" cy="221284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83280" y="1481328"/>
            <a:ext cx="265176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1481328"/>
            <a:ext cx="26517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PRO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2066543"/>
            <a:ext cx="265176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2100" b="1" i="0">
                <a:solidFill>
                  <a:srgbClr val="0F172A"/>
                </a:solidFill>
                <a:latin typeface="Segoe UI"/>
              </a:rPr>
              <a:t>49K /tháng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2651760"/>
            <a:ext cx="2377440" cy="9601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AI insight không giới hạn, lịch sử</a:t>
            </a:r>
          </a:p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đầy đủ, chứng chỉ ký server.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1481328"/>
            <a:ext cx="2651760" cy="221284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1481328"/>
            <a:ext cx="265176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1481328"/>
            <a:ext cx="26517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TEAM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2066543"/>
            <a:ext cx="265176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2100" b="1" i="0">
                <a:solidFill>
                  <a:srgbClr val="0F172A"/>
                </a:solidFill>
                <a:latin typeface="Segoe UI"/>
              </a:rPr>
              <a:t>199K /tháng·5ng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651760"/>
            <a:ext cx="2377440" cy="9601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Nhóm học tập / freelancer:</a:t>
            </a:r>
          </a:p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báo cáo chung, leaderboard riêng.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1481328"/>
            <a:ext cx="2651760" cy="221284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52560" y="1481328"/>
            <a:ext cx="2651760" cy="4572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52560" y="1481328"/>
            <a:ext cx="265176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TRƯỜNG HỌC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2066543"/>
            <a:ext cx="265176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2100" b="1" i="0">
                <a:solidFill>
                  <a:srgbClr val="0F172A"/>
                </a:solidFill>
                <a:latin typeface="Segoe UI"/>
              </a:rPr>
              <a:t>499K+ /tháng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20" y="2651760"/>
            <a:ext cx="2377440" cy="9601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Dashboard giảng viên, join-code lớp,</a:t>
            </a:r>
          </a:p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email report tự động.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3822191"/>
            <a:ext cx="11091672" cy="320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Segoe UI"/>
              </a:rPr>
              <a:t>+ Gói credit 19K–99K cho người dùng thỉnh thoảng cần AI/PDF — server đếm credit, chống lạm dụng.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4315968"/>
            <a:ext cx="265176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4315968"/>
            <a:ext cx="82296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8096" y="4407408"/>
            <a:ext cx="233172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Segoe UI"/>
              </a:rPr>
              <a:t>CAC ≤ 30K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" y="5029200"/>
            <a:ext cx="233172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mỗi chứng chỉ chia sẻ là một</a:t>
            </a:r>
          </a:p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kênh marketing tự nhiên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83280" y="4315968"/>
            <a:ext cx="265176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83280" y="4315968"/>
            <a:ext cx="82296" cy="1188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02736" y="4407408"/>
            <a:ext cx="233172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Segoe UI"/>
              </a:rPr>
              <a:t>LTV ≈ 588K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02736" y="5029200"/>
            <a:ext cx="233172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12 tháng × 49K —</a:t>
            </a:r>
          </a:p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giữ chân bằng streak &amp; hồ sơ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4315968"/>
            <a:ext cx="265176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17920" y="4315968"/>
            <a:ext cx="82296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37376" y="4407408"/>
            <a:ext cx="233172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Segoe UI"/>
              </a:rPr>
              <a:t>LTV/CAC ≈ 19×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37376" y="5029200"/>
            <a:ext cx="233172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đơn vị kinh tế lành mạnh</a:t>
            </a:r>
          </a:p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ngay từ mô hình cơ sở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52560" y="4315968"/>
            <a:ext cx="265176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52560" y="4315968"/>
            <a:ext cx="82296" cy="11887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72016" y="4407408"/>
            <a:ext cx="233172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Segoe UI"/>
              </a:rPr>
              <a:t>Chi phí biên ≈ 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72016" y="5029200"/>
            <a:ext cx="233172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AI chạy tại thiết bị người dùng ·</a:t>
            </a:r>
          </a:p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SQLite/free-tier cho backend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Năm 1 (mục tiêu): 10.000 lượt cài · 1.500 người trả phí · ≈ 880 triệu đồng doanh thu · hoà vốn tháng 8–9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FocusProof — Chứng chỉ Tập trung Thông minh &amp; Xác thực   ·   Đội HT13 — VIBE CODING 2026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32720" y="6510528"/>
            <a:ext cx="130759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5417" y="0"/>
            <a:ext cx="435418" cy="91440"/>
          </a:xfrm>
          <a:prstGeom prst="rect">
            <a:avLst/>
          </a:prstGeom>
          <a:solidFill>
            <a:srgbClr val="4C4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834" y="0"/>
            <a:ext cx="435418" cy="91440"/>
          </a:xfrm>
          <a:prstGeom prst="rect">
            <a:avLst/>
          </a:prstGeom>
          <a:solidFill>
            <a:srgbClr val="49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6251" y="0"/>
            <a:ext cx="435418" cy="91440"/>
          </a:xfrm>
          <a:prstGeom prst="rect">
            <a:avLst/>
          </a:prstGeom>
          <a:solidFill>
            <a:srgbClr val="465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1668" y="0"/>
            <a:ext cx="435418" cy="91440"/>
          </a:xfrm>
          <a:prstGeom prst="rect">
            <a:avLst/>
          </a:prstGeom>
          <a:solidFill>
            <a:srgbClr val="445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7085" y="0"/>
            <a:ext cx="435418" cy="91440"/>
          </a:xfrm>
          <a:prstGeom prst="rect">
            <a:avLst/>
          </a:prstGeom>
          <a:solidFill>
            <a:srgbClr val="415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502" y="0"/>
            <a:ext cx="435418" cy="91440"/>
          </a:xfrm>
          <a:prstGeom prst="rect">
            <a:avLst/>
          </a:prstGeom>
          <a:solidFill>
            <a:srgbClr val="3E5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19" y="0"/>
            <a:ext cx="435418" cy="91440"/>
          </a:xfrm>
          <a:prstGeom prst="rect">
            <a:avLst/>
          </a:prstGeom>
          <a:solidFill>
            <a:srgbClr val="3C6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336" y="0"/>
            <a:ext cx="435418" cy="91440"/>
          </a:xfrm>
          <a:prstGeom prst="rect">
            <a:avLst/>
          </a:prstGeom>
          <a:solidFill>
            <a:srgbClr val="396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8753" y="0"/>
            <a:ext cx="435418" cy="91440"/>
          </a:xfrm>
          <a:prstGeom prst="rect">
            <a:avLst/>
          </a:prstGeom>
          <a:solidFill>
            <a:srgbClr val="366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4170" y="0"/>
            <a:ext cx="435418" cy="91440"/>
          </a:xfrm>
          <a:prstGeom prst="rect">
            <a:avLst/>
          </a:prstGeom>
          <a:solidFill>
            <a:srgbClr val="33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89587" y="0"/>
            <a:ext cx="435418" cy="91440"/>
          </a:xfrm>
          <a:prstGeom prst="rect">
            <a:avLst/>
          </a:prstGeom>
          <a:solidFill>
            <a:srgbClr val="317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004" y="0"/>
            <a:ext cx="435418" cy="91440"/>
          </a:xfrm>
          <a:prstGeom prst="rect">
            <a:avLst/>
          </a:prstGeom>
          <a:solidFill>
            <a:srgbClr val="2E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421" y="0"/>
            <a:ext cx="435418" cy="91440"/>
          </a:xfrm>
          <a:prstGeom prst="rect">
            <a:avLst/>
          </a:prstGeom>
          <a:solidFill>
            <a:srgbClr val="2B7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38" y="0"/>
            <a:ext cx="435418" cy="91440"/>
          </a:xfrm>
          <a:prstGeom prst="rect">
            <a:avLst/>
          </a:prstGeom>
          <a:solidFill>
            <a:srgbClr val="298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1255" y="0"/>
            <a:ext cx="435418" cy="91440"/>
          </a:xfrm>
          <a:prstGeom prst="rect">
            <a:avLst/>
          </a:prstGeom>
          <a:solidFill>
            <a:srgbClr val="268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672" y="0"/>
            <a:ext cx="435418" cy="91440"/>
          </a:xfrm>
          <a:prstGeom prst="rect">
            <a:avLst/>
          </a:prstGeom>
          <a:solidFill>
            <a:srgbClr val="238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2089" y="0"/>
            <a:ext cx="435418" cy="91440"/>
          </a:xfrm>
          <a:prstGeom prst="rect">
            <a:avLst/>
          </a:prstGeom>
          <a:solidFill>
            <a:srgbClr val="218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7506" y="0"/>
            <a:ext cx="435418" cy="91440"/>
          </a:xfrm>
          <a:prstGeom prst="rect">
            <a:avLst/>
          </a:prstGeom>
          <a:solidFill>
            <a:srgbClr val="1E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2923" y="0"/>
            <a:ext cx="435418" cy="91440"/>
          </a:xfrm>
          <a:prstGeom prst="rect">
            <a:avLst/>
          </a:prstGeom>
          <a:solidFill>
            <a:srgbClr val="1B9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40" y="0"/>
            <a:ext cx="435418" cy="91440"/>
          </a:xfrm>
          <a:prstGeom prst="rect">
            <a:avLst/>
          </a:prstGeom>
          <a:solidFill>
            <a:srgbClr val="18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57" y="0"/>
            <a:ext cx="435418" cy="91440"/>
          </a:xfrm>
          <a:prstGeom prst="rect">
            <a:avLst/>
          </a:prstGeom>
          <a:solidFill>
            <a:srgbClr val="169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9174" y="0"/>
            <a:ext cx="435418" cy="91440"/>
          </a:xfrm>
          <a:prstGeom prst="rect">
            <a:avLst/>
          </a:prstGeom>
          <a:solidFill>
            <a:srgbClr val="13A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4591" y="0"/>
            <a:ext cx="435418" cy="91440"/>
          </a:xfrm>
          <a:prstGeom prst="rect">
            <a:avLst/>
          </a:prstGeom>
          <a:solidFill>
            <a:srgbClr val="10A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0008" y="0"/>
            <a:ext cx="435418" cy="91440"/>
          </a:xfrm>
          <a:prstGeom prst="rect">
            <a:avLst/>
          </a:prstGeom>
          <a:solidFill>
            <a:srgbClr val="0EA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5425" y="0"/>
            <a:ext cx="435418" cy="91440"/>
          </a:xfrm>
          <a:prstGeom prst="rect">
            <a:avLst/>
          </a:prstGeom>
          <a:solidFill>
            <a:srgbClr val="0BA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842" y="0"/>
            <a:ext cx="435418" cy="91440"/>
          </a:xfrm>
          <a:prstGeom prst="rect">
            <a:avLst/>
          </a:prstGeom>
          <a:solidFill>
            <a:srgbClr val="08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56259" y="0"/>
            <a:ext cx="43541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74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9184"/>
            <a:ext cx="100584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Segoe UI"/>
              </a:rPr>
              <a:t>LỘ TRÌNH PHÁT TRIỂN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"/>
            <a:ext cx="1033272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"/>
              </a:rPr>
              <a:t>Sản phẩm đã chạy được hôm nay — không phải lời hứa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2212848"/>
            <a:ext cx="10332720" cy="2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874520" y="2075688"/>
            <a:ext cx="329184" cy="329184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74520" y="2057400"/>
            <a:ext cx="329184" cy="365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70432" y="148132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70432" y="1481328"/>
            <a:ext cx="173736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HÔM NAY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2761488"/>
            <a:ext cx="2706624" cy="2331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" y="2926080"/>
            <a:ext cx="2395728" cy="5943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MVP 1.0.1 hoàn chỉnh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" y="3474720"/>
            <a:ext cx="2432304" cy="1554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279 test PASS · gói nộp 7.7MB ·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backend SQLite + trang verify ·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sẵn sàng demo trực tiếp</a:t>
            </a:r>
          </a:p>
        </p:txBody>
      </p:sp>
      <p:sp>
        <p:nvSpPr>
          <p:cNvPr id="42" name="Oval 41"/>
          <p:cNvSpPr/>
          <p:nvPr/>
        </p:nvSpPr>
        <p:spPr>
          <a:xfrm>
            <a:off x="4672584" y="2075688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968496" y="148132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68496" y="1481328"/>
            <a:ext cx="173736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Q3 / 2026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83864" y="2761488"/>
            <a:ext cx="2706624" cy="2331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48456" y="2926080"/>
            <a:ext cx="2395728" cy="5943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Ra mắt công khai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48456" y="3474720"/>
            <a:ext cx="2432304" cy="1554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Chrome Web Store (unlisted → public) ·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deploy backend production ·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đo CPU/RAM phiên dài công bố kèm</a:t>
            </a:r>
          </a:p>
        </p:txBody>
      </p:sp>
      <p:sp>
        <p:nvSpPr>
          <p:cNvPr id="48" name="Oval 47"/>
          <p:cNvSpPr/>
          <p:nvPr/>
        </p:nvSpPr>
        <p:spPr>
          <a:xfrm>
            <a:off x="7470648" y="2075688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766560" y="148132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0" y="1481328"/>
            <a:ext cx="173736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Q4 / 2026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81928" y="2761488"/>
            <a:ext cx="2706624" cy="2331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2926080"/>
            <a:ext cx="2395728" cy="5943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Chiều lớp học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3474720"/>
            <a:ext cx="2432304" cy="1554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Dashboard giảng viên · join-code lớp ·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email report tự động sau phiên ·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thí điểm 3 lớp tại TDTU</a:t>
            </a:r>
          </a:p>
        </p:txBody>
      </p:sp>
      <p:sp>
        <p:nvSpPr>
          <p:cNvPr id="54" name="Oval 53"/>
          <p:cNvSpPr/>
          <p:nvPr/>
        </p:nvSpPr>
        <p:spPr>
          <a:xfrm>
            <a:off x="10268712" y="2075688"/>
            <a:ext cx="329184" cy="32918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564624" y="148132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64624" y="1481328"/>
            <a:ext cx="173736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79992" y="2761488"/>
            <a:ext cx="2706624" cy="2331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44584" y="2926080"/>
            <a:ext cx="2395728" cy="5943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"/>
              </a:rPr>
              <a:t>Hệ sinh thái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44584" y="3474720"/>
            <a:ext cx="2432304" cy="1554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Google Classroom / LMS ·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hồ sơ kỷ luật cá nhân theo năm ·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mở rộng Đông Nam 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504688"/>
            <a:ext cx="11091672" cy="731520"/>
          </a:xfrm>
          <a:prstGeom prst="roundRect">
            <a:avLst>
              <a:gd name="adj" fmla="val 12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5504688"/>
            <a:ext cx="10607040" cy="7315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4F46E5"/>
                </a:solidFill>
                <a:latin typeface="Segoe UI"/>
              </a:rPr>
              <a:t>Định vị nhất quán: công cụ TỰ CHỨNG MINH do người học sở hữu (opt-in) — tuyệt đối không đi vào vùng proctoring/giám sát áp đặt,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4F46E5"/>
                </a:solidFill>
                <a:latin typeface="Segoe UI"/>
              </a:rPr>
              <a:t>vùng đã bị phản ứng dữ dội trên thế giới và bị EU AI Act giới hạn.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FocusProof — Chứng chỉ Tập trung Thông minh &amp; Xác thực   ·   Đội HT13 — VIBE CODING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2720" y="6510528"/>
            <a:ext cx="130759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5418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5417" y="0"/>
            <a:ext cx="435418" cy="91440"/>
          </a:xfrm>
          <a:prstGeom prst="rect">
            <a:avLst/>
          </a:prstGeom>
          <a:solidFill>
            <a:srgbClr val="4C4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834" y="0"/>
            <a:ext cx="435418" cy="91440"/>
          </a:xfrm>
          <a:prstGeom prst="rect">
            <a:avLst/>
          </a:prstGeom>
          <a:solidFill>
            <a:srgbClr val="49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6251" y="0"/>
            <a:ext cx="435418" cy="91440"/>
          </a:xfrm>
          <a:prstGeom prst="rect">
            <a:avLst/>
          </a:prstGeom>
          <a:solidFill>
            <a:srgbClr val="465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1668" y="0"/>
            <a:ext cx="435418" cy="91440"/>
          </a:xfrm>
          <a:prstGeom prst="rect">
            <a:avLst/>
          </a:prstGeom>
          <a:solidFill>
            <a:srgbClr val="445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7085" y="0"/>
            <a:ext cx="435418" cy="91440"/>
          </a:xfrm>
          <a:prstGeom prst="rect">
            <a:avLst/>
          </a:prstGeom>
          <a:solidFill>
            <a:srgbClr val="415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2502" y="0"/>
            <a:ext cx="435418" cy="91440"/>
          </a:xfrm>
          <a:prstGeom prst="rect">
            <a:avLst/>
          </a:prstGeom>
          <a:solidFill>
            <a:srgbClr val="3E5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19" y="0"/>
            <a:ext cx="435418" cy="91440"/>
          </a:xfrm>
          <a:prstGeom prst="rect">
            <a:avLst/>
          </a:prstGeom>
          <a:solidFill>
            <a:srgbClr val="3C6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336" y="0"/>
            <a:ext cx="435418" cy="91440"/>
          </a:xfrm>
          <a:prstGeom prst="rect">
            <a:avLst/>
          </a:prstGeom>
          <a:solidFill>
            <a:srgbClr val="396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18753" y="0"/>
            <a:ext cx="435418" cy="91440"/>
          </a:xfrm>
          <a:prstGeom prst="rect">
            <a:avLst/>
          </a:prstGeom>
          <a:solidFill>
            <a:srgbClr val="366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4170" y="0"/>
            <a:ext cx="435418" cy="91440"/>
          </a:xfrm>
          <a:prstGeom prst="rect">
            <a:avLst/>
          </a:prstGeom>
          <a:solidFill>
            <a:srgbClr val="33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89587" y="0"/>
            <a:ext cx="435418" cy="91440"/>
          </a:xfrm>
          <a:prstGeom prst="rect">
            <a:avLst/>
          </a:prstGeom>
          <a:solidFill>
            <a:srgbClr val="317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5004" y="0"/>
            <a:ext cx="435418" cy="91440"/>
          </a:xfrm>
          <a:prstGeom prst="rect">
            <a:avLst/>
          </a:prstGeom>
          <a:solidFill>
            <a:srgbClr val="2E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0421" y="0"/>
            <a:ext cx="435418" cy="91440"/>
          </a:xfrm>
          <a:prstGeom prst="rect">
            <a:avLst/>
          </a:prstGeom>
          <a:solidFill>
            <a:srgbClr val="2B7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38" y="0"/>
            <a:ext cx="435418" cy="91440"/>
          </a:xfrm>
          <a:prstGeom prst="rect">
            <a:avLst/>
          </a:prstGeom>
          <a:solidFill>
            <a:srgbClr val="298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1255" y="0"/>
            <a:ext cx="435418" cy="91440"/>
          </a:xfrm>
          <a:prstGeom prst="rect">
            <a:avLst/>
          </a:prstGeom>
          <a:solidFill>
            <a:srgbClr val="268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66672" y="0"/>
            <a:ext cx="435418" cy="91440"/>
          </a:xfrm>
          <a:prstGeom prst="rect">
            <a:avLst/>
          </a:prstGeom>
          <a:solidFill>
            <a:srgbClr val="238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2089" y="0"/>
            <a:ext cx="435418" cy="91440"/>
          </a:xfrm>
          <a:prstGeom prst="rect">
            <a:avLst/>
          </a:prstGeom>
          <a:solidFill>
            <a:srgbClr val="218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7506" y="0"/>
            <a:ext cx="435418" cy="91440"/>
          </a:xfrm>
          <a:prstGeom prst="rect">
            <a:avLst/>
          </a:prstGeom>
          <a:solidFill>
            <a:srgbClr val="1E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2923" y="0"/>
            <a:ext cx="435418" cy="91440"/>
          </a:xfrm>
          <a:prstGeom prst="rect">
            <a:avLst/>
          </a:prstGeom>
          <a:solidFill>
            <a:srgbClr val="1B9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8340" y="0"/>
            <a:ext cx="435418" cy="91440"/>
          </a:xfrm>
          <a:prstGeom prst="rect">
            <a:avLst/>
          </a:prstGeom>
          <a:solidFill>
            <a:srgbClr val="189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57" y="0"/>
            <a:ext cx="435418" cy="91440"/>
          </a:xfrm>
          <a:prstGeom prst="rect">
            <a:avLst/>
          </a:prstGeom>
          <a:solidFill>
            <a:srgbClr val="169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79174" y="0"/>
            <a:ext cx="435418" cy="91440"/>
          </a:xfrm>
          <a:prstGeom prst="rect">
            <a:avLst/>
          </a:prstGeom>
          <a:solidFill>
            <a:srgbClr val="13A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14591" y="0"/>
            <a:ext cx="435418" cy="91440"/>
          </a:xfrm>
          <a:prstGeom prst="rect">
            <a:avLst/>
          </a:prstGeom>
          <a:solidFill>
            <a:srgbClr val="10A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0008" y="0"/>
            <a:ext cx="435418" cy="91440"/>
          </a:xfrm>
          <a:prstGeom prst="rect">
            <a:avLst/>
          </a:prstGeom>
          <a:solidFill>
            <a:srgbClr val="0EA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85425" y="0"/>
            <a:ext cx="435418" cy="91440"/>
          </a:xfrm>
          <a:prstGeom prst="rect">
            <a:avLst/>
          </a:prstGeom>
          <a:solidFill>
            <a:srgbClr val="0BA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0842" y="0"/>
            <a:ext cx="435418" cy="91440"/>
          </a:xfrm>
          <a:prstGeom prst="rect">
            <a:avLst/>
          </a:prstGeom>
          <a:solidFill>
            <a:srgbClr val="08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56259" y="0"/>
            <a:ext cx="43541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74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9184"/>
            <a:ext cx="1005840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Segoe UI"/>
              </a:rPr>
              <a:t>ĐỘI NGŨ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6928"/>
            <a:ext cx="1033272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"/>
              </a:rPr>
              <a:t>Đội HT13 — nhỏ về số người, đủ về năng lực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1481328"/>
            <a:ext cx="3383280" cy="4526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1481328"/>
            <a:ext cx="338328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481328"/>
            <a:ext cx="338328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ĐỘI HT13 — BẢNG A</a:t>
            </a:r>
          </a:p>
        </p:txBody>
      </p:sp>
      <p:sp>
        <p:nvSpPr>
          <p:cNvPr id="37" name="Oval 36"/>
          <p:cNvSpPr/>
          <p:nvPr/>
        </p:nvSpPr>
        <p:spPr>
          <a:xfrm>
            <a:off x="1417320" y="2240280"/>
            <a:ext cx="1645920" cy="1645920"/>
          </a:xfrm>
          <a:prstGeom prst="ellipse">
            <a:avLst/>
          </a:prstGeom>
          <a:solidFill>
            <a:srgbClr val="4F46E5"/>
          </a:solidFill>
          <a:ln w="317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2240280"/>
            <a:ext cx="1645920" cy="1645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NBM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041648"/>
            <a:ext cx="320040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Segoe UI"/>
              </a:rPr>
              <a:t>Ngô Bình Minh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434840"/>
            <a:ext cx="320040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Segoe UI"/>
              </a:rPr>
              <a:t>MSSV 524H0169 — Khoa CNTT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475569"/>
                </a:solidFill>
                <a:latin typeface="Segoe UI"/>
              </a:rPr>
              <a:t>ĐH Tôn Đức Thắng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138928"/>
            <a:ext cx="3200400" cy="6858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250" b="1" i="0">
                <a:solidFill>
                  <a:srgbClr val="0E7490"/>
                </a:solidFill>
                <a:latin typeface="Segoe UI"/>
              </a:rPr>
              <a:t>Founder · Full-stack · AI Integrator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06240" y="1481328"/>
            <a:ext cx="7434072" cy="73152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06240" y="1481328"/>
            <a:ext cx="82296" cy="7315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62272" y="1549908"/>
            <a:ext cx="2651760" cy="5943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Product Owner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1549908"/>
            <a:ext cx="4343400" cy="5943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định hình bài toán, rubric nghiệm thu, lộ trình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06240" y="2345436"/>
            <a:ext cx="7434072" cy="73152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06240" y="2345436"/>
            <a:ext cx="82296" cy="7315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2" y="2414016"/>
            <a:ext cx="2651760" cy="5943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Full-stack Developer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2414016"/>
            <a:ext cx="4343400" cy="5943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Chrome Extension MV3, React, Node/Express, SQLite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0" y="3209544"/>
            <a:ext cx="7434072" cy="73152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0" y="3209544"/>
            <a:ext cx="82296" cy="7315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62272" y="3278124"/>
            <a:ext cx="2651760" cy="5943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AI Engineer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3278124"/>
            <a:ext cx="4343400" cy="5943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BlazeFace on-device, GPT-4o-mini proxy, engine offline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06240" y="4073652"/>
            <a:ext cx="7434072" cy="73152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06240" y="4073652"/>
            <a:ext cx="82296" cy="7315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62272" y="4142232"/>
            <a:ext cx="2651760" cy="5943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QA &amp; DevOps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4142232"/>
            <a:ext cx="4343400" cy="5943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279 test, CI/CD, audit đa tác tử, check-no-secrets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06240" y="4937760"/>
            <a:ext cx="7434072" cy="73152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06240" y="4937760"/>
            <a:ext cx="82296" cy="731520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62272" y="5006340"/>
            <a:ext cx="2651760" cy="5943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Design &amp; Growth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78040" y="5006340"/>
            <a:ext cx="4343400" cy="5943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UI/UX popup-widget-chứng chỉ, viral loop chia sẻ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06240" y="5760720"/>
            <a:ext cx="7434072" cy="50292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34840" y="5760720"/>
            <a:ext cx="704088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150" b="1" i="0">
                <a:solidFill>
                  <a:srgbClr val="7DD3FC"/>
                </a:solidFill>
                <a:latin typeface="Segoe UI"/>
              </a:rPr>
              <a:t>1 người + AI = năng suất của một đội — nhưng kiểm chứng nghiêm ngặt như một phòng QA.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6455664"/>
            <a:ext cx="110916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FocusProof — Chứng chỉ Tập trung Thông minh &amp; Xác thực   ·   Đội HT13 — VIBE CODING 2026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32720" y="6510528"/>
            <a:ext cx="130759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777240"/>
            <a:ext cx="124677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2057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Segoe UI"/>
              </a:rPr>
              <a:t>FOCUSPROOF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971800"/>
            <a:ext cx="10607040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BBF24"/>
                </a:solidFill>
                <a:latin typeface="Segoe UI"/>
              </a:rPr>
              <a:t>Tập trung không còn là cảm giác —</a:t>
            </a:r>
          </a:p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BBF24"/>
                </a:solidFill>
                <a:latin typeface="Segoe UI"/>
              </a:rPr>
              <a:t>mà là một bằng chứng có thể xác thực.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4315968"/>
            <a:ext cx="2606040" cy="420624"/>
          </a:xfrm>
          <a:prstGeom prst="roundRect">
            <a:avLst>
              <a:gd name="adj" fmla="val 50000"/>
            </a:avLst>
          </a:prstGeom>
          <a:solidFill>
            <a:srgbClr val="111C34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4315968"/>
            <a:ext cx="2606040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Demo trực tiếp ngay sau đây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1296" y="4315968"/>
            <a:ext cx="3154680" cy="420624"/>
          </a:xfrm>
          <a:prstGeom prst="roundRect">
            <a:avLst>
              <a:gd name="adj" fmla="val 50000"/>
            </a:avLst>
          </a:prstGeom>
          <a:solidFill>
            <a:srgbClr val="111C34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4315968"/>
            <a:ext cx="3154680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Prototype hoàn chỉnh — 279 test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94576" y="4315968"/>
            <a:ext cx="2651760" cy="420624"/>
          </a:xfrm>
          <a:prstGeom prst="roundRect">
            <a:avLst>
              <a:gd name="adj" fmla="val 50000"/>
            </a:avLst>
          </a:prstGeom>
          <a:solidFill>
            <a:srgbClr val="111C34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4315968"/>
            <a:ext cx="2651760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Sẵn sàng Chrome Web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50749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50" b="0" i="0">
                <a:solidFill>
                  <a:srgbClr val="C7D2FE"/>
                </a:solidFill>
                <a:latin typeface="Segoe UI"/>
              </a:rPr>
              <a:t>Kính mời Ban giám khảo trải nghiệm một phiên tập trung — và tự tay quét QR xác thực chứng chỉ.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806440"/>
            <a:ext cx="12191695" cy="1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016752"/>
            <a:ext cx="1088136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  <a:latin typeface="Segoe UI"/>
              </a:rPr>
              <a:t>Đội HT13 — Ngô Bình Minh   ·   ngobinhminh2322006@gmail.com   ·   VIBE CODING 2026 — Vòng chung kết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FocusProof — VIBE CODING 2026 — Đội HT13</dc:title>
  <dc:subject>Slide thuyết trình vòng chung kết</dc:subject>
  <dc:creator>Đội HT13 — Ngô Bình Minh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